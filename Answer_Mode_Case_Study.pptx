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public/artifacts/72535428-7de1-4141-bb98-f633c92ec44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828800"/>
            <a:ext cx="402336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2B2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00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CASE STUDY   •   SEARCH &amp; DISCOVERY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Mode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5262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DC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YouTube search into an answer engine — matching a viewer’s question to the exact moment that answers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6080760"/>
            <a:ext cx="7498080" cy="0"/>
          </a:xfrm>
          <a:prstGeom prst="line">
            <a:avLst/>
          </a:prstGeom>
          <a:noFill/>
          <a:ln w="12700">
            <a:solidFill>
              <a:srgbClr val="3C40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6199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YouTube Search Leadership Review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774375" y="6199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finds the video. It rarely finds the moment.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Long-form tutorials and podcasts bury the single answer a viewer actually came for — forcing them to guess, scrub, and rewatch.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29184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2021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one moment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searches on long videos map to a single, specific question — not the whole runtime.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2514600"/>
            <a:ext cx="329184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834640"/>
            <a:ext cx="502920" cy="502920"/>
          </a:xfrm>
          <a:prstGeom prst="ellipse">
            <a:avLst/>
          </a:prstGeom>
          <a:solidFill>
            <a:srgbClr val="2021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Buried in long-form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1148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often sits minutes into a 20–45 minute video, with no signal of where.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18120" y="2514600"/>
            <a:ext cx="3291840" cy="3246120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834640"/>
            <a:ext cx="502920" cy="502920"/>
          </a:xfrm>
          <a:prstGeom prst="ellipse">
            <a:avLst/>
          </a:prstGeom>
          <a:solidFill>
            <a:srgbClr val="2021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381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scrubbing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1148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 drag the seek bar, rewatch chunks, and frequently give up before finding it.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Mode turns results into direct answers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opt-in layer on Search that ranks and explains the exact moments in a video most likely to answer a query — then gets the viewer there in one tap.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9AB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68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moment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0720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ranks moments as Best Match, Highly Relevant, or Relevant to the query.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A73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611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match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95020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shows its own “why this moment matched” reasoning — no black box.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8006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F0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754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jump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509320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straight to the timestamp, or fall back to the full video anytime.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54104" y="813816"/>
            <a:ext cx="2852375" cy="5641848"/>
          </a:xfrm>
          <a:prstGeom prst="roundRect">
            <a:avLst>
              <a:gd name="adj" fmla="val 705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/home/claude/answermode/img/Search_Results_Answer_Mode_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968" y="868680"/>
            <a:ext cx="2742647" cy="55321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question to answer in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14600" cy="3703320"/>
          </a:xfrm>
          <a:prstGeom prst="roundRect">
            <a:avLst>
              <a:gd name="adj" fmla="val 436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5" name="Image 0" descr="/home/claude/answermode/img/Home_Page_Answer_Mode_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801" y="2167128"/>
            <a:ext cx="1472837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" y="1764792"/>
            <a:ext cx="365760" cy="36576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4315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7241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on from Home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063240" y="31318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C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520440" y="1600200"/>
            <a:ext cx="2514600" cy="3703320"/>
          </a:xfrm>
          <a:prstGeom prst="roundRect">
            <a:avLst>
              <a:gd name="adj" fmla="val 436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12" name="Image 1" descr="/home/claude/answermode/img/Search_Results_Answer_Mode_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745" y="2167128"/>
            <a:ext cx="1495989" cy="3017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721608" y="1764792"/>
            <a:ext cx="365760" cy="36576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721608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54315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57241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 real question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080760" y="31318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C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537960" y="1600200"/>
            <a:ext cx="2514600" cy="3703320"/>
          </a:xfrm>
          <a:prstGeom prst="roundRect">
            <a:avLst>
              <a:gd name="adj" fmla="val 436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19" name="Image 2" descr="/home/claude/answermode/img/Search_Results_Answer_Mode_ON_Other_Relevant_Sections_Expan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391" y="2167128"/>
            <a:ext cx="1495737" cy="30175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739128" y="1764792"/>
            <a:ext cx="365760" cy="36576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739128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537960" y="54315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57241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ranked, explained moments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9098280" y="31318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C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9555480" y="1600200"/>
            <a:ext cx="2514600" cy="3703320"/>
          </a:xfrm>
          <a:prstGeom prst="roundRect">
            <a:avLst>
              <a:gd name="adj" fmla="val 436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26" name="Image 3" descr="/home/claude/answermode/img/Enhanced_Video_Player_Answer_Mode_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7525" y="2167128"/>
            <a:ext cx="1650510" cy="301752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756648" y="1764792"/>
            <a:ext cx="365760" cy="36576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756648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9555480" y="54315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9555480" y="57241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straight to the moment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visible, optional toggle on the Home feed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911096"/>
            <a:ext cx="2216914" cy="3904488"/>
          </a:xfrm>
          <a:prstGeom prst="roundRect">
            <a:avLst>
              <a:gd name="adj" fmla="val 907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nswermode/img/Home_Page_Answer_Mode_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107186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554480"/>
            <a:ext cx="757123" cy="256032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55448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897880"/>
            <a:ext cx="2290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 off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66922" y="1911096"/>
            <a:ext cx="1961932" cy="3904488"/>
          </a:xfrm>
          <a:prstGeom prst="roundRect">
            <a:avLst>
              <a:gd name="adj" fmla="val 1025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home/claude/answermode/img/Home_Page_Answer_Mode_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786" y="1965960"/>
            <a:ext cx="1852204" cy="3794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21786" y="155448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21786" y="15544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530346" y="5897880"/>
            <a:ext cx="20350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 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 flipV="1">
            <a:off x="6180349" y="2084832"/>
            <a:ext cx="796562" cy="84419"/>
          </a:xfrm>
          <a:prstGeom prst="line">
            <a:avLst/>
          </a:prstGeom>
          <a:noFill/>
          <a:ln w="15875">
            <a:solidFill>
              <a:srgbClr val="1A73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39201" y="2128103"/>
            <a:ext cx="82296" cy="8229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76911" y="1993392"/>
            <a:ext cx="4711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TOP-NAV TOGGLE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976911" y="2212848"/>
            <a:ext cx="471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switch — Answer Mode stays off until the viewer opts in.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883806" y="2562279"/>
            <a:ext cx="2093105" cy="802713"/>
          </a:xfrm>
          <a:prstGeom prst="line">
            <a:avLst/>
          </a:prstGeom>
          <a:noFill/>
          <a:ln w="15875">
            <a:solidFill>
              <a:srgbClr val="FF00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2658" y="2521131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976911" y="3273552"/>
            <a:ext cx="4711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“NEW” BADGE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976911" y="3493008"/>
            <a:ext cx="471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the feature without interrupting normal browsing.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180349" y="3208292"/>
            <a:ext cx="796562" cy="1436860"/>
          </a:xfrm>
          <a:prstGeom prst="line">
            <a:avLst/>
          </a:prstGeom>
          <a:noFill/>
          <a:ln w="15875">
            <a:solidFill>
              <a:srgbClr val="F9AB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39201" y="3167144"/>
            <a:ext cx="82296" cy="82296"/>
          </a:xfrm>
          <a:prstGeom prst="ellipse">
            <a:avLst/>
          </a:prstGeom>
          <a:solidFill>
            <a:srgbClr val="F9A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976911" y="4553712"/>
            <a:ext cx="4711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94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EXPLAINER CARD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976911" y="4773168"/>
            <a:ext cx="471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copy + a second toggle — zero learning curve to try it.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DISCOVERY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to try Answer Mode, right in search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" y="1682496"/>
            <a:ext cx="2445011" cy="4636008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nswermode/img/Search_Results_Answer_Mode_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2335283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V="1">
            <a:off x="978527" y="1810512"/>
            <a:ext cx="2636916" cy="1006315"/>
          </a:xfrm>
          <a:prstGeom prst="line">
            <a:avLst/>
          </a:prstGeom>
          <a:noFill/>
          <a:ln w="15875">
            <a:solidFill>
              <a:srgbClr val="FF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7379" y="2775679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5443" y="169164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“NEW” PROMPT CARD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615443" y="19110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only when Answer Mode is off and the query reads like a question — not on every search.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flipV="1">
            <a:off x="1630482" y="2816352"/>
            <a:ext cx="1984961" cy="465394"/>
          </a:xfrm>
          <a:prstGeom prst="line">
            <a:avLst/>
          </a:prstGeom>
          <a:noFill/>
          <a:ln w="15875">
            <a:solidFill>
              <a:srgbClr val="3C40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9334" y="3240598"/>
            <a:ext cx="82296" cy="82296"/>
          </a:xfrm>
          <a:prstGeom prst="ellipse">
            <a:avLst/>
          </a:prstGeom>
          <a:solidFill>
            <a:srgbClr val="3C40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5443" y="269748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THREE-LINE VALUE PROP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615443" y="29169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to the moment, get an AI summary, skip the guesswork — the pitch in one glance.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336568" y="3752009"/>
            <a:ext cx="2278875" cy="115903"/>
          </a:xfrm>
          <a:prstGeom prst="line">
            <a:avLst/>
          </a:prstGeom>
          <a:noFill/>
          <a:ln w="15875">
            <a:solidFill>
              <a:srgbClr val="1A73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95420" y="3710861"/>
            <a:ext cx="82296" cy="8229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15443" y="374904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“TURN ON ANSWER MODE”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615443" y="39684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opts in and instantly re-runs the same query with Answer Mode results.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282437" y="3752009"/>
            <a:ext cx="1333005" cy="1076023"/>
          </a:xfrm>
          <a:prstGeom prst="line">
            <a:avLst/>
          </a:prstGeom>
          <a:noFill/>
          <a:ln w="15875">
            <a:solidFill>
              <a:srgbClr val="5F63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41289" y="3710861"/>
            <a:ext cx="82296" cy="82296"/>
          </a:xfrm>
          <a:prstGeom prst="ellipse">
            <a:avLst/>
          </a:prstGeom>
          <a:solidFill>
            <a:srgbClr val="5F63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15443" y="470916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 NOW”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615443" y="492861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dismissible — the prompt never blocks or gates the normal results.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630482" y="4409308"/>
            <a:ext cx="1984961" cy="1378844"/>
          </a:xfrm>
          <a:prstGeom prst="line">
            <a:avLst/>
          </a:prstGeom>
          <a:noFill/>
          <a:ln w="15875">
            <a:solidFill>
              <a:srgbClr val="18803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89334" y="4368160"/>
            <a:ext cx="82296" cy="82296"/>
          </a:xfrm>
          <a:prstGeom prst="ellipse">
            <a:avLst/>
          </a:prstGeom>
          <a:solidFill>
            <a:srgbClr val="1880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15443" y="566928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FALLBACK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615443" y="5888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video results still render underneath — nothing is hidden while the viewer decides.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results become direct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682496"/>
            <a:ext cx="2353712" cy="463600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nswermode/img/Search_Results_Answer_Mode_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2243984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V="1">
            <a:off x="995502" y="1810512"/>
            <a:ext cx="2528642" cy="1065259"/>
          </a:xfrm>
          <a:prstGeom prst="line">
            <a:avLst/>
          </a:prstGeom>
          <a:noFill/>
          <a:ln w="15875">
            <a:solidFill>
              <a:srgbClr val="F9AB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4354" y="2834623"/>
            <a:ext cx="82296" cy="82296"/>
          </a:xfrm>
          <a:prstGeom prst="ellipse">
            <a:avLst/>
          </a:prstGeom>
          <a:solidFill>
            <a:srgbClr val="F9A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4144" y="169164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9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MATCH BADGE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524144" y="19110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tier shown at a glance — Best Match, Highly Relevant, or Relevant.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flipV="1">
            <a:off x="1570181" y="2862072"/>
            <a:ext cx="1953963" cy="1611854"/>
          </a:xfrm>
          <a:prstGeom prst="line">
            <a:avLst/>
          </a:prstGeom>
          <a:noFill/>
          <a:ln w="15875">
            <a:solidFill>
              <a:srgbClr val="3C40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29033" y="4432778"/>
            <a:ext cx="82296" cy="82296"/>
          </a:xfrm>
          <a:prstGeom prst="ellipse">
            <a:avLst/>
          </a:prstGeom>
          <a:solidFill>
            <a:srgbClr val="3C40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4144" y="274320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SUMMARY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524144" y="29626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quoted summary of what happens at this exact moment.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 flipV="1">
            <a:off x="1570181" y="3913632"/>
            <a:ext cx="1953963" cy="1025510"/>
          </a:xfrm>
          <a:prstGeom prst="line">
            <a:avLst/>
          </a:prstGeom>
          <a:noFill/>
          <a:ln w="15875">
            <a:solidFill>
              <a:srgbClr val="1880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29033" y="4897994"/>
            <a:ext cx="82296" cy="82296"/>
          </a:xfrm>
          <a:prstGeom prst="ellipse">
            <a:avLst/>
          </a:prstGeom>
          <a:solidFill>
            <a:srgbClr val="1880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24144" y="379476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THIS MOMENT MATCHED”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524144" y="401421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Transparent, per-result reasoning — explainability builds trust in the ranking.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 flipV="1">
            <a:off x="1323890" y="4965192"/>
            <a:ext cx="2200254" cy="324231"/>
          </a:xfrm>
          <a:prstGeom prst="line">
            <a:avLst/>
          </a:prstGeom>
          <a:noFill/>
          <a:ln w="15875">
            <a:solidFill>
              <a:srgbClr val="FF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82742" y="5248275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24144" y="484632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TO TIMESTAMP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524144" y="50657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to the moment, or “Full video” to watch normally — never a dead end.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570181" y="5606864"/>
            <a:ext cx="1953963" cy="318448"/>
          </a:xfrm>
          <a:prstGeom prst="line">
            <a:avLst/>
          </a:prstGeom>
          <a:noFill/>
          <a:ln w="15875">
            <a:solidFill>
              <a:srgbClr val="1A73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29033" y="5565716"/>
            <a:ext cx="82296" cy="8229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24144" y="580644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RELEVANT SECTIONS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524144" y="60258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to every relevant moment in the video, not just the top result.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 keeps explaining as you watch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682496"/>
            <a:ext cx="2585492" cy="4636008"/>
          </a:xfrm>
          <a:prstGeom prst="roundRect">
            <a:avLst>
              <a:gd name="adj" fmla="val 778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nswermode/img/Enhanced_Video_Player_Answer_Mode_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2475764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V="1">
            <a:off x="1726239" y="1947672"/>
            <a:ext cx="2029686" cy="1164465"/>
          </a:xfrm>
          <a:prstGeom prst="line">
            <a:avLst/>
          </a:prstGeom>
          <a:noFill/>
          <a:ln w="15875">
            <a:solidFill>
              <a:srgbClr val="F9AB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85091" y="3070989"/>
            <a:ext cx="82296" cy="82296"/>
          </a:xfrm>
          <a:prstGeom prst="ellipse">
            <a:avLst/>
          </a:prstGeom>
          <a:solidFill>
            <a:srgbClr val="F9A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55924" y="182880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9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RELEVANCE-DOT SCRUBBER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755924" y="20482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seek bar itself is annotated — amber, blue, and gray dots mark Best Match, Highly Relevant, and Relevant moments along the timeline.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26239" y="3438356"/>
            <a:ext cx="2029686" cy="63796"/>
          </a:xfrm>
          <a:prstGeom prst="line">
            <a:avLst/>
          </a:prstGeom>
          <a:noFill/>
          <a:ln w="15875">
            <a:solidFill>
              <a:srgbClr val="1A7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85091" y="3397208"/>
            <a:ext cx="82296" cy="8229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55924" y="338328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CHIPS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755924" y="3602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Tappable chips for each ranked moment, with timestamp and label, sit right under the scrubber.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50518" y="4749055"/>
            <a:ext cx="1505406" cy="307577"/>
          </a:xfrm>
          <a:prstGeom prst="line">
            <a:avLst/>
          </a:prstGeom>
          <a:noFill/>
          <a:ln w="15875">
            <a:solidFill>
              <a:srgbClr val="1880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09370" y="4707907"/>
            <a:ext cx="82296" cy="82296"/>
          </a:xfrm>
          <a:prstGeom prst="ellipse">
            <a:avLst/>
          </a:prstGeom>
          <a:solidFill>
            <a:srgbClr val="1880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55924" y="493776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TIMELINE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755924" y="515721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fold, the full “Answer Mode timeline” lists every matched moment with its own explanation.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match asks a simple question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682496"/>
            <a:ext cx="2297930" cy="4636008"/>
          </a:xfrm>
          <a:prstGeom prst="roundRect">
            <a:avLst>
              <a:gd name="adj" fmla="val 875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nswermode/img/User_Feedback_Capability_Enhanced_Video_Player_Answer_Mode_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2188202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V="1">
            <a:off x="1282279" y="1828800"/>
            <a:ext cx="2186082" cy="2156712"/>
          </a:xfrm>
          <a:prstGeom prst="line">
            <a:avLst/>
          </a:prstGeom>
          <a:noFill/>
          <a:ln w="15875">
            <a:solidFill>
              <a:srgbClr val="FF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41131" y="3944364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68362" y="17373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 / NOT HELPFUL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468362" y="1956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thumbs up-or-down sits under every single matched moment, not just the top result.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68362" y="3063240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6097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60970" y="3666744"/>
            <a:ext cx="82296" cy="822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998714" y="3538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 ranking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998714" y="3813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feeds back into the relevance model — Best Match improves per-query over time.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60970" y="4507992"/>
            <a:ext cx="82296" cy="822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998714" y="4379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Per-moment, not per-video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998714" y="46542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feedback isolates exactly which explanation or timestamp missed, not just “bad video.”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760970" y="5349240"/>
            <a:ext cx="82296" cy="82296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998714" y="5221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Low-friction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998714" y="54955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tap, no forms — designed to be answered by a meaningful share of viewers, not skipped.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400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today, a smarter answer engine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74920" cy="4572000"/>
          </a:xfrm>
          <a:prstGeom prst="roundRect">
            <a:avLst>
              <a:gd name="adj" fmla="val 240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53896"/>
            <a:ext cx="1256386" cy="256032"/>
          </a:xfrm>
          <a:prstGeom prst="roundRect">
            <a:avLst>
              <a:gd name="adj" fmla="val 50000"/>
            </a:avLst>
          </a:prstGeom>
          <a:solidFill>
            <a:srgbClr val="2021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53896"/>
            <a:ext cx="1256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— SHIPPED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live now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532888"/>
            <a:ext cx="73152" cy="73152"/>
          </a:xfrm>
          <a:prstGeom prst="ellipse">
            <a:avLst/>
          </a:prstGeom>
          <a:solidFill>
            <a:srgbClr val="2021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395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toggle on Home and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108960"/>
            <a:ext cx="73152" cy="73152"/>
          </a:xfrm>
          <a:prstGeom prst="ellipse">
            <a:avLst/>
          </a:prstGeom>
          <a:solidFill>
            <a:srgbClr val="2021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971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Match / Highly Relevant / Relevant ranking tiers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685032"/>
            <a:ext cx="73152" cy="73152"/>
          </a:xfrm>
          <a:prstGeom prst="ellipse">
            <a:avLst/>
          </a:prstGeom>
          <a:solidFill>
            <a:srgbClr val="2021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547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summary + “why this matched” per moment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261104"/>
            <a:ext cx="73152" cy="73152"/>
          </a:xfrm>
          <a:prstGeom prst="ellipse">
            <a:avLst/>
          </a:prstGeom>
          <a:solidFill>
            <a:srgbClr val="2021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1239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jump to timestamp, with full-video fallback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837176"/>
            <a:ext cx="73152" cy="73152"/>
          </a:xfrm>
          <a:prstGeom prst="ellipse">
            <a:avLst/>
          </a:prstGeom>
          <a:solidFill>
            <a:srgbClr val="2021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700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player scrubber + Answer Mode timeline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5413248"/>
            <a:ext cx="73152" cy="73152"/>
          </a:xfrm>
          <a:prstGeom prst="ellipse">
            <a:avLst/>
          </a:prstGeom>
          <a:solidFill>
            <a:srgbClr val="2021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5276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Per-moment helpful / not-helpful feedback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1600200"/>
            <a:ext cx="50749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453896"/>
            <a:ext cx="1327709" cy="256032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1453896"/>
            <a:ext cx="13277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ROADMAP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920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253288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29400" y="2395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 ranking using feedback + watch-history signal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310896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9400" y="2971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from search results into related-video recommendations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685032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3547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Multi-video answers — stitch moments across a whole playlist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261104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29400" y="41239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Creator-side insights: which moments viewers say “actually answered it”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4837176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4700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 for live streams and Shorts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5413248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29400" y="5276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multi-turn follow-up queries (“what about JPEGs?”)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0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1463040" y="-1097280"/>
            <a:ext cx="402336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dirty="0">
                <a:solidFill>
                  <a:srgbClr val="2B2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VISION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830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video becomes searchable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 moment level.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703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DC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 is the first step toward YouTube Search that understands intent, not just keywords — turning hours of video into an answer, in seconds.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5074920"/>
            <a:ext cx="7863840" cy="0"/>
          </a:xfrm>
          <a:prstGeom prst="line">
            <a:avLst/>
          </a:prstGeom>
          <a:noFill/>
          <a:ln w="12700">
            <a:solidFill>
              <a:srgbClr val="3C404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PROTOTYPE</a:t>
            </a:r>
            <a:endParaRPr lang="en-US" sz="1000" dirty="0"/>
          </a:p>
        </p:txBody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502920" y="5532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claude.ai/public/artifacts/72535428-7de1-4141-bb98-f633c92ec44d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MODE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2026-08-30T18:09:39Z</dcterms:created>
  <dcterms:modified xsi:type="dcterms:W3CDTF">2026-08-30T18:09:39Z</dcterms:modified>
</cp:coreProperties>
</file>