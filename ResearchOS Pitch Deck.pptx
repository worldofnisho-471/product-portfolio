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Bricolage Grotesque" panose="020B0605040402000204"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Saurav Dasgupta, and I built ResearchOS on my own. It helps a researcher go from an idea to a validated result, with AI at every step. Let me start with a person, not a market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parts with details from a real person you interviewed (no name needed): their real situation, the moment it went wrong, and what it cost them. One moment of pain, not statistics. The demo is the “then”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problem: researchers can’t see, in one place, whether an idea is worth pursuing, what to do next, and whether results are on track. Today it’s spread across three tools and a weekly meeting. Back this with a real number from your interviews, for example how many of the people you spoke to track experiments in spreadsheets.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asked a third of past finalists this. Answer in one line, then give the three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is a research team: PhD students and their supervisor working on the same project. Every screen serves one journey, from an idea to knowing what to change next, and everyone on the team sees the same plan, results and notes live. Steps 2 to 5 repeat until results meet their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said: never tell me AI will work, explain how. Walk through these four steps. Stress that the model can only cite papers the app fetched, and that a person approves every change to the plan. If asked about privacy: keys never reach the browser, roles are enforced by the database, and production moves to a paid AI tier that doesn’t train on customer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in a normal browser window on the left, Researcher in a private window on the right, both on the same project. Rehearse this twice with two accounts. Keep cached results for the example project and a recorded backup video. The demo login on this slide is required: no access, no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also answers “what does the other side get?”: the supervisor sees progress without chasing updates and has the final say on plan changes. Students and supervisors are one type of user, a research team; Lead, Researcher and Observer are permission levels, not separate customers. Plans and notes are also fully searchable, with matches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these are simulated personas I used to stress-test the product before real sessions, and that two of the three changes are already live. If real sessions have happened by demo day, replace the table with their names, where they got stuck and what I changed, plus one real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is built in: a project only works when the supervisor and lab mates join it, so every active user brings in their supervisor and lab mates. Activation is measured by the first logged result, because results are what keep a team using it. Revenue in one line: free for individual students, paid per seat for labs and corporate R&amp;D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real people and real communities, not “I’ll post on LinkedIn”. Growth is built into the product: a project only works when the supervisor and lab mates join it. The free idea check is the hook that brings new researchers in. Done when a launch message has actually been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answer what researchers flagged: logging results is the weak link, and funders need reports. Close on the user again: the PhD student from the opening now knows what to change next without waiting for her weekly meeting. Then invite judges to try the live link with the demo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6039"/>
            <a:ext cx="10566400" cy="493713"/>
          </a:xfrm>
          <a:prstGeom prst="rect">
            <a:avLst/>
          </a:prstGeom>
          <a:noFill/>
          <a:ln/>
        </p:spPr>
        <p:txBody>
          <a:bodyPr wrap="square" lIns="0" tIns="0" rIns="0" bIns="0" rtlCol="0" anchor="t"/>
          <a:lstStyle>
            <a:lvl1pPr algn="l" indent="0" marL="0">
              <a:lnSpc>
                <a:spcPct val="115000"/>
              </a:lnSpc>
              <a:buNone/>
              <a:defRPr lang="en-US" sz="3600" dirty="0">
                <a:solidFill>
                  <a:srgbClr val="141A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4552"/>
            <a:ext cx="10566400" cy="3910648"/>
          </a:xfrm>
          <a:prstGeom prst="rect">
            <a:avLst/>
          </a:prstGeom>
          <a:noFill/>
          <a:ln/>
        </p:spPr>
        <p:txBody>
          <a:bodyPr wrap="square" lIns="0" tIns="0" rIns="0" bIns="0" rtlCol="0" anchor="t"/>
          <a:lstStyle>
            <a:lvl1pPr algn="l" indent="0" marL="0">
              <a:lnSpc>
                <a:spcPct val="140000"/>
              </a:lnSpc>
              <a:buNone/>
              <a:defRPr lang="en-US" sz="1600" dirty="0">
                <a:solidFill>
                  <a:srgbClr val="14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6039"/>
            <a:ext cx="10566400" cy="493713"/>
          </a:xfrm>
          <a:prstGeom prst="rect">
            <a:avLst/>
          </a:prstGeom>
          <a:noFill/>
          <a:ln/>
        </p:spPr>
        <p:txBody>
          <a:bodyPr wrap="square" lIns="0" tIns="0" rIns="0" bIns="0" rtlCol="0" anchor="t"/>
          <a:lstStyle>
            <a:lvl1pPr algn="l" indent="0" marL="0">
              <a:lnSpc>
                <a:spcPct val="115000"/>
              </a:lnSpc>
              <a:buNone/>
              <a:defRPr lang="en-US" sz="3600" dirty="0">
                <a:solidFill>
                  <a:srgbClr val="141A2B"/>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4552"/>
            <a:ext cx="10566400" cy="3910648"/>
          </a:xfrm>
          <a:prstGeom prst="rect">
            <a:avLst/>
          </a:prstGeom>
          <a:noFill/>
          <a:ln/>
        </p:spPr>
        <p:txBody>
          <a:bodyPr wrap="square" lIns="0" tIns="0" rIns="0" bIns="0" rtlCol="0" anchor="t"/>
          <a:lstStyle>
            <a:lvl1pPr algn="l" indent="0" marL="0">
              <a:lnSpc>
                <a:spcPct val="140000"/>
              </a:lnSpc>
              <a:buNone/>
              <a:defRPr lang="en-US" sz="1600" dirty="0">
                <a:solidFill>
                  <a:srgbClr val="14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A2B"/>
              </a:gs>
              <a:gs pos="100000">
                <a:srgbClr val="1C2540"/>
              </a:gs>
            </a:gsLst>
            <a:lin ang="2700000" scaled="0"/>
          </a:gradFill>
          <a:ln/>
        </p:spPr>
      </p:sp>
      <p:sp>
        <p:nvSpPr>
          <p:cNvPr id="3" name="Text 1"/>
          <p:cNvSpPr/>
          <p:nvPr/>
        </p:nvSpPr>
        <p:spPr>
          <a:xfrm>
            <a:off x="812800" y="1981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8FA2FF"/>
                </a:solidFill>
                <a:latin typeface="IBM Plex Sans" pitchFamily="34" charset="0"/>
                <a:ea typeface="IBM Plex Sans" pitchFamily="34" charset="-122"/>
                <a:cs typeface="IBM Plex Sans" pitchFamily="34" charset="-120"/>
              </a:rPr>
              <a:t>BUILDATHON 2026 · INDIVIDUAL ENTRY</a:t>
            </a:r>
            <a:endParaRPr lang="en-US" sz="1400" dirty="0"/>
          </a:p>
        </p:txBody>
      </p:sp>
      <p:sp>
        <p:nvSpPr>
          <p:cNvPr id="4" name="Text 2"/>
          <p:cNvSpPr/>
          <p:nvPr>
            <p:ph type="title"/>
          </p:nvPr>
        </p:nvSpPr>
        <p:spPr>
          <a:xfrm>
            <a:off x="812800" y="2484120"/>
            <a:ext cx="10883392" cy="1168400"/>
          </a:xfrm>
          <a:prstGeom prst="rect">
            <a:avLst/>
          </a:prstGeom>
          <a:noFill/>
          <a:ln/>
        </p:spPr>
        <p:txBody>
          <a:bodyPr wrap="square" lIns="0" tIns="0" rIns="0" bIns="0" rtlCol="0" anchor="t">
            <a:normAutofit/>
          </a:bodyPr>
          <a:lstStyle/>
          <a:p>
            <a:pPr algn="l" indent="0" marL="0">
              <a:lnSpc>
                <a:spcPts val="9000"/>
              </a:lnSpc>
              <a:buNone/>
            </a:pPr>
            <a:r>
              <a:rPr lang="en-US" sz="9000" b="1" i="0" spc="-200" kern="0" dirty="0">
                <a:solidFill>
                  <a:srgbClr val="F5F4EF"/>
                </a:solidFill>
                <a:latin typeface="Bricolage Grotesque" pitchFamily="34" charset="0"/>
                <a:ea typeface="Bricolage Grotesque" pitchFamily="34" charset="-122"/>
                <a:cs typeface="Bricolage Grotesque" pitchFamily="34" charset="-120"/>
              </a:rPr>
              <a:t>ResearchOS</a:t>
            </a:r>
            <a:endParaRPr lang="en-US" sz="9000" dirty="0"/>
          </a:p>
        </p:txBody>
      </p:sp>
      <p:sp>
        <p:nvSpPr>
          <p:cNvPr id="5" name="Text 3"/>
          <p:cNvSpPr/>
          <p:nvPr/>
        </p:nvSpPr>
        <p:spPr>
          <a:xfrm>
            <a:off x="812800" y="3881120"/>
            <a:ext cx="8502650" cy="81788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C9CFE0"/>
                </a:solidFill>
                <a:latin typeface="IBM Plex Sans" pitchFamily="34" charset="0"/>
                <a:ea typeface="IBM Plex Sans" pitchFamily="34" charset="-122"/>
                <a:cs typeface="IBM Plex Sans" pitchFamily="34" charset="-120"/>
              </a:rPr>
              <a:t>From research idea to validated result, for the whole team, with an AI co-pilot at every step.</a:t>
            </a:r>
            <a:endParaRPr lang="en-US" sz="2400" dirty="0"/>
          </a:p>
        </p:txBody>
      </p:sp>
      <p:sp>
        <p:nvSpPr>
          <p:cNvPr id="6" name="Text 4"/>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3A8"/>
                </a:solidFill>
                <a:latin typeface="IBM Plex Sans" pitchFamily="34" charset="0"/>
                <a:ea typeface="IBM Plex Sans" pitchFamily="34" charset="-122"/>
                <a:cs typeface="IBM Plex Sans" pitchFamily="34" charset="-120"/>
              </a:rPr>
              <a:t>Built by Saurav Dasgupta · research-os-beige-five.vercel.app · github.com/worldofnisho-471/ResearchOS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WHO IT’S FOR</a:t>
            </a:r>
            <a:endParaRPr lang="en-US" sz="1300" dirty="0"/>
          </a:p>
        </p:txBody>
      </p:sp>
      <p:sp>
        <p:nvSpPr>
          <p:cNvPr id="3" name="Text 1"/>
          <p:cNvSpPr/>
          <p:nvPr>
            <p:ph type="title"/>
          </p:nvPr>
        </p:nvSpPr>
        <p:spPr>
          <a:xfrm>
            <a:off x="812800" y="1348740"/>
            <a:ext cx="10883392" cy="1092200"/>
          </a:xfrm>
          <a:prstGeom prst="rect">
            <a:avLst/>
          </a:prstGeom>
          <a:noFill/>
          <a:ln/>
        </p:spPr>
        <p:txBody>
          <a:bodyPr wrap="square" lIns="0" tIns="0" rIns="0" bIns="0" rtlCol="0" anchor="t">
            <a:normAutofit/>
          </a:bodyPr>
          <a:lstStyle/>
          <a:p>
            <a:pPr algn="l" indent="0" marL="0">
              <a:lnSpc>
                <a:spcPts val="4200"/>
              </a:lnSpc>
              <a:buNone/>
            </a:pPr>
            <a:r>
              <a:rPr lang="en-US" sz="4000" b="1" i="0" spc="-75" kern="0" dirty="0">
                <a:solidFill>
                  <a:srgbClr val="141A2B"/>
                </a:solidFill>
                <a:latin typeface="Bricolage Grotesque" pitchFamily="34" charset="0"/>
                <a:ea typeface="Bricolage Grotesque" pitchFamily="34" charset="-122"/>
                <a:cs typeface="Bricolage Grotesque" pitchFamily="34" charset="-120"/>
              </a:rPr>
              <a:t>Months of work, and no one can say if it’s on track.</a:t>
            </a:r>
            <a:endParaRPr lang="en-US" sz="4000" dirty="0"/>
          </a:p>
        </p:txBody>
      </p:sp>
      <p:sp>
        <p:nvSpPr>
          <p:cNvPr id="4" name="Text 2"/>
          <p:cNvSpPr/>
          <p:nvPr/>
        </p:nvSpPr>
        <p:spPr>
          <a:xfrm>
            <a:off x="815975" y="2723515"/>
            <a:ext cx="6063218" cy="2675890"/>
          </a:xfrm>
          <a:prstGeom prst="roundRect">
            <a:avLst>
              <a:gd name="adj" fmla="val 5577"/>
            </a:avLst>
          </a:prstGeom>
          <a:solidFill>
            <a:srgbClr val="FBEFD6"/>
          </a:solidFill>
          <a:ln w="6350">
            <a:solidFill>
              <a:srgbClr val="E8C98A"/>
            </a:solidFill>
            <a:prstDash val="solid"/>
          </a:ln>
        </p:spPr>
        <p:txBody>
          <a:bodyPr wrap="square" lIns="262999" tIns="262998" rIns="99504" bIns="237598" rtlCol="0" anchor="t">
            <a:normAutofit/>
          </a:bodyPr>
          <a:lstStyle/>
          <a:p>
            <a:pPr algn="l" indent="0" marL="0">
              <a:lnSpc>
                <a:spcPts val="2320"/>
              </a:lnSpc>
              <a:buNone/>
            </a:pPr>
            <a:r>
              <a:rPr lang="en-US" sz="1600" dirty="0">
                <a:solidFill>
                  <a:srgbClr val="2A2E3D"/>
                </a:solidFill>
                <a:latin typeface="IBM Plex Sans" pitchFamily="34" charset="0"/>
                <a:ea typeface="IBM Plex Sans" pitchFamily="34" charset="-122"/>
                <a:cs typeface="IBM Plex Sans" pitchFamily="34" charset="-120"/>
              </a:rPr>
              <a:t>Picture a </a:t>
            </a:r>
            <a:r>
              <a:rPr lang="en-US" sz="1600" b="1" dirty="0">
                <a:solidFill>
                  <a:srgbClr val="2A2E3D"/>
                </a:solidFill>
                <a:latin typeface="IBM Plex Sans" pitchFamily="34" charset="0"/>
                <a:ea typeface="IBM Plex Sans" pitchFamily="34" charset="-122"/>
                <a:cs typeface="IBM Plex Sans" pitchFamily="34" charset="-120"/>
              </a:rPr>
              <a:t>[second-year PhD student in environmental engineering]</a:t>
            </a:r>
            <a:r>
              <a:rPr lang="en-US" sz="1600" dirty="0">
                <a:solidFill>
                  <a:srgbClr val="2A2E3D"/>
                </a:solidFill>
                <a:latin typeface="IBM Plex Sans" pitchFamily="34" charset="0"/>
                <a:ea typeface="IBM Plex Sans" pitchFamily="34" charset="-122"/>
                <a:cs typeface="IBM Plex Sans" pitchFamily="34" charset="-120"/>
              </a:rPr>
              <a:t>. Every week she runs experiments and updates a spreadsheet only she reads. Last [month], [she found her three-week result had already been published]. Today she pieces it together from Google Scholar, Excel and WhatsApp updates to her supervisor, which costs her [hours each week and a lot of stress].</a:t>
            </a:r>
            <a:endParaRPr lang="en-US" sz="1600" dirty="0"/>
          </a:p>
        </p:txBody>
      </p:sp>
      <p:sp>
        <p:nvSpPr>
          <p:cNvPr id="5" name="Shape 3"/>
          <p:cNvSpPr/>
          <p:nvPr/>
        </p:nvSpPr>
        <p:spPr>
          <a:xfrm>
            <a:off x="7136368" y="2720340"/>
            <a:ext cx="4242832" cy="2682240"/>
          </a:xfrm>
          <a:prstGeom prst="roundRect">
            <a:avLst>
              <a:gd name="adj" fmla="val 5682"/>
            </a:avLst>
          </a:prstGeom>
          <a:solidFill>
            <a:srgbClr val="141A2B"/>
          </a:solidFill>
          <a:ln/>
        </p:spPr>
      </p:sp>
      <p:sp>
        <p:nvSpPr>
          <p:cNvPr id="6" name="Text 4"/>
          <p:cNvSpPr/>
          <p:nvPr/>
        </p:nvSpPr>
        <p:spPr>
          <a:xfrm>
            <a:off x="7441168" y="3025140"/>
            <a:ext cx="3742229"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FA2FF"/>
                </a:solidFill>
                <a:latin typeface="IBM Plex Sans" pitchFamily="34" charset="0"/>
                <a:ea typeface="IBM Plex Sans" pitchFamily="34" charset="-122"/>
                <a:cs typeface="IBM Plex Sans" pitchFamily="34" charset="-120"/>
              </a:rPr>
              <a:t>THEN</a:t>
            </a:r>
            <a:endParaRPr lang="en-US" sz="1300" dirty="0"/>
          </a:p>
        </p:txBody>
      </p:sp>
      <p:sp>
        <p:nvSpPr>
          <p:cNvPr id="7" name="Text 5"/>
          <p:cNvSpPr/>
          <p:nvPr/>
        </p:nvSpPr>
        <p:spPr>
          <a:xfrm>
            <a:off x="7441168" y="3408680"/>
            <a:ext cx="3742229" cy="12039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5F4EF"/>
                </a:solidFill>
                <a:latin typeface="IBM Plex Sans" pitchFamily="34" charset="0"/>
                <a:ea typeface="IBM Plex Sans" pitchFamily="34" charset="-122"/>
                <a:cs typeface="IBM Plex Sans" pitchFamily="34" charset="-120"/>
              </a:rPr>
              <a:t>She opens ResearchOS, checks her idea, gets a plan, logs a result, and in [minutes] knows exactly what to change next.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p:nvPr>
            <p:ph type="title"/>
          </p:nvPr>
        </p:nvSpPr>
        <p:spPr>
          <a:xfrm>
            <a:off x="812800" y="1348741"/>
            <a:ext cx="9810750" cy="1012825"/>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Nothing connects the idea, the plan and the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651126"/>
          <a:ext cx="10556240" cy="2316480"/>
        </p:xfrm>
        <a:graphic>
          <a:graphicData uri="http://schemas.openxmlformats.org/drawingml/2006/table">
            <a:tbl>
              <a:tblPr/>
              <a:tblGrid>
                <a:gridCol w="2955747"/>
                <a:gridCol w="3166872"/>
                <a:gridCol w="4433621"/>
              </a:tblGrid>
              <a:tr h="436880">
                <a:tc>
                  <a:txBody>
                    <a:bodyPr/>
                    <a:lstStyle/>
                    <a:p>
                      <a:pPr indent="0" marL="0">
                        <a:lnSpc>
                          <a:spcPts val="2240"/>
                        </a:lnSpc>
                        <a:buNone/>
                      </a:pPr>
                      <a:r>
                        <a:rPr lang="en-US" sz="1600" b="1" dirty="0">
                          <a:solidFill>
                            <a:srgbClr val="2A2E3D"/>
                          </a:solidFill>
                          <a:latin typeface="IBM Plex Sans" pitchFamily="34" charset="0"/>
                          <a:ea typeface="IBM Plex Sans" pitchFamily="34" charset="-122"/>
                          <a:cs typeface="IBM Plex Sans" pitchFamily="34" charset="-120"/>
                        </a:rPr>
                        <a:t>How they solve it today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240"/>
                        </a:lnSpc>
                        <a:buNone/>
                      </a:pPr>
                      <a:r>
                        <a:rPr lang="en-US" sz="1600" b="1" dirty="0">
                          <a:solidFill>
                            <a:srgbClr val="2A2E3D"/>
                          </a:solidFill>
                          <a:latin typeface="IBM Plex Sans" pitchFamily="34" charset="0"/>
                          <a:ea typeface="IBM Plex Sans" pitchFamily="34" charset="-122"/>
                          <a:cs typeface="IBM Plex Sans" pitchFamily="34" charset="-120"/>
                        </a:rPr>
                        <a:t>What it does well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2240"/>
                        </a:lnSpc>
                        <a:buNone/>
                      </a:pPr>
                      <a:r>
                        <a:rPr lang="en-US" sz="1600" b="1" dirty="0">
                          <a:solidFill>
                            <a:srgbClr val="2A2E3D"/>
                          </a:solidFill>
                          <a:latin typeface="IBM Plex Sans" pitchFamily="34" charset="0"/>
                          <a:ea typeface="IBM Plex Sans" pitchFamily="34" charset="-122"/>
                          <a:cs typeface="IBM Plex Sans" pitchFamily="34" charset="-120"/>
                        </a:rPr>
                        <a:t>The gap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721360">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Google Scholar, AI search tools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Finds papers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No plan, no tracking, no verdict on the idea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21360">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Spreadsheets, Notion, notebooks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Records experiments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No judgement; results drift from the hypothesis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Supervisor meetings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Expert judgement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2A2E3D"/>
                          </a:solidFill>
                          <a:latin typeface="IBM Plex Sans" pitchFamily="34" charset="0"/>
                          <a:ea typeface="IBM Plex Sans" pitchFamily="34" charset="-122"/>
                          <a:cs typeface="IBM Plex Sans" pitchFamily="34" charset="-120"/>
                        </a:rPr>
                        <a:t>Weekly at best; context gets lost in between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348D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3E8FF"/>
                </a:solidFill>
                <a:latin typeface="IBM Plex Sans" pitchFamily="34" charset="0"/>
                <a:ea typeface="IBM Plex Sans" pitchFamily="34" charset="-122"/>
                <a:cs typeface="IBM Plex Sans" pitchFamily="34" charset="-120"/>
              </a:rPr>
              <a:t>WHY NOT JUST USE CHATGPT?</a:t>
            </a:r>
            <a:endParaRPr lang="en-US" sz="1300" dirty="0"/>
          </a:p>
        </p:txBody>
      </p:sp>
      <p:sp>
        <p:nvSpPr>
          <p:cNvPr id="3" name="Text 1"/>
          <p:cNvSpPr/>
          <p:nvPr>
            <p:ph type="title"/>
          </p:nvPr>
        </p:nvSpPr>
        <p:spPr>
          <a:xfrm>
            <a:off x="812800" y="1247141"/>
            <a:ext cx="10464800" cy="2110105"/>
          </a:xfrm>
          <a:prstGeom prst="rect">
            <a:avLst/>
          </a:prstGeom>
          <a:noFill/>
          <a:ln/>
        </p:spPr>
        <p:txBody>
          <a:bodyPr wrap="square" lIns="0" tIns="0" rIns="0" bIns="0" rtlCol="0" anchor="t">
            <a:normAutofit/>
          </a:bodyPr>
          <a:lstStyle/>
          <a:p>
            <a:pPr algn="l" indent="0" marL="0">
              <a:lnSpc>
                <a:spcPts val="4104"/>
              </a:lnSpc>
              <a:buNone/>
            </a:pPr>
            <a:r>
              <a:rPr lang="en-US" sz="3800" b="1" i="0" spc="-75" kern="0" dirty="0">
                <a:solidFill>
                  <a:srgbClr val="F5F4EF"/>
                </a:solidFill>
                <a:latin typeface="Bricolage Grotesque" pitchFamily="34" charset="0"/>
                <a:ea typeface="Bricolage Grotesque" pitchFamily="34" charset="-122"/>
                <a:cs typeface="Bricolage Grotesque" pitchFamily="34" charset="-120"/>
              </a:rPr>
              <a:t>ChatGPT answers a question. ResearchOS remembers the plan, the results and the evidence, and turns them into your next decision.</a:t>
            </a:r>
            <a:endParaRPr lang="en-US" sz="3800" dirty="0"/>
          </a:p>
        </p:txBody>
      </p:sp>
      <p:sp>
        <p:nvSpPr>
          <p:cNvPr id="4" name="Shape 2"/>
          <p:cNvSpPr/>
          <p:nvPr/>
        </p:nvSpPr>
        <p:spPr>
          <a:xfrm>
            <a:off x="812800" y="4414520"/>
            <a:ext cx="3386614" cy="1630680"/>
          </a:xfrm>
          <a:prstGeom prst="roundRect">
            <a:avLst>
              <a:gd name="adj" fmla="val 7788"/>
            </a:avLst>
          </a:prstGeom>
          <a:solidFill>
            <a:srgbClr val="2639B3"/>
          </a:solidFill>
          <a:ln/>
        </p:spPr>
      </p:sp>
      <p:sp>
        <p:nvSpPr>
          <p:cNvPr id="5" name="Text 3"/>
          <p:cNvSpPr/>
          <p:nvPr/>
        </p:nvSpPr>
        <p:spPr>
          <a:xfrm>
            <a:off x="1066800" y="4668520"/>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IBM Plex Sans" pitchFamily="34" charset="0"/>
                <a:ea typeface="IBM Plex Sans" pitchFamily="34" charset="-122"/>
                <a:cs typeface="IBM Plex Sans" pitchFamily="34" charset="-120"/>
              </a:rPr>
              <a:t>Real papers only</a:t>
            </a:r>
            <a:endParaRPr lang="en-US" sz="1800" dirty="0"/>
          </a:p>
        </p:txBody>
      </p:sp>
      <p:sp>
        <p:nvSpPr>
          <p:cNvPr id="6" name="Text 4"/>
          <p:cNvSpPr/>
          <p:nvPr/>
        </p:nvSpPr>
        <p:spPr>
          <a:xfrm>
            <a:off x="1066800" y="5044441"/>
            <a:ext cx="296497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F"/>
                </a:solidFill>
                <a:latin typeface="IBM Plex Sans" pitchFamily="34" charset="0"/>
                <a:ea typeface="IBM Plex Sans" pitchFamily="34" charset="-122"/>
                <a:cs typeface="IBM Plex Sans" pitchFamily="34" charset="-120"/>
              </a:rPr>
              <a:t>Pulled from Semantic Scholar or OpenAlex, and linked. The AI can’t cite anything else.</a:t>
            </a:r>
            <a:endParaRPr lang="en-US" sz="1400" dirty="0"/>
          </a:p>
        </p:txBody>
      </p:sp>
      <p:sp>
        <p:nvSpPr>
          <p:cNvPr id="7" name="Shape 5"/>
          <p:cNvSpPr/>
          <p:nvPr/>
        </p:nvSpPr>
        <p:spPr>
          <a:xfrm>
            <a:off x="4402614" y="4414520"/>
            <a:ext cx="3386693" cy="1630680"/>
          </a:xfrm>
          <a:prstGeom prst="roundRect">
            <a:avLst>
              <a:gd name="adj" fmla="val 7788"/>
            </a:avLst>
          </a:prstGeom>
          <a:solidFill>
            <a:srgbClr val="2639B3"/>
          </a:solidFill>
          <a:ln/>
        </p:spPr>
      </p:sp>
      <p:sp>
        <p:nvSpPr>
          <p:cNvPr id="8" name="Text 6"/>
          <p:cNvSpPr/>
          <p:nvPr/>
        </p:nvSpPr>
        <p:spPr>
          <a:xfrm>
            <a:off x="4656614" y="466852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IBM Plex Sans" pitchFamily="34" charset="0"/>
                <a:ea typeface="IBM Plex Sans" pitchFamily="34" charset="-122"/>
                <a:cs typeface="IBM Plex Sans" pitchFamily="34" charset="-120"/>
              </a:rPr>
              <a:t>Shared memory</a:t>
            </a:r>
            <a:endParaRPr lang="en-US" sz="1800" dirty="0"/>
          </a:p>
        </p:txBody>
      </p:sp>
      <p:sp>
        <p:nvSpPr>
          <p:cNvPr id="9" name="Text 7"/>
          <p:cNvSpPr/>
          <p:nvPr/>
        </p:nvSpPr>
        <p:spPr>
          <a:xfrm>
            <a:off x="4656614" y="5044441"/>
            <a:ext cx="29650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F"/>
                </a:solidFill>
                <a:latin typeface="IBM Plex Sans" pitchFamily="34" charset="0"/>
                <a:ea typeface="IBM Plex Sans" pitchFamily="34" charset="-122"/>
                <a:cs typeface="IBM Plex Sans" pitchFamily="34" charset="-120"/>
              </a:rPr>
              <a:t>The plan, results and notes persist for the whole team, not one chat.</a:t>
            </a:r>
            <a:endParaRPr lang="en-US" sz="1400" dirty="0"/>
          </a:p>
        </p:txBody>
      </p:sp>
      <p:sp>
        <p:nvSpPr>
          <p:cNvPr id="10" name="Shape 8"/>
          <p:cNvSpPr/>
          <p:nvPr/>
        </p:nvSpPr>
        <p:spPr>
          <a:xfrm>
            <a:off x="7992507" y="4414520"/>
            <a:ext cx="3386693" cy="1630680"/>
          </a:xfrm>
          <a:prstGeom prst="roundRect">
            <a:avLst>
              <a:gd name="adj" fmla="val 7788"/>
            </a:avLst>
          </a:prstGeom>
          <a:solidFill>
            <a:srgbClr val="2639B3"/>
          </a:solidFill>
          <a:ln/>
        </p:spPr>
      </p:sp>
      <p:sp>
        <p:nvSpPr>
          <p:cNvPr id="11" name="Text 9"/>
          <p:cNvSpPr/>
          <p:nvPr/>
        </p:nvSpPr>
        <p:spPr>
          <a:xfrm>
            <a:off x="8246507" y="466852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IBM Plex Sans" pitchFamily="34" charset="0"/>
                <a:ea typeface="IBM Plex Sans" pitchFamily="34" charset="-122"/>
                <a:cs typeface="IBM Plex Sans" pitchFamily="34" charset="-120"/>
              </a:rPr>
              <a:t>Evidence over opinion</a:t>
            </a:r>
            <a:endParaRPr lang="en-US" sz="1800" dirty="0"/>
          </a:p>
        </p:txBody>
      </p:sp>
      <p:sp>
        <p:nvSpPr>
          <p:cNvPr id="12" name="Text 10"/>
          <p:cNvSpPr/>
          <p:nvPr/>
        </p:nvSpPr>
        <p:spPr>
          <a:xfrm>
            <a:off x="8246507" y="5044441"/>
            <a:ext cx="29650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F"/>
                </a:solidFill>
                <a:latin typeface="IBM Plex Sans" pitchFamily="34" charset="0"/>
                <a:ea typeface="IBM Plex Sans" pitchFamily="34" charset="-122"/>
                <a:cs typeface="IBM Plex Sans" pitchFamily="34" charset="-120"/>
              </a:rPr>
              <a:t>Scores show their assumptions and which ones are proven.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THE SPEC</a:t>
            </a:r>
            <a:endParaRPr lang="en-US" sz="1300" dirty="0"/>
          </a:p>
        </p:txBody>
      </p:sp>
      <p:sp>
        <p:nvSpPr>
          <p:cNvPr id="3" name="Text 1"/>
          <p:cNvSpPr/>
          <p:nvPr>
            <p:ph type="title"/>
          </p:nvPr>
        </p:nvSpPr>
        <p:spPr>
          <a:xfrm>
            <a:off x="812800" y="134873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One research team. One journey. Five screens.</a:t>
            </a:r>
            <a:endParaRPr lang="en-US" sz="3600" dirty="0"/>
          </a:p>
        </p:txBody>
      </p:sp>
      <p:sp>
        <p:nvSpPr>
          <p:cNvPr id="4" name="Shape 2"/>
          <p:cNvSpPr/>
          <p:nvPr/>
        </p:nvSpPr>
        <p:spPr>
          <a:xfrm>
            <a:off x="815975" y="2150427"/>
            <a:ext cx="1783794" cy="1339850"/>
          </a:xfrm>
          <a:prstGeom prst="roundRect">
            <a:avLst>
              <a:gd name="adj" fmla="val 9242"/>
            </a:avLst>
          </a:prstGeom>
          <a:solidFill>
            <a:srgbClr val="FFFFFF"/>
          </a:solidFill>
          <a:ln w="6350">
            <a:solidFill>
              <a:srgbClr val="DADCE5"/>
            </a:solidFill>
            <a:prstDash val="solid"/>
          </a:ln>
        </p:spPr>
      </p:sp>
      <p:sp>
        <p:nvSpPr>
          <p:cNvPr id="5" name="Text 3"/>
          <p:cNvSpPr/>
          <p:nvPr/>
        </p:nvSpPr>
        <p:spPr>
          <a:xfrm>
            <a:off x="944880" y="2330134"/>
            <a:ext cx="15767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348D4"/>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44880" y="2606994"/>
            <a:ext cx="15767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Idea check</a:t>
            </a:r>
            <a:endParaRPr lang="en-US" sz="1500" dirty="0"/>
          </a:p>
        </p:txBody>
      </p:sp>
      <p:sp>
        <p:nvSpPr>
          <p:cNvPr id="7" name="Text 5"/>
          <p:cNvSpPr/>
          <p:nvPr/>
        </p:nvSpPr>
        <p:spPr>
          <a:xfrm>
            <a:off x="944880" y="2899094"/>
            <a:ext cx="157678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68"/>
                </a:solidFill>
                <a:latin typeface="IBM Plex Sans" pitchFamily="34" charset="0"/>
                <a:ea typeface="IBM Plex Sans" pitchFamily="34" charset="-122"/>
                <a:cs typeface="IBM Plex Sans" pitchFamily="34" charset="-120"/>
              </a:rPr>
              <a:t>Verdict, real papers, assumptions</a:t>
            </a:r>
            <a:endParaRPr lang="en-US" sz="1200" dirty="0"/>
          </a:p>
        </p:txBody>
      </p:sp>
      <p:pic>
        <p:nvPicPr>
          <p:cNvPr id="8" name="Image 0" descr="connector">    </p:cNvPr>
          <p:cNvPicPr>
            <a:picLocks noChangeAspect="1"/>
          </p:cNvPicPr>
          <p:nvPr/>
        </p:nvPicPr>
        <p:blipFill>
          <a:blip r:embed="rId1"/>
          <a:srcRect l="0" r="0" t="0" b="0"/>
          <a:stretch/>
        </p:blipFill>
        <p:spPr>
          <a:xfrm>
            <a:off x="2679144" y="2782252"/>
            <a:ext cx="254000" cy="76200"/>
          </a:xfrm>
          <a:prstGeom prst="rect">
            <a:avLst/>
          </a:prstGeom>
        </p:spPr>
      </p:pic>
      <p:sp>
        <p:nvSpPr>
          <p:cNvPr id="9" name="Shape 6"/>
          <p:cNvSpPr/>
          <p:nvPr/>
        </p:nvSpPr>
        <p:spPr>
          <a:xfrm>
            <a:off x="3012519" y="2150427"/>
            <a:ext cx="1783874" cy="1339850"/>
          </a:xfrm>
          <a:prstGeom prst="roundRect">
            <a:avLst>
              <a:gd name="adj" fmla="val 9242"/>
            </a:avLst>
          </a:prstGeom>
          <a:solidFill>
            <a:srgbClr val="FFFFFF"/>
          </a:solidFill>
          <a:ln w="6350">
            <a:solidFill>
              <a:srgbClr val="DADCE5"/>
            </a:solidFill>
            <a:prstDash val="solid"/>
          </a:ln>
        </p:spPr>
      </p:sp>
      <p:sp>
        <p:nvSpPr>
          <p:cNvPr id="10" name="Text 7"/>
          <p:cNvSpPr/>
          <p:nvPr/>
        </p:nvSpPr>
        <p:spPr>
          <a:xfrm>
            <a:off x="3141424" y="2330134"/>
            <a:ext cx="157686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348D4"/>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3141424" y="2606994"/>
            <a:ext cx="157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Research plan</a:t>
            </a:r>
            <a:endParaRPr lang="en-US" sz="1500" dirty="0"/>
          </a:p>
        </p:txBody>
      </p:sp>
      <p:sp>
        <p:nvSpPr>
          <p:cNvPr id="12" name="Text 9"/>
          <p:cNvSpPr/>
          <p:nvPr/>
        </p:nvSpPr>
        <p:spPr>
          <a:xfrm>
            <a:off x="3141424" y="2899094"/>
            <a:ext cx="157686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68"/>
                </a:solidFill>
                <a:latin typeface="IBM Plex Sans" pitchFamily="34" charset="0"/>
                <a:ea typeface="IBM Plex Sans" pitchFamily="34" charset="-122"/>
                <a:cs typeface="IBM Plex Sans" pitchFamily="34" charset="-120"/>
              </a:rPr>
              <a:t>Tasks with measurable goals</a:t>
            </a:r>
            <a:endParaRPr lang="en-US" sz="1200" dirty="0"/>
          </a:p>
        </p:txBody>
      </p:sp>
      <p:pic>
        <p:nvPicPr>
          <p:cNvPr id="13" name="Image 1" descr="connector">    </p:cNvPr>
          <p:cNvPicPr>
            <a:picLocks noChangeAspect="1"/>
          </p:cNvPicPr>
          <p:nvPr/>
        </p:nvPicPr>
        <p:blipFill>
          <a:blip r:embed="rId2"/>
          <a:srcRect l="0" r="0" t="0" b="0"/>
          <a:stretch/>
        </p:blipFill>
        <p:spPr>
          <a:xfrm>
            <a:off x="4875768" y="2782252"/>
            <a:ext cx="254000" cy="76200"/>
          </a:xfrm>
          <a:prstGeom prst="rect">
            <a:avLst/>
          </a:prstGeom>
        </p:spPr>
      </p:pic>
      <p:sp>
        <p:nvSpPr>
          <p:cNvPr id="14" name="Shape 10"/>
          <p:cNvSpPr/>
          <p:nvPr/>
        </p:nvSpPr>
        <p:spPr>
          <a:xfrm>
            <a:off x="5209143" y="2253298"/>
            <a:ext cx="1783794" cy="1134110"/>
          </a:xfrm>
          <a:prstGeom prst="roundRect">
            <a:avLst>
              <a:gd name="adj" fmla="val 10918"/>
            </a:avLst>
          </a:prstGeom>
          <a:solidFill>
            <a:srgbClr val="FFFFFF"/>
          </a:solidFill>
          <a:ln w="6350">
            <a:solidFill>
              <a:srgbClr val="DADCE5"/>
            </a:solidFill>
            <a:prstDash val="solid"/>
          </a:ln>
        </p:spPr>
      </p:sp>
      <p:sp>
        <p:nvSpPr>
          <p:cNvPr id="15" name="Text 11"/>
          <p:cNvSpPr/>
          <p:nvPr/>
        </p:nvSpPr>
        <p:spPr>
          <a:xfrm>
            <a:off x="5338048" y="2433002"/>
            <a:ext cx="15767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348D4"/>
                </a:solidFill>
                <a:latin typeface="IBM Plex Sans" pitchFamily="34" charset="0"/>
                <a:ea typeface="IBM Plex Sans" pitchFamily="34" charset="-122"/>
                <a:cs typeface="IBM Plex Sans" pitchFamily="34" charset="-120"/>
              </a:rPr>
              <a:t>3</a:t>
            </a:r>
            <a:endParaRPr lang="en-US" sz="1200" dirty="0"/>
          </a:p>
        </p:txBody>
      </p:sp>
      <p:sp>
        <p:nvSpPr>
          <p:cNvPr id="16" name="Text 12"/>
          <p:cNvSpPr/>
          <p:nvPr/>
        </p:nvSpPr>
        <p:spPr>
          <a:xfrm>
            <a:off x="5338048" y="2709863"/>
            <a:ext cx="15767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Log results</a:t>
            </a:r>
            <a:endParaRPr lang="en-US" sz="1500" dirty="0"/>
          </a:p>
        </p:txBody>
      </p:sp>
      <p:sp>
        <p:nvSpPr>
          <p:cNvPr id="17" name="Text 13"/>
          <p:cNvSpPr/>
          <p:nvPr/>
        </p:nvSpPr>
        <p:spPr>
          <a:xfrm>
            <a:off x="5338048" y="3001963"/>
            <a:ext cx="157678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68"/>
                </a:solidFill>
                <a:latin typeface="IBM Plex Sans" pitchFamily="34" charset="0"/>
                <a:ea typeface="IBM Plex Sans" pitchFamily="34" charset="-122"/>
                <a:cs typeface="IBM Plex Sans" pitchFamily="34" charset="-120"/>
              </a:rPr>
              <a:t>Did it meet the goal?</a:t>
            </a:r>
            <a:endParaRPr lang="en-US" sz="1200" dirty="0"/>
          </a:p>
        </p:txBody>
      </p:sp>
      <p:pic>
        <p:nvPicPr>
          <p:cNvPr id="18" name="Image 2" descr="connector">    </p:cNvPr>
          <p:cNvPicPr>
            <a:picLocks noChangeAspect="1"/>
          </p:cNvPicPr>
          <p:nvPr/>
        </p:nvPicPr>
        <p:blipFill>
          <a:blip r:embed="rId3"/>
          <a:srcRect l="0" r="0" t="0" b="0"/>
          <a:stretch/>
        </p:blipFill>
        <p:spPr>
          <a:xfrm>
            <a:off x="7072313" y="2782252"/>
            <a:ext cx="254000" cy="76200"/>
          </a:xfrm>
          <a:prstGeom prst="rect">
            <a:avLst/>
          </a:prstGeom>
        </p:spPr>
      </p:pic>
      <p:sp>
        <p:nvSpPr>
          <p:cNvPr id="19" name="Shape 14"/>
          <p:cNvSpPr/>
          <p:nvPr/>
        </p:nvSpPr>
        <p:spPr>
          <a:xfrm>
            <a:off x="7405688" y="2150427"/>
            <a:ext cx="1783874" cy="1339850"/>
          </a:xfrm>
          <a:prstGeom prst="roundRect">
            <a:avLst>
              <a:gd name="adj" fmla="val 9242"/>
            </a:avLst>
          </a:prstGeom>
          <a:solidFill>
            <a:srgbClr val="FFFFFF"/>
          </a:solidFill>
          <a:ln w="6350">
            <a:solidFill>
              <a:srgbClr val="DADCE5"/>
            </a:solidFill>
            <a:prstDash val="solid"/>
          </a:ln>
        </p:spPr>
      </p:sp>
      <p:sp>
        <p:nvSpPr>
          <p:cNvPr id="20" name="Text 15"/>
          <p:cNvSpPr/>
          <p:nvPr/>
        </p:nvSpPr>
        <p:spPr>
          <a:xfrm>
            <a:off x="7534593" y="2330134"/>
            <a:ext cx="157686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348D4"/>
                </a:solidFill>
                <a:latin typeface="IBM Plex Sans" pitchFamily="34" charset="0"/>
                <a:ea typeface="IBM Plex Sans" pitchFamily="34" charset="-122"/>
                <a:cs typeface="IBM Plex Sans" pitchFamily="34" charset="-120"/>
              </a:rPr>
              <a:t>4</a:t>
            </a:r>
            <a:endParaRPr lang="en-US" sz="1200" dirty="0"/>
          </a:p>
        </p:txBody>
      </p:sp>
      <p:sp>
        <p:nvSpPr>
          <p:cNvPr id="21" name="Text 16"/>
          <p:cNvSpPr/>
          <p:nvPr/>
        </p:nvSpPr>
        <p:spPr>
          <a:xfrm>
            <a:off x="7534593" y="2606994"/>
            <a:ext cx="157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Dashboard</a:t>
            </a:r>
            <a:endParaRPr lang="en-US" sz="1500" dirty="0"/>
          </a:p>
        </p:txBody>
      </p:sp>
      <p:sp>
        <p:nvSpPr>
          <p:cNvPr id="22" name="Text 17"/>
          <p:cNvSpPr/>
          <p:nvPr/>
        </p:nvSpPr>
        <p:spPr>
          <a:xfrm>
            <a:off x="7534593" y="2899094"/>
            <a:ext cx="157686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68"/>
                </a:solidFill>
                <a:latin typeface="IBM Plex Sans" pitchFamily="34" charset="0"/>
                <a:ea typeface="IBM Plex Sans" pitchFamily="34" charset="-122"/>
                <a:cs typeface="IBM Plex Sans" pitchFamily="34" charset="-120"/>
              </a:rPr>
              <a:t>On track, at risk or off track</a:t>
            </a:r>
            <a:endParaRPr lang="en-US" sz="1200" dirty="0"/>
          </a:p>
        </p:txBody>
      </p:sp>
      <p:pic>
        <p:nvPicPr>
          <p:cNvPr id="23" name="Image 3" descr="connector">    </p:cNvPr>
          <p:cNvPicPr>
            <a:picLocks noChangeAspect="1"/>
          </p:cNvPicPr>
          <p:nvPr/>
        </p:nvPicPr>
        <p:blipFill>
          <a:blip r:embed="rId4"/>
          <a:srcRect l="0" r="0" t="0" b="0"/>
          <a:stretch/>
        </p:blipFill>
        <p:spPr>
          <a:xfrm>
            <a:off x="9268937" y="2782252"/>
            <a:ext cx="254000" cy="76200"/>
          </a:xfrm>
          <a:prstGeom prst="rect">
            <a:avLst/>
          </a:prstGeom>
        </p:spPr>
      </p:pic>
      <p:sp>
        <p:nvSpPr>
          <p:cNvPr id="24" name="Shape 18"/>
          <p:cNvSpPr/>
          <p:nvPr/>
        </p:nvSpPr>
        <p:spPr>
          <a:xfrm>
            <a:off x="9599137" y="2255202"/>
            <a:ext cx="1780064" cy="1130300"/>
          </a:xfrm>
          <a:prstGeom prst="roundRect">
            <a:avLst>
              <a:gd name="adj" fmla="val 11236"/>
            </a:avLst>
          </a:prstGeom>
          <a:solidFill>
            <a:srgbClr val="141A2B"/>
          </a:solidFill>
          <a:ln/>
        </p:spPr>
      </p:sp>
      <p:sp>
        <p:nvSpPr>
          <p:cNvPr id="25" name="Text 19"/>
          <p:cNvSpPr/>
          <p:nvPr/>
        </p:nvSpPr>
        <p:spPr>
          <a:xfrm>
            <a:off x="9726137" y="2433002"/>
            <a:ext cx="157686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A2FF"/>
                </a:solidFill>
                <a:latin typeface="IBM Plex Sans" pitchFamily="34" charset="0"/>
                <a:ea typeface="IBM Plex Sans" pitchFamily="34" charset="-122"/>
                <a:cs typeface="IBM Plex Sans" pitchFamily="34" charset="-120"/>
              </a:rPr>
              <a:t>5</a:t>
            </a:r>
            <a:endParaRPr lang="en-US" sz="1200" dirty="0"/>
          </a:p>
        </p:txBody>
      </p:sp>
      <p:sp>
        <p:nvSpPr>
          <p:cNvPr id="26" name="Text 20"/>
          <p:cNvSpPr/>
          <p:nvPr/>
        </p:nvSpPr>
        <p:spPr>
          <a:xfrm>
            <a:off x="9726137" y="2709863"/>
            <a:ext cx="157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4EF"/>
                </a:solidFill>
                <a:latin typeface="IBM Plex Sans" pitchFamily="34" charset="0"/>
                <a:ea typeface="IBM Plex Sans" pitchFamily="34" charset="-122"/>
                <a:cs typeface="IBM Plex Sans" pitchFamily="34" charset="-120"/>
              </a:rPr>
              <a:t>Next steps</a:t>
            </a:r>
            <a:endParaRPr lang="en-US" sz="1500" dirty="0"/>
          </a:p>
        </p:txBody>
      </p:sp>
      <p:sp>
        <p:nvSpPr>
          <p:cNvPr id="27" name="Text 21"/>
          <p:cNvSpPr/>
          <p:nvPr/>
        </p:nvSpPr>
        <p:spPr>
          <a:xfrm>
            <a:off x="9726137" y="3001963"/>
            <a:ext cx="157686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FE0"/>
                </a:solidFill>
                <a:latin typeface="IBM Plex Sans" pitchFamily="34" charset="0"/>
                <a:ea typeface="IBM Plex Sans" pitchFamily="34" charset="-122"/>
                <a:cs typeface="IBM Plex Sans" pitchFamily="34" charset="-120"/>
              </a:rPr>
              <a:t>AI edits the plan</a:t>
            </a:r>
            <a:endParaRPr lang="en-US" sz="1200" dirty="0"/>
          </a:p>
        </p:txBody>
      </p:sp>
      <p:sp>
        <p:nvSpPr>
          <p:cNvPr id="28" name="Shape 22"/>
          <p:cNvSpPr/>
          <p:nvPr/>
        </p:nvSpPr>
        <p:spPr>
          <a:xfrm>
            <a:off x="812800" y="3798252"/>
            <a:ext cx="5181600" cy="1280160"/>
          </a:xfrm>
          <a:prstGeom prst="roundRect">
            <a:avLst>
              <a:gd name="adj" fmla="val 9921"/>
            </a:avLst>
          </a:prstGeom>
          <a:solidFill>
            <a:srgbClr val="FBEFD6"/>
          </a:solidFill>
          <a:ln/>
        </p:spPr>
      </p:sp>
      <p:sp>
        <p:nvSpPr>
          <p:cNvPr id="29" name="Text 23"/>
          <p:cNvSpPr/>
          <p:nvPr/>
        </p:nvSpPr>
        <p:spPr>
          <a:xfrm>
            <a:off x="1041400" y="4026852"/>
            <a:ext cx="486613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B"/>
                </a:solidFill>
                <a:latin typeface="IBM Plex Sans" pitchFamily="34" charset="0"/>
                <a:ea typeface="IBM Plex Sans" pitchFamily="34" charset="-122"/>
                <a:cs typeface="IBM Plex Sans" pitchFamily="34" charset="-120"/>
              </a:rPr>
              <a:t>AHA MOMENT</a:t>
            </a:r>
            <a:endParaRPr lang="en-US" sz="1200" dirty="0"/>
          </a:p>
        </p:txBody>
      </p:sp>
      <p:sp>
        <p:nvSpPr>
          <p:cNvPr id="30" name="Text 24"/>
          <p:cNvSpPr/>
          <p:nvPr/>
        </p:nvSpPr>
        <p:spPr>
          <a:xfrm>
            <a:off x="1041400" y="4316413"/>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2E3D"/>
                </a:solidFill>
                <a:latin typeface="IBM Plex Sans" pitchFamily="34" charset="0"/>
                <a:ea typeface="IBM Plex Sans" pitchFamily="34" charset="-122"/>
                <a:cs typeface="IBM Plex Sans" pitchFamily="34" charset="-120"/>
              </a:rPr>
              <a:t>A result misses its target, and the AI rewrites the plan with the reason why.</a:t>
            </a:r>
            <a:endParaRPr lang="en-US" sz="1500" dirty="0"/>
          </a:p>
        </p:txBody>
      </p:sp>
      <p:sp>
        <p:nvSpPr>
          <p:cNvPr id="31" name="Shape 25"/>
          <p:cNvSpPr/>
          <p:nvPr/>
        </p:nvSpPr>
        <p:spPr>
          <a:xfrm>
            <a:off x="6197600" y="3798252"/>
            <a:ext cx="5181600" cy="1280160"/>
          </a:xfrm>
          <a:prstGeom prst="roundRect">
            <a:avLst>
              <a:gd name="adj" fmla="val 9921"/>
            </a:avLst>
          </a:prstGeom>
          <a:solidFill>
            <a:srgbClr val="ECEDF2"/>
          </a:solidFill>
          <a:ln/>
        </p:spPr>
      </p:sp>
      <p:sp>
        <p:nvSpPr>
          <p:cNvPr id="32" name="Text 26"/>
          <p:cNvSpPr/>
          <p:nvPr/>
        </p:nvSpPr>
        <p:spPr>
          <a:xfrm>
            <a:off x="6426200" y="4026852"/>
            <a:ext cx="486613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168"/>
                </a:solidFill>
                <a:latin typeface="IBM Plex Sans" pitchFamily="34" charset="0"/>
                <a:ea typeface="IBM Plex Sans" pitchFamily="34" charset="-122"/>
                <a:cs typeface="IBM Plex Sans" pitchFamily="34" charset="-120"/>
              </a:rPr>
              <a:t>OUT OF SCOPE</a:t>
            </a:r>
            <a:endParaRPr lang="en-US" sz="1200" dirty="0"/>
          </a:p>
        </p:txBody>
      </p:sp>
      <p:sp>
        <p:nvSpPr>
          <p:cNvPr id="33" name="Text 27"/>
          <p:cNvSpPr/>
          <p:nvPr/>
        </p:nvSpPr>
        <p:spPr>
          <a:xfrm>
            <a:off x="6426200" y="4316413"/>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2E3D"/>
                </a:solidFill>
                <a:latin typeface="IBM Plex Sans" pitchFamily="34" charset="0"/>
                <a:ea typeface="IBM Plex Sans" pitchFamily="34" charset="-122"/>
                <a:cs typeface="IBM Plex Sans" pitchFamily="34" charset="-120"/>
              </a:rPr>
              <a:t>Grant writing, Gantt charts, instrument data, statistics, marketplaces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350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HOW THE AI WORKS</a:t>
            </a:r>
            <a:endParaRPr lang="en-US" sz="1300" dirty="0"/>
          </a:p>
        </p:txBody>
      </p:sp>
      <p:sp>
        <p:nvSpPr>
          <p:cNvPr id="3" name="Text 1"/>
          <p:cNvSpPr/>
          <p:nvPr>
            <p:ph type="title"/>
          </p:nvPr>
        </p:nvSpPr>
        <p:spPr>
          <a:xfrm>
            <a:off x="812800" y="104393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Grounded in real data, approved by a human.</a:t>
            </a:r>
            <a:endParaRPr lang="en-US" sz="3600" dirty="0"/>
          </a:p>
        </p:txBody>
      </p:sp>
      <p:sp>
        <p:nvSpPr>
          <p:cNvPr id="4" name="Shape 2"/>
          <p:cNvSpPr/>
          <p:nvPr/>
        </p:nvSpPr>
        <p:spPr>
          <a:xfrm>
            <a:off x="815975" y="1718627"/>
            <a:ext cx="5187950" cy="1090930"/>
          </a:xfrm>
          <a:prstGeom prst="roundRect">
            <a:avLst>
              <a:gd name="adj" fmla="val 11350"/>
            </a:avLst>
          </a:prstGeom>
          <a:solidFill>
            <a:srgbClr val="FFFFFF"/>
          </a:solidFill>
          <a:ln w="6350">
            <a:solidFill>
              <a:srgbClr val="DADCE5"/>
            </a:solidFill>
            <a:prstDash val="solid"/>
          </a:ln>
        </p:spPr>
      </p:sp>
      <p:sp>
        <p:nvSpPr>
          <p:cNvPr id="5" name="Text 3"/>
          <p:cNvSpPr/>
          <p:nvPr/>
        </p:nvSpPr>
        <p:spPr>
          <a:xfrm>
            <a:off x="1021080" y="188563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348D4"/>
                </a:solidFill>
                <a:latin typeface="IBM Plex Sans" pitchFamily="34" charset="0"/>
                <a:ea typeface="IBM Plex Sans" pitchFamily="34" charset="-122"/>
                <a:cs typeface="IBM Plex Sans" pitchFamily="34" charset="-120"/>
              </a:rPr>
              <a:t>1</a:t>
            </a:r>
            <a:r>
              <a:rPr lang="en-US" sz="1600" b="1" dirty="0">
                <a:solidFill>
                  <a:srgbClr val="141A2B"/>
                </a:solidFill>
                <a:latin typeface="IBM Plex Sans" pitchFamily="34" charset="0"/>
                <a:ea typeface="IBM Plex Sans" pitchFamily="34" charset="-122"/>
                <a:cs typeface="IBM Plex Sans" pitchFamily="34" charset="-120"/>
              </a:rPr>
              <a:t> Search</a:t>
            </a:r>
            <a:endParaRPr lang="en-US" sz="1600" dirty="0"/>
          </a:p>
        </p:txBody>
      </p:sp>
      <p:sp>
        <p:nvSpPr>
          <p:cNvPr id="6" name="Text 4"/>
          <p:cNvSpPr/>
          <p:nvPr/>
        </p:nvSpPr>
        <p:spPr>
          <a:xfrm>
            <a:off x="1021080" y="2180273"/>
            <a:ext cx="49210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Semantic Scholar returns the 8 most relevant papers; OpenAlex steps in if it’s busy.</a:t>
            </a:r>
            <a:endParaRPr lang="en-US" sz="1300" dirty="0"/>
          </a:p>
        </p:txBody>
      </p:sp>
      <p:sp>
        <p:nvSpPr>
          <p:cNvPr id="7" name="Shape 5"/>
          <p:cNvSpPr/>
          <p:nvPr/>
        </p:nvSpPr>
        <p:spPr>
          <a:xfrm>
            <a:off x="6188075" y="1718627"/>
            <a:ext cx="5187950" cy="1090930"/>
          </a:xfrm>
          <a:prstGeom prst="roundRect">
            <a:avLst>
              <a:gd name="adj" fmla="val 11350"/>
            </a:avLst>
          </a:prstGeom>
          <a:solidFill>
            <a:srgbClr val="FFFFFF"/>
          </a:solidFill>
          <a:ln w="6350">
            <a:solidFill>
              <a:srgbClr val="DADCE5"/>
            </a:solidFill>
            <a:prstDash val="solid"/>
          </a:ln>
        </p:spPr>
      </p:sp>
      <p:sp>
        <p:nvSpPr>
          <p:cNvPr id="8" name="Text 6"/>
          <p:cNvSpPr/>
          <p:nvPr/>
        </p:nvSpPr>
        <p:spPr>
          <a:xfrm>
            <a:off x="6393180" y="188563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348D4"/>
                </a:solidFill>
                <a:latin typeface="IBM Plex Sans" pitchFamily="34" charset="0"/>
                <a:ea typeface="IBM Plex Sans" pitchFamily="34" charset="-122"/>
                <a:cs typeface="IBM Plex Sans" pitchFamily="34" charset="-120"/>
              </a:rPr>
              <a:t>2</a:t>
            </a:r>
            <a:r>
              <a:rPr lang="en-US" sz="1600" b="1" dirty="0">
                <a:solidFill>
                  <a:srgbClr val="141A2B"/>
                </a:solidFill>
                <a:latin typeface="IBM Plex Sans" pitchFamily="34" charset="0"/>
                <a:ea typeface="IBM Plex Sans" pitchFamily="34" charset="-122"/>
                <a:cs typeface="IBM Plex Sans" pitchFamily="34" charset="-120"/>
              </a:rPr>
              <a:t> Assess</a:t>
            </a:r>
            <a:endParaRPr lang="en-US" sz="1600" dirty="0"/>
          </a:p>
        </p:txBody>
      </p:sp>
      <p:sp>
        <p:nvSpPr>
          <p:cNvPr id="9" name="Text 7"/>
          <p:cNvSpPr/>
          <p:nvPr/>
        </p:nvSpPr>
        <p:spPr>
          <a:xfrm>
            <a:off x="6393180" y="2180273"/>
            <a:ext cx="49210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The model scores the idea using only those papers, and lists the assumptions behind its score.</a:t>
            </a:r>
            <a:endParaRPr lang="en-US" sz="1300" dirty="0"/>
          </a:p>
        </p:txBody>
      </p:sp>
      <p:sp>
        <p:nvSpPr>
          <p:cNvPr id="10" name="Shape 8"/>
          <p:cNvSpPr/>
          <p:nvPr/>
        </p:nvSpPr>
        <p:spPr>
          <a:xfrm>
            <a:off x="815975" y="2993709"/>
            <a:ext cx="5187950" cy="1090930"/>
          </a:xfrm>
          <a:prstGeom prst="roundRect">
            <a:avLst>
              <a:gd name="adj" fmla="val 11350"/>
            </a:avLst>
          </a:prstGeom>
          <a:solidFill>
            <a:srgbClr val="FFFFFF"/>
          </a:solidFill>
          <a:ln w="6350">
            <a:solidFill>
              <a:srgbClr val="DADCE5"/>
            </a:solidFill>
            <a:prstDash val="solid"/>
          </a:ln>
        </p:spPr>
      </p:sp>
      <p:sp>
        <p:nvSpPr>
          <p:cNvPr id="11" name="Text 9"/>
          <p:cNvSpPr/>
          <p:nvPr/>
        </p:nvSpPr>
        <p:spPr>
          <a:xfrm>
            <a:off x="1021080" y="3160713"/>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348D4"/>
                </a:solidFill>
                <a:latin typeface="IBM Plex Sans" pitchFamily="34" charset="0"/>
                <a:ea typeface="IBM Plex Sans" pitchFamily="34" charset="-122"/>
                <a:cs typeface="IBM Plex Sans" pitchFamily="34" charset="-120"/>
              </a:rPr>
              <a:t>3</a:t>
            </a:r>
            <a:r>
              <a:rPr lang="en-US" sz="1600" b="1" dirty="0">
                <a:solidFill>
                  <a:srgbClr val="141A2B"/>
                </a:solidFill>
                <a:latin typeface="IBM Plex Sans" pitchFamily="34" charset="0"/>
                <a:ea typeface="IBM Plex Sans" pitchFamily="34" charset="-122"/>
                <a:cs typeface="IBM Plex Sans" pitchFamily="34" charset="-120"/>
              </a:rPr>
              <a:t> Track</a:t>
            </a:r>
            <a:endParaRPr lang="en-US" sz="1600" dirty="0"/>
          </a:p>
        </p:txBody>
      </p:sp>
      <p:sp>
        <p:nvSpPr>
          <p:cNvPr id="12" name="Text 10"/>
          <p:cNvSpPr/>
          <p:nvPr/>
        </p:nvSpPr>
        <p:spPr>
          <a:xfrm>
            <a:off x="1021080" y="3455352"/>
            <a:ext cx="49210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Every task has a measurable success criterion; each result is logged against it.</a:t>
            </a:r>
            <a:endParaRPr lang="en-US" sz="1300" dirty="0"/>
          </a:p>
        </p:txBody>
      </p:sp>
      <p:sp>
        <p:nvSpPr>
          <p:cNvPr id="13" name="Shape 11"/>
          <p:cNvSpPr/>
          <p:nvPr/>
        </p:nvSpPr>
        <p:spPr>
          <a:xfrm>
            <a:off x="6188075" y="2993709"/>
            <a:ext cx="5187950" cy="1090930"/>
          </a:xfrm>
          <a:prstGeom prst="roundRect">
            <a:avLst>
              <a:gd name="adj" fmla="val 11350"/>
            </a:avLst>
          </a:prstGeom>
          <a:solidFill>
            <a:srgbClr val="FFFFFF"/>
          </a:solidFill>
          <a:ln w="6350">
            <a:solidFill>
              <a:srgbClr val="DADCE5"/>
            </a:solidFill>
            <a:prstDash val="solid"/>
          </a:ln>
        </p:spPr>
      </p:sp>
      <p:sp>
        <p:nvSpPr>
          <p:cNvPr id="14" name="Text 12"/>
          <p:cNvSpPr/>
          <p:nvPr/>
        </p:nvSpPr>
        <p:spPr>
          <a:xfrm>
            <a:off x="6393180" y="3160713"/>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348D4"/>
                </a:solidFill>
                <a:latin typeface="IBM Plex Sans" pitchFamily="34" charset="0"/>
                <a:ea typeface="IBM Plex Sans" pitchFamily="34" charset="-122"/>
                <a:cs typeface="IBM Plex Sans" pitchFamily="34" charset="-120"/>
              </a:rPr>
              <a:t>4</a:t>
            </a:r>
            <a:r>
              <a:rPr lang="en-US" sz="1600" b="1" dirty="0">
                <a:solidFill>
                  <a:srgbClr val="141A2B"/>
                </a:solidFill>
                <a:latin typeface="IBM Plex Sans" pitchFamily="34" charset="0"/>
                <a:ea typeface="IBM Plex Sans" pitchFamily="34" charset="-122"/>
                <a:cs typeface="IBM Plex Sans" pitchFamily="34" charset="-120"/>
              </a:rPr>
              <a:t> Review</a:t>
            </a:r>
            <a:endParaRPr lang="en-US" sz="1600" dirty="0"/>
          </a:p>
        </p:txBody>
      </p:sp>
      <p:sp>
        <p:nvSpPr>
          <p:cNvPr id="15" name="Text 13"/>
          <p:cNvSpPr/>
          <p:nvPr/>
        </p:nvSpPr>
        <p:spPr>
          <a:xfrm>
            <a:off x="6393180" y="3455352"/>
            <a:ext cx="49210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The AI reads results and lab notes, proposes edits, and a Lead approves them.</a:t>
            </a:r>
            <a:endParaRPr lang="en-US" sz="1300" dirty="0"/>
          </a:p>
        </p:txBody>
      </p:sp>
      <p:sp>
        <p:nvSpPr>
          <p:cNvPr id="16" name="Text 14"/>
          <p:cNvSpPr/>
          <p:nvPr/>
        </p:nvSpPr>
        <p:spPr>
          <a:xfrm>
            <a:off x="812800" y="4265613"/>
            <a:ext cx="10566400" cy="802640"/>
          </a:xfrm>
          <a:prstGeom prst="roundRect">
            <a:avLst>
              <a:gd name="adj" fmla="val 12658"/>
            </a:avLst>
          </a:prstGeom>
          <a:solidFill>
            <a:srgbClr val="E3E7FB"/>
          </a:solidFill>
          <a:ln/>
        </p:spPr>
        <p:txBody>
          <a:bodyPr wrap="square" lIns="173442" tIns="122642" rIns="0" bIns="97242" rtlCol="0" anchor="t">
            <a:normAutofit/>
          </a:bodyPr>
          <a:lstStyle/>
          <a:p>
            <a:pPr algn="l" indent="0" marL="0">
              <a:lnSpc>
                <a:spcPts val="1960"/>
              </a:lnSpc>
              <a:buNone/>
            </a:pPr>
            <a:r>
              <a:rPr lang="en-US" sz="1400" dirty="0">
                <a:solidFill>
                  <a:srgbClr val="2A2E3D"/>
                </a:solidFill>
                <a:latin typeface="IBM Plex Sans" pitchFamily="34" charset="0"/>
                <a:ea typeface="IBM Plex Sans" pitchFamily="34" charset="-122"/>
                <a:cs typeface="IBM Plex Sans" pitchFamily="34" charset="-120"/>
              </a:rPr>
              <a:t>Idea scores below 50? Related directions are suggested automatically, built on the team’s ORCID publications and ranked with OpenAlex paper trends, NIH funding and web market signals, each with its source.</a:t>
            </a:r>
            <a:endParaRPr lang="en-US" sz="1400" dirty="0"/>
          </a:p>
        </p:txBody>
      </p:sp>
      <p:sp>
        <p:nvSpPr>
          <p:cNvPr id="17" name="Text 15"/>
          <p:cNvSpPr/>
          <p:nvPr/>
        </p:nvSpPr>
        <p:spPr>
          <a:xfrm>
            <a:off x="812800" y="5246052"/>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68"/>
                </a:solidFill>
                <a:latin typeface="IBM Plex Sans" pitchFamily="34" charset="0"/>
                <a:ea typeface="IBM Plex Sans" pitchFamily="34" charset="-122"/>
                <a:cs typeface="IBM Plex Sans" pitchFamily="34" charset="-120"/>
              </a:rPr>
              <a:t>Every AI step runs as a background job, so a slow model never loses your work. API keys stay on the server; </a:t>
            </a:r>
            <a:r>
              <a:rPr lang="en-US" sz="1200" i="1" dirty="0">
                <a:solidFill>
                  <a:srgbClr val="4A5168"/>
                </a:solidFill>
                <a:latin typeface="IBM Plex Sans" pitchFamily="34" charset="0"/>
                <a:ea typeface="IBM Plex Sans" pitchFamily="34" charset="-122"/>
                <a:cs typeface="IBM Plex Sans" pitchFamily="34" charset="-120"/>
              </a:rPr>
              <a:t>planned:</a:t>
            </a:r>
            <a:r>
              <a:rPr lang="en-US" sz="1200" dirty="0">
                <a:solidFill>
                  <a:srgbClr val="4A5168"/>
                </a:solidFill>
                <a:latin typeface="IBM Plex Sans" pitchFamily="34" charset="0"/>
                <a:ea typeface="IBM Plex Sans" pitchFamily="34" charset="-122"/>
                <a:cs typeface="IBM Plex Sans" pitchFamily="34" charset="-120"/>
              </a:rPr>
              <a:t> a paid AI tier whose providers don’t train on your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A2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A2B"/>
              </a:gs>
              <a:gs pos="100000">
                <a:srgbClr val="1C2540"/>
              </a:gs>
            </a:gsLst>
            <a:lin ang="27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8FA2FF"/>
                </a:solidFill>
                <a:latin typeface="IBM Plex Sans" pitchFamily="34" charset="0"/>
                <a:ea typeface="IBM Plex Sans" pitchFamily="34" charset="-122"/>
                <a:cs typeface="IBM Plex Sans" pitchFamily="34" charset="-120"/>
              </a:rPr>
              <a:t>LIVE DEMO · 4 MINUTES</a:t>
            </a:r>
            <a:endParaRPr lang="en-US" sz="1300" dirty="0"/>
          </a:p>
        </p:txBody>
      </p:sp>
      <p:sp>
        <p:nvSpPr>
          <p:cNvPr id="4" name="Text 2"/>
          <p:cNvSpPr/>
          <p:nvPr>
            <p:ph type="title"/>
          </p:nvPr>
        </p:nvSpPr>
        <p:spPr>
          <a:xfrm>
            <a:off x="812800" y="132333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F5F4EF"/>
                </a:solidFill>
                <a:latin typeface="Bricolage Grotesque" pitchFamily="34" charset="0"/>
                <a:ea typeface="Bricolage Grotesque" pitchFamily="34" charset="-122"/>
                <a:cs typeface="Bricolage Grotesque" pitchFamily="34" charset="-120"/>
              </a:rPr>
              <a:t>One idea, two people, four minutes.</a:t>
            </a:r>
            <a:endParaRPr lang="en-US" sz="3600" dirty="0"/>
          </a:p>
        </p:txBody>
      </p:sp>
      <p:sp>
        <p:nvSpPr>
          <p:cNvPr id="5" name="Text 3"/>
          <p:cNvSpPr/>
          <p:nvPr/>
        </p:nvSpPr>
        <p:spPr>
          <a:xfrm>
            <a:off x="841613" y="2096452"/>
            <a:ext cx="10846959" cy="1549400"/>
          </a:xfrm>
          <a:prstGeom prst="rect">
            <a:avLst/>
          </a:prstGeom>
          <a:noFill/>
          <a:ln/>
        </p:spPr>
        <p:txBody>
          <a:bodyPr wrap="square" lIns="0" tIns="0" rIns="0" bIns="0" rtlCol="0" anchor="t">
            <a:normAutofit/>
          </a:bodyPr>
          <a:lstStyle/>
          <a:p>
            <a:pPr algn="l" marL="225187" indent="-225187">
              <a:lnSpc>
                <a:spcPts val="2400"/>
              </a:lnSpc>
              <a:buSzPct val="100000"/>
              <a:buFontTx/>
              <a:buAutoNum type="arabicPeriod" startAt="1"/>
            </a:pPr>
            <a:r>
              <a:rPr lang="en-US" sz="1600" dirty="0">
                <a:solidFill>
                  <a:srgbClr val="E3E6EF"/>
                </a:solidFill>
                <a:latin typeface="IBM Plex Sans" pitchFamily="34" charset="0"/>
                <a:ea typeface="IBM Plex Sans" pitchFamily="34" charset="-122"/>
                <a:cs typeface="IBM Plex Sans" pitchFamily="34" charset="-120"/>
              </a:rPr>
              <a:t>The Lead checks an idea: it scores below 50, with real papers</a:t>
            </a:r>
            <a:endParaRPr lang="en-US" sz="1600" dirty="0"/>
          </a:p>
          <a:p>
            <a:pPr algn="l" marL="225187" indent="-225187">
              <a:lnSpc>
                <a:spcPts val="2400"/>
              </a:lnSpc>
              <a:buSzPct val="100000"/>
              <a:buFontTx/>
              <a:buAutoNum type="arabicPeriod" startAt="1"/>
            </a:pPr>
            <a:r>
              <a:rPr lang="en-US" sz="1600" dirty="0">
                <a:solidFill>
                  <a:srgbClr val="E3E6EF"/>
                </a:solidFill>
                <a:latin typeface="IBM Plex Sans" pitchFamily="34" charset="0"/>
                <a:ea typeface="IBM Plex Sans" pitchFamily="34" charset="-122"/>
                <a:cs typeface="IBM Plex Sans" pitchFamily="34" charset="-120"/>
              </a:rPr>
              <a:t>Related directions appear; the Lead starts one and generates its plan</a:t>
            </a:r>
            <a:endParaRPr lang="en-US" sz="1600" dirty="0"/>
          </a:p>
          <a:p>
            <a:pPr algn="l" marL="225187" indent="-225187">
              <a:lnSpc>
                <a:spcPts val="2400"/>
              </a:lnSpc>
              <a:buSzPct val="100000"/>
              <a:buFontTx/>
              <a:buAutoNum type="arabicPeriod" startAt="1"/>
            </a:pPr>
            <a:r>
              <a:rPr lang="en-US" sz="1600" dirty="0">
                <a:solidFill>
                  <a:srgbClr val="E3E6EF"/>
                </a:solidFill>
                <a:latin typeface="IBM Plex Sans" pitchFamily="34" charset="0"/>
                <a:ea typeface="IBM Plex Sans" pitchFamily="34" charset="-122"/>
                <a:cs typeface="IBM Plex Sans" pitchFamily="34" charset="-120"/>
              </a:rPr>
              <a:t>The Lead assigns a task, and the Researcher’s bell lights up</a:t>
            </a:r>
            <a:endParaRPr lang="en-US" sz="1600" dirty="0"/>
          </a:p>
          <a:p>
            <a:pPr algn="l" marL="225187" indent="-225187">
              <a:lnSpc>
                <a:spcPts val="2400"/>
              </a:lnSpc>
              <a:buSzPct val="100000"/>
              <a:buFontTx/>
              <a:buAutoNum type="arabicPeriod" startAt="1"/>
            </a:pPr>
            <a:r>
              <a:rPr lang="en-US" sz="1600" dirty="0">
                <a:solidFill>
                  <a:srgbClr val="E3E6EF"/>
                </a:solidFill>
                <a:latin typeface="IBM Plex Sans" pitchFamily="34" charset="0"/>
                <a:ea typeface="IBM Plex Sans" pitchFamily="34" charset="-122"/>
                <a:cs typeface="IBM Plex Sans" pitchFamily="34" charset="-120"/>
              </a:rPr>
              <a:t>The Researcher moves the card and logs a missed result; both boards update live</a:t>
            </a:r>
            <a:endParaRPr lang="en-US" sz="1600" dirty="0"/>
          </a:p>
          <a:p>
            <a:pPr algn="l" marL="225187" indent="-225187">
              <a:lnSpc>
                <a:spcPts val="2400"/>
              </a:lnSpc>
              <a:buSzPct val="100000"/>
              <a:buFontTx/>
              <a:buAutoNum type="arabicPeriod" startAt="1"/>
            </a:pPr>
            <a:r>
              <a:rPr lang="en-US" sz="1600" dirty="0">
                <a:solidFill>
                  <a:srgbClr val="E3E6EF"/>
                </a:solidFill>
                <a:latin typeface="IBM Plex Sans" pitchFamily="34" charset="0"/>
                <a:ea typeface="IBM Plex Sans" pitchFamily="34" charset="-122"/>
                <a:cs typeface="IBM Plex Sans" pitchFamily="34" charset="-120"/>
              </a:rPr>
              <a:t>The Researcher @mentions the Lead; Next steps proposes changes; the Lead approves</a:t>
            </a:r>
            <a:endParaRPr lang="en-US" sz="1600" dirty="0"/>
          </a:p>
        </p:txBody>
      </p:sp>
      <p:sp>
        <p:nvSpPr>
          <p:cNvPr id="6" name="Text 4"/>
          <p:cNvSpPr/>
          <p:nvPr/>
        </p:nvSpPr>
        <p:spPr>
          <a:xfrm>
            <a:off x="812800" y="3899852"/>
            <a:ext cx="10566400" cy="502920"/>
          </a:xfrm>
          <a:prstGeom prst="roundRect">
            <a:avLst>
              <a:gd name="adj" fmla="val 20202"/>
            </a:avLst>
          </a:prstGeom>
          <a:solidFill>
            <a:srgbClr val="E8A93A"/>
          </a:solidFill>
          <a:ln/>
        </p:spPr>
        <p:txBody>
          <a:bodyPr wrap="square" lIns="173442" tIns="97242" rIns="0" bIns="71842" rtlCol="0" anchor="t">
            <a:normAutofit/>
          </a:bodyPr>
          <a:lstStyle/>
          <a:p>
            <a:pPr algn="l" indent="0" marL="0">
              <a:lnSpc>
                <a:spcPts val="1960"/>
              </a:lnSpc>
              <a:buNone/>
            </a:pPr>
            <a:r>
              <a:rPr lang="en-US" sz="1400" dirty="0">
                <a:solidFill>
                  <a:srgbClr val="141A2B"/>
                </a:solidFill>
                <a:latin typeface="IBM Plex Sans" pitchFamily="34" charset="0"/>
                <a:ea typeface="IBM Plex Sans" pitchFamily="34" charset="-122"/>
                <a:cs typeface="IBM Plex Sans" pitchFamily="34" charset="-120"/>
              </a:rPr>
              <a:t>Try it yourself: </a:t>
            </a:r>
            <a:r>
              <a:rPr lang="en-US" sz="1400" b="1" dirty="0">
                <a:solidFill>
                  <a:srgbClr val="141A2B"/>
                </a:solidFill>
                <a:latin typeface="IBM Plex Sans" pitchFamily="34" charset="0"/>
                <a:ea typeface="IBM Plex Sans" pitchFamily="34" charset="-122"/>
                <a:cs typeface="IBM Plex Sans" pitchFamily="34" charset="-120"/>
              </a:rPr>
              <a:t>research-os-beige-five.vercel.app</a:t>
            </a:r>
            <a:r>
              <a:rPr lang="en-US" sz="1400" dirty="0">
                <a:solidFill>
                  <a:srgbClr val="141A2B"/>
                </a:solidFill>
                <a:latin typeface="IBM Plex Sans" pitchFamily="34" charset="0"/>
                <a:ea typeface="IBM Plex Sans" pitchFamily="34" charset="-122"/>
                <a:cs typeface="IBM Plex Sans" pitchFamily="34" charset="-120"/>
              </a:rPr>
              <a:t> · demo login </a:t>
            </a:r>
            <a:r>
              <a:rPr lang="en-US" sz="1400" b="1" dirty="0">
                <a:solidFill>
                  <a:srgbClr val="141A2B"/>
                </a:solidFill>
                <a:latin typeface="IBM Plex Sans" pitchFamily="34" charset="0"/>
                <a:ea typeface="IBM Plex Sans" pitchFamily="34" charset="-122"/>
                <a:cs typeface="IBM Plex Sans" pitchFamily="34" charset="-120"/>
              </a:rPr>
              <a:t>user1@demo.com</a:t>
            </a:r>
            <a:r>
              <a:rPr lang="en-US" sz="1400" dirty="0">
                <a:solidFill>
                  <a:srgbClr val="141A2B"/>
                </a:solidFill>
                <a:latin typeface="IBM Plex Sans" pitchFamily="34" charset="0"/>
                <a:ea typeface="IBM Plex Sans" pitchFamily="34" charset="-122"/>
                <a:cs typeface="IBM Plex Sans" pitchFamily="34" charset="-120"/>
              </a:rPr>
              <a:t> / </a:t>
            </a:r>
            <a:r>
              <a:rPr lang="en-US" sz="1400" b="1" dirty="0">
                <a:solidFill>
                  <a:srgbClr val="141A2B"/>
                </a:solidFill>
                <a:latin typeface="IBM Plex Sans" pitchFamily="34" charset="0"/>
                <a:ea typeface="IBM Plex Sans" pitchFamily="34" charset="-122"/>
                <a:cs typeface="IBM Plex Sans" pitchFamily="34" charset="-120"/>
              </a:rPr>
              <a:t>demotest1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JIRA AND CONFLUENCE FOR RESEARCH</a:t>
            </a:r>
            <a:endParaRPr lang="en-US" sz="1300" dirty="0"/>
          </a:p>
        </p:txBody>
      </p:sp>
      <p:sp>
        <p:nvSpPr>
          <p:cNvPr id="3" name="Text 1"/>
          <p:cNvSpPr/>
          <p:nvPr>
            <p:ph type="title"/>
          </p:nvPr>
        </p:nvSpPr>
        <p:spPr>
          <a:xfrm>
            <a:off x="812800" y="1323339"/>
            <a:ext cx="10464800" cy="1012825"/>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Built for the whole research team, not one person’s chat.</a:t>
            </a:r>
            <a:endParaRPr lang="en-US" sz="3600" dirty="0"/>
          </a:p>
        </p:txBody>
      </p:sp>
      <p:sp>
        <p:nvSpPr>
          <p:cNvPr id="4" name="Shape 2"/>
          <p:cNvSpPr/>
          <p:nvPr/>
        </p:nvSpPr>
        <p:spPr>
          <a:xfrm>
            <a:off x="815975" y="2593339"/>
            <a:ext cx="3397250" cy="2178050"/>
          </a:xfrm>
          <a:prstGeom prst="roundRect">
            <a:avLst>
              <a:gd name="adj" fmla="val 5685"/>
            </a:avLst>
          </a:prstGeom>
          <a:solidFill>
            <a:srgbClr val="FFFFFF"/>
          </a:solidFill>
          <a:ln w="6350">
            <a:solidFill>
              <a:srgbClr val="DADCE5"/>
            </a:solidFill>
            <a:prstDash val="solid"/>
          </a:ln>
        </p:spPr>
      </p:sp>
      <p:pic>
        <p:nvPicPr>
          <p:cNvPr id="5" name="Image 0" descr="Users">    </p:cNvPr>
          <p:cNvPicPr>
            <a:picLocks noChangeAspect="1"/>
          </p:cNvPicPr>
          <p:nvPr/>
        </p:nvPicPr>
        <p:blipFill>
          <a:blip r:embed="rId1"/>
          <a:srcRect l="0" r="0" t="0" b="0"/>
          <a:stretch/>
        </p:blipFill>
        <p:spPr>
          <a:xfrm>
            <a:off x="1046480" y="2823846"/>
            <a:ext cx="355600" cy="355600"/>
          </a:xfrm>
          <a:prstGeom prst="rect">
            <a:avLst/>
          </a:prstGeom>
        </p:spPr>
      </p:pic>
      <p:sp>
        <p:nvSpPr>
          <p:cNvPr id="6" name="Text 3"/>
          <p:cNvSpPr/>
          <p:nvPr/>
        </p:nvSpPr>
        <p:spPr>
          <a:xfrm>
            <a:off x="1046480" y="3268346"/>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B"/>
                </a:solidFill>
                <a:latin typeface="IBM Plex Sans" pitchFamily="34" charset="0"/>
                <a:ea typeface="IBM Plex Sans" pitchFamily="34" charset="-122"/>
                <a:cs typeface="IBM Plex Sans" pitchFamily="34" charset="-120"/>
              </a:rPr>
              <a:t>Work together live</a:t>
            </a:r>
            <a:endParaRPr lang="en-US" sz="1700" dirty="0"/>
          </a:p>
        </p:txBody>
      </p:sp>
      <p:sp>
        <p:nvSpPr>
          <p:cNvPr id="7" name="Text 4"/>
          <p:cNvSpPr/>
          <p:nvPr/>
        </p:nvSpPr>
        <p:spPr>
          <a:xfrm>
            <a:off x="1046480" y="3616325"/>
            <a:ext cx="30243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Changes appear on everyone’s screen without refreshing. Owners, due dates, comments with @mentions, an activity feed. The Lead approves AI changes.</a:t>
            </a:r>
            <a:endParaRPr lang="en-US" sz="1300" dirty="0"/>
          </a:p>
        </p:txBody>
      </p:sp>
      <p:sp>
        <p:nvSpPr>
          <p:cNvPr id="8" name="Shape 5"/>
          <p:cNvSpPr/>
          <p:nvPr/>
        </p:nvSpPr>
        <p:spPr>
          <a:xfrm>
            <a:off x="4397375" y="2593339"/>
            <a:ext cx="3397250" cy="2178050"/>
          </a:xfrm>
          <a:prstGeom prst="roundRect">
            <a:avLst>
              <a:gd name="adj" fmla="val 5685"/>
            </a:avLst>
          </a:prstGeom>
          <a:solidFill>
            <a:srgbClr val="FFFFFF"/>
          </a:solidFill>
          <a:ln w="6350">
            <a:solidFill>
              <a:srgbClr val="DADCE5"/>
            </a:solidFill>
            <a:prstDash val="solid"/>
          </a:ln>
        </p:spPr>
      </p:sp>
      <p:pic>
        <p:nvPicPr>
          <p:cNvPr id="9" name="Image 1" descr="Book">    </p:cNvPr>
          <p:cNvPicPr>
            <a:picLocks noChangeAspect="1"/>
          </p:cNvPicPr>
          <p:nvPr/>
        </p:nvPicPr>
        <p:blipFill>
          <a:blip r:embed="rId2"/>
          <a:srcRect l="0" r="0" t="0" b="0"/>
          <a:stretch/>
        </p:blipFill>
        <p:spPr>
          <a:xfrm>
            <a:off x="4627880" y="2823846"/>
            <a:ext cx="355600" cy="355600"/>
          </a:xfrm>
          <a:prstGeom prst="rect">
            <a:avLst/>
          </a:prstGeom>
        </p:spPr>
      </p:pic>
      <p:sp>
        <p:nvSpPr>
          <p:cNvPr id="10" name="Text 6"/>
          <p:cNvSpPr/>
          <p:nvPr/>
        </p:nvSpPr>
        <p:spPr>
          <a:xfrm>
            <a:off x="4627880" y="3268346"/>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B"/>
                </a:solidFill>
                <a:latin typeface="IBM Plex Sans" pitchFamily="34" charset="0"/>
                <a:ea typeface="IBM Plex Sans" pitchFamily="34" charset="-122"/>
                <a:cs typeface="IBM Plex Sans" pitchFamily="34" charset="-120"/>
              </a:rPr>
              <a:t>A shared lab notebook</a:t>
            </a:r>
            <a:endParaRPr lang="en-US" sz="1700" dirty="0"/>
          </a:p>
        </p:txBody>
      </p:sp>
      <p:sp>
        <p:nvSpPr>
          <p:cNvPr id="11" name="Text 7"/>
          <p:cNvSpPr/>
          <p:nvPr/>
        </p:nvSpPr>
        <p:spPr>
          <a:xfrm>
            <a:off x="4627880" y="3616325"/>
            <a:ext cx="30243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Protocols, observations, decisions and reading notes, linked to tasks and searchable. The AI reads them when it suggests next steps.</a:t>
            </a:r>
            <a:endParaRPr lang="en-US" sz="1300" dirty="0"/>
          </a:p>
        </p:txBody>
      </p:sp>
      <p:sp>
        <p:nvSpPr>
          <p:cNvPr id="12" name="Shape 8"/>
          <p:cNvSpPr/>
          <p:nvPr/>
        </p:nvSpPr>
        <p:spPr>
          <a:xfrm>
            <a:off x="7978775" y="2593339"/>
            <a:ext cx="3397250" cy="2178050"/>
          </a:xfrm>
          <a:prstGeom prst="roundRect">
            <a:avLst>
              <a:gd name="adj" fmla="val 5685"/>
            </a:avLst>
          </a:prstGeom>
          <a:solidFill>
            <a:srgbClr val="FFFFFF"/>
          </a:solidFill>
          <a:ln w="6350">
            <a:solidFill>
              <a:srgbClr val="DADCE5"/>
            </a:solidFill>
            <a:prstDash val="solid"/>
          </a:ln>
        </p:spPr>
      </p:sp>
      <p:sp>
        <p:nvSpPr>
          <p:cNvPr id="13" name="Text 9"/>
          <p:cNvSpPr/>
          <p:nvPr/>
        </p:nvSpPr>
        <p:spPr>
          <a:xfrm>
            <a:off x="8209280" y="2823846"/>
            <a:ext cx="302432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48D4"/>
                </a:solidFill>
                <a:latin typeface="Arial" pitchFamily="34" charset="0"/>
                <a:ea typeface="Arial" pitchFamily="34" charset="-122"/>
                <a:cs typeface="Arial" pitchFamily="34" charset="-120"/>
              </a:rPr>
              <a:t>[icon: Bell]</a:t>
            </a:r>
            <a:endParaRPr lang="en-US" sz="1600" dirty="0"/>
          </a:p>
        </p:txBody>
      </p:sp>
      <p:sp>
        <p:nvSpPr>
          <p:cNvPr id="14" name="Text 10"/>
          <p:cNvSpPr/>
          <p:nvPr/>
        </p:nvSpPr>
        <p:spPr>
          <a:xfrm>
            <a:off x="8209280" y="3197225"/>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B"/>
                </a:solidFill>
                <a:latin typeface="IBM Plex Sans" pitchFamily="34" charset="0"/>
                <a:ea typeface="IBM Plex Sans" pitchFamily="34" charset="-122"/>
                <a:cs typeface="IBM Plex Sans" pitchFamily="34" charset="-120"/>
              </a:rPr>
              <a:t>Nothing slips</a:t>
            </a:r>
            <a:endParaRPr lang="en-US" sz="1700" dirty="0"/>
          </a:p>
        </p:txBody>
      </p:sp>
      <p:sp>
        <p:nvSpPr>
          <p:cNvPr id="15" name="Text 11"/>
          <p:cNvSpPr/>
          <p:nvPr/>
        </p:nvSpPr>
        <p:spPr>
          <a:xfrm>
            <a:off x="8209280" y="3545207"/>
            <a:ext cx="30243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Task owners are notified when their task is assigned, moved, commented on, or gets a result or note. Roles are enforced by the database.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PERSONA TESTING</a:t>
            </a:r>
            <a:endParaRPr lang="en-US" sz="1300" dirty="0"/>
          </a:p>
        </p:txBody>
      </p:sp>
      <p:sp>
        <p:nvSpPr>
          <p:cNvPr id="3" name="Text 1"/>
          <p:cNvSpPr/>
          <p:nvPr>
            <p:ph type="title"/>
          </p:nvPr>
        </p:nvSpPr>
        <p:spPr>
          <a:xfrm>
            <a:off x="812800" y="1170942"/>
            <a:ext cx="10883392" cy="491728"/>
          </a:xfrm>
          <a:prstGeom prst="rect">
            <a:avLst/>
          </a:prstGeom>
          <a:noFill/>
          <a:ln/>
        </p:spPr>
        <p:txBody>
          <a:bodyPr wrap="square" lIns="0" tIns="0" rIns="0" bIns="0" rtlCol="0" anchor="t">
            <a:normAutofit/>
          </a:bodyPr>
          <a:lstStyle/>
          <a:p>
            <a:pPr algn="l" indent="0" marL="0">
              <a:lnSpc>
                <a:spcPts val="3672"/>
              </a:lnSpc>
              <a:buNone/>
            </a:pPr>
            <a:r>
              <a:rPr lang="en-US" sz="3400" b="1" i="0" spc="-75" kern="0" dirty="0">
                <a:solidFill>
                  <a:srgbClr val="141A2B"/>
                </a:solidFill>
                <a:latin typeface="Bricolage Grotesque" pitchFamily="34" charset="0"/>
                <a:ea typeface="Bricolage Grotesque" pitchFamily="34" charset="-122"/>
                <a:cs typeface="Bricolage Grotesque" pitchFamily="34" charset="-120"/>
              </a:rPr>
              <a:t>Three researcher personas, three changes.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6031"/>
          <a:ext cx="10556240" cy="2575243"/>
        </p:xfrm>
        <a:graphic>
          <a:graphicData uri="http://schemas.openxmlformats.org/drawingml/2006/table">
            <a:tbl>
              <a:tblPr/>
              <a:tblGrid>
                <a:gridCol w="2533498"/>
                <a:gridCol w="4011371"/>
                <a:gridCol w="4011371"/>
              </a:tblGrid>
              <a:tr h="470218">
                <a:tc>
                  <a:txBody>
                    <a:bodyPr/>
                    <a:lstStyle/>
                    <a:p>
                      <a:pPr indent="0" marL="0">
                        <a:lnSpc>
                          <a:spcPts val="1890"/>
                        </a:lnSpc>
                        <a:buNone/>
                      </a:pPr>
                      <a:r>
                        <a:rPr lang="en-US" sz="1350" b="1" dirty="0">
                          <a:solidFill>
                            <a:srgbClr val="4A5168"/>
                          </a:solidFill>
                          <a:latin typeface="IBM Plex Sans" pitchFamily="34" charset="0"/>
                          <a:ea typeface="IBM Plex Sans" pitchFamily="34" charset="-122"/>
                          <a:cs typeface="IBM Plex Sans" pitchFamily="34" charset="-120"/>
                        </a:rPr>
                        <a:t>Persona</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890"/>
                        </a:lnSpc>
                        <a:buNone/>
                      </a:pPr>
                      <a:r>
                        <a:rPr lang="en-US" sz="1350" b="1" dirty="0">
                          <a:solidFill>
                            <a:srgbClr val="4A5168"/>
                          </a:solidFill>
                          <a:latin typeface="IBM Plex Sans" pitchFamily="34" charset="0"/>
                          <a:ea typeface="IBM Plex Sans" pitchFamily="34" charset="-122"/>
                          <a:cs typeface="IBM Plex Sans" pitchFamily="34" charset="-120"/>
                        </a:rPr>
                        <a:t>Likely pushback</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890"/>
                        </a:lnSpc>
                        <a:buNone/>
                      </a:pPr>
                      <a:r>
                        <a:rPr lang="en-US" sz="1350" b="1" dirty="0">
                          <a:solidFill>
                            <a:srgbClr val="4A5168"/>
                          </a:solidFill>
                          <a:latin typeface="IBM Plex Sans" pitchFamily="34" charset="0"/>
                          <a:ea typeface="IBM Plex Sans" pitchFamily="34" charset="-122"/>
                          <a:cs typeface="IBM Plex Sans" pitchFamily="34" charset="-120"/>
                        </a:rPr>
                        <a:t>What I changed</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701675">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Lab lead</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environmental engineering</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“Why is there a commercial case on an academic project?”</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Unit economics now appears only when the goal is Product</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01675">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PhD student</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materials science</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“The plan took a minute; I almost refreshed and lost it.”</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AI runs as background jobs with live progress; survives tab switches and reloads</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01675">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R&amp;D manager</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medical-device startup</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“I can’t put unpublished ideas into a free AI tier.”</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90"/>
                        </a:lnSpc>
                        <a:buNone/>
                      </a:pPr>
                      <a:r>
                        <a:rPr lang="en-US" sz="1350" dirty="0">
                          <a:solidFill>
                            <a:srgbClr val="2A2E3D"/>
                          </a:solidFill>
                          <a:latin typeface="IBM Plex Sans" pitchFamily="34" charset="0"/>
                          <a:ea typeface="IBM Plex Sans" pitchFamily="34" charset="-122"/>
                          <a:cs typeface="IBM Plex Sans" pitchFamily="34" charset="-120"/>
                        </a:rPr>
                        <a:t>Planned: a paid AI tier whose providers don’t train on customer data</a:t>
                      </a:r>
                      <a:endParaRPr lang="en-US" sz="1350" dirty="0">
                        <a:latin typeface="IBM Plex Sans" charset="0"/>
                        <a:ea typeface="IBM Plex Sans" charset="0"/>
                        <a:cs typeface="IBM Plex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67986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1A2B"/>
                </a:solidFill>
                <a:latin typeface="IBM Plex Sans" pitchFamily="34" charset="0"/>
                <a:ea typeface="IBM Plex Sans" pitchFamily="34" charset="-122"/>
                <a:cs typeface="IBM Plex Sans" pitchFamily="34" charset="-120"/>
              </a:rPr>
              <a:t>Strongest signal: </a:t>
            </a:r>
            <a:r>
              <a:rPr lang="en-US" sz="1500" b="1" dirty="0">
                <a:solidFill>
                  <a:srgbClr val="141A2B"/>
                </a:solidFill>
                <a:latin typeface="IBM Plex Sans" pitchFamily="34" charset="0"/>
                <a:ea typeface="IBM Plex Sans" pitchFamily="34" charset="-122"/>
                <a:cs typeface="IBM Plex Sans" pitchFamily="34" charset="-120"/>
              </a:rPr>
              <a:t>trustworthy AI</a:t>
            </a:r>
            <a:r>
              <a:rPr lang="en-US" sz="1500" dirty="0">
                <a:solidFill>
                  <a:srgbClr val="141A2B"/>
                </a:solidFill>
                <a:latin typeface="IBM Plex Sans" pitchFamily="34" charset="0"/>
                <a:ea typeface="IBM Plex Sans" pitchFamily="34" charset="-122"/>
                <a:cs typeface="IBM Plex Sans" pitchFamily="34" charset="-120"/>
              </a:rPr>
              <a:t>. Real papers, checkable assumptions, and directions built on the team’s own work.</a:t>
            </a:r>
            <a:endParaRPr lang="en-US" sz="1500" dirty="0"/>
          </a:p>
        </p:txBody>
      </p:sp>
      <p:sp>
        <p:nvSpPr>
          <p:cNvPr id="6" name="Text 3"/>
          <p:cNvSpPr/>
          <p:nvPr/>
        </p:nvSpPr>
        <p:spPr>
          <a:xfrm>
            <a:off x="812800" y="5175169"/>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7186"/>
                </a:solidFill>
                <a:latin typeface="IBM Plex Sans" pitchFamily="34" charset="0"/>
                <a:ea typeface="IBM Plex Sans" pitchFamily="34" charset="-122"/>
                <a:cs typeface="IBM Plex Sans" pitchFamily="34" charset="-120"/>
              </a:rPr>
              <a:t>Simulated personas, not real users. Real sessions with 3–5 researchers come next; their quotes will replace this slide.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THE WHOLE JOURNEY: AARRR</a:t>
            </a:r>
            <a:endParaRPr lang="en-US" sz="1300" dirty="0"/>
          </a:p>
        </p:txBody>
      </p:sp>
      <p:sp>
        <p:nvSpPr>
          <p:cNvPr id="3" name="Text 1"/>
          <p:cNvSpPr/>
          <p:nvPr>
            <p:ph type="title"/>
          </p:nvPr>
        </p:nvSpPr>
        <p:spPr>
          <a:xfrm>
            <a:off x="812800" y="13487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An answer for every stage.</a:t>
            </a:r>
            <a:endParaRPr lang="en-US" sz="3600" dirty="0"/>
          </a:p>
        </p:txBody>
      </p:sp>
      <p:sp>
        <p:nvSpPr>
          <p:cNvPr id="4" name="Shape 2"/>
          <p:cNvSpPr/>
          <p:nvPr/>
        </p:nvSpPr>
        <p:spPr>
          <a:xfrm>
            <a:off x="815975" y="2150430"/>
            <a:ext cx="2005330" cy="2444750"/>
          </a:xfrm>
          <a:prstGeom prst="roundRect">
            <a:avLst>
              <a:gd name="adj" fmla="val 6175"/>
            </a:avLst>
          </a:prstGeom>
          <a:solidFill>
            <a:srgbClr val="FFFFFF"/>
          </a:solidFill>
          <a:ln w="6350">
            <a:solidFill>
              <a:srgbClr val="DADCE5"/>
            </a:solidFill>
            <a:prstDash val="solid"/>
          </a:ln>
        </p:spPr>
      </p:sp>
      <p:sp>
        <p:nvSpPr>
          <p:cNvPr id="5" name="Text 3"/>
          <p:cNvSpPr/>
          <p:nvPr/>
        </p:nvSpPr>
        <p:spPr>
          <a:xfrm>
            <a:off x="1021080" y="2355534"/>
            <a:ext cx="164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348D4"/>
                </a:solidFill>
                <a:latin typeface="Bricolage Grotesque" pitchFamily="34" charset="0"/>
                <a:ea typeface="Bricolage Grotesque" pitchFamily="34" charset="-122"/>
                <a:cs typeface="Bricolage Grotesque" pitchFamily="34" charset="-120"/>
              </a:rPr>
              <a:t>A</a:t>
            </a:r>
            <a:endParaRPr lang="en-US" sz="2800" dirty="0"/>
          </a:p>
        </p:txBody>
      </p:sp>
      <p:sp>
        <p:nvSpPr>
          <p:cNvPr id="6" name="Text 4"/>
          <p:cNvSpPr/>
          <p:nvPr/>
        </p:nvSpPr>
        <p:spPr>
          <a:xfrm>
            <a:off x="1021080" y="2929576"/>
            <a:ext cx="16459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Acquisition</a:t>
            </a:r>
            <a:endParaRPr lang="en-US" sz="1500" dirty="0"/>
          </a:p>
        </p:txBody>
      </p:sp>
      <p:sp>
        <p:nvSpPr>
          <p:cNvPr id="7" name="Text 5"/>
          <p:cNvSpPr/>
          <p:nvPr/>
        </p:nvSpPr>
        <p:spPr>
          <a:xfrm>
            <a:off x="1021080" y="3234376"/>
            <a:ext cx="164592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Supervisors invite their students; department research groups</a:t>
            </a:r>
            <a:endParaRPr lang="en-US" sz="1300" dirty="0"/>
          </a:p>
        </p:txBody>
      </p:sp>
      <p:sp>
        <p:nvSpPr>
          <p:cNvPr id="8" name="Shape 6"/>
          <p:cNvSpPr/>
          <p:nvPr/>
        </p:nvSpPr>
        <p:spPr>
          <a:xfrm>
            <a:off x="2954655" y="2150430"/>
            <a:ext cx="2005330" cy="2444750"/>
          </a:xfrm>
          <a:prstGeom prst="roundRect">
            <a:avLst>
              <a:gd name="adj" fmla="val 6175"/>
            </a:avLst>
          </a:prstGeom>
          <a:solidFill>
            <a:srgbClr val="FFFFFF"/>
          </a:solidFill>
          <a:ln w="6350">
            <a:solidFill>
              <a:srgbClr val="DADCE5"/>
            </a:solidFill>
            <a:prstDash val="solid"/>
          </a:ln>
        </p:spPr>
      </p:sp>
      <p:sp>
        <p:nvSpPr>
          <p:cNvPr id="9" name="Text 7"/>
          <p:cNvSpPr/>
          <p:nvPr/>
        </p:nvSpPr>
        <p:spPr>
          <a:xfrm>
            <a:off x="3159760" y="2355534"/>
            <a:ext cx="164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348D4"/>
                </a:solidFill>
                <a:latin typeface="Bricolage Grotesque" pitchFamily="34" charset="0"/>
                <a:ea typeface="Bricolage Grotesque" pitchFamily="34" charset="-122"/>
                <a:cs typeface="Bricolage Grotesque" pitchFamily="34" charset="-120"/>
              </a:rPr>
              <a:t>A</a:t>
            </a:r>
            <a:endParaRPr lang="en-US" sz="2800" dirty="0"/>
          </a:p>
        </p:txBody>
      </p:sp>
      <p:sp>
        <p:nvSpPr>
          <p:cNvPr id="10" name="Text 8"/>
          <p:cNvSpPr/>
          <p:nvPr/>
        </p:nvSpPr>
        <p:spPr>
          <a:xfrm>
            <a:off x="3159760" y="2929576"/>
            <a:ext cx="16459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Activation</a:t>
            </a:r>
            <a:endParaRPr lang="en-US" sz="1500" dirty="0"/>
          </a:p>
        </p:txBody>
      </p:sp>
      <p:sp>
        <p:nvSpPr>
          <p:cNvPr id="11" name="Text 9"/>
          <p:cNvSpPr/>
          <p:nvPr/>
        </p:nvSpPr>
        <p:spPr>
          <a:xfrm>
            <a:off x="3159760" y="3234376"/>
            <a:ext cx="1645920"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A verdict with real papers in 2 minutes; activated once a first result is logged within 7 days</a:t>
            </a:r>
            <a:endParaRPr lang="en-US" sz="1300" dirty="0"/>
          </a:p>
        </p:txBody>
      </p:sp>
      <p:sp>
        <p:nvSpPr>
          <p:cNvPr id="12" name="Shape 10"/>
          <p:cNvSpPr/>
          <p:nvPr/>
        </p:nvSpPr>
        <p:spPr>
          <a:xfrm>
            <a:off x="5093335" y="2150430"/>
            <a:ext cx="2005330" cy="2444750"/>
          </a:xfrm>
          <a:prstGeom prst="roundRect">
            <a:avLst>
              <a:gd name="adj" fmla="val 6175"/>
            </a:avLst>
          </a:prstGeom>
          <a:solidFill>
            <a:srgbClr val="FFFFFF"/>
          </a:solidFill>
          <a:ln w="6350">
            <a:solidFill>
              <a:srgbClr val="DADCE5"/>
            </a:solidFill>
            <a:prstDash val="solid"/>
          </a:ln>
        </p:spPr>
      </p:sp>
      <p:sp>
        <p:nvSpPr>
          <p:cNvPr id="13" name="Text 11"/>
          <p:cNvSpPr/>
          <p:nvPr/>
        </p:nvSpPr>
        <p:spPr>
          <a:xfrm>
            <a:off x="5298440" y="2355534"/>
            <a:ext cx="164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348D4"/>
                </a:solidFill>
                <a:latin typeface="Bricolage Grotesque" pitchFamily="34" charset="0"/>
                <a:ea typeface="Bricolage Grotesque" pitchFamily="34" charset="-122"/>
                <a:cs typeface="Bricolage Grotesque" pitchFamily="34" charset="-120"/>
              </a:rPr>
              <a:t>R</a:t>
            </a:r>
            <a:endParaRPr lang="en-US" sz="2800" dirty="0"/>
          </a:p>
        </p:txBody>
      </p:sp>
      <p:sp>
        <p:nvSpPr>
          <p:cNvPr id="14" name="Text 12"/>
          <p:cNvSpPr/>
          <p:nvPr/>
        </p:nvSpPr>
        <p:spPr>
          <a:xfrm>
            <a:off x="5298440" y="2929576"/>
            <a:ext cx="16459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Retention</a:t>
            </a:r>
            <a:endParaRPr lang="en-US" sz="1500" dirty="0"/>
          </a:p>
        </p:txBody>
      </p:sp>
      <p:sp>
        <p:nvSpPr>
          <p:cNvPr id="15" name="Text 13"/>
          <p:cNvSpPr/>
          <p:nvPr/>
        </p:nvSpPr>
        <p:spPr>
          <a:xfrm>
            <a:off x="5298440" y="3234376"/>
            <a:ext cx="164592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Log results weekly; the dashboard prepares every supervisor meeting</a:t>
            </a:r>
            <a:endParaRPr lang="en-US" sz="1300" dirty="0"/>
          </a:p>
        </p:txBody>
      </p:sp>
      <p:sp>
        <p:nvSpPr>
          <p:cNvPr id="16" name="Shape 14"/>
          <p:cNvSpPr/>
          <p:nvPr/>
        </p:nvSpPr>
        <p:spPr>
          <a:xfrm>
            <a:off x="7232015" y="2150430"/>
            <a:ext cx="2005330" cy="2444750"/>
          </a:xfrm>
          <a:prstGeom prst="roundRect">
            <a:avLst>
              <a:gd name="adj" fmla="val 6175"/>
            </a:avLst>
          </a:prstGeom>
          <a:solidFill>
            <a:srgbClr val="FFFFFF"/>
          </a:solidFill>
          <a:ln w="6350">
            <a:solidFill>
              <a:srgbClr val="DADCE5"/>
            </a:solidFill>
            <a:prstDash val="solid"/>
          </a:ln>
        </p:spPr>
      </p:sp>
      <p:sp>
        <p:nvSpPr>
          <p:cNvPr id="17" name="Text 15"/>
          <p:cNvSpPr/>
          <p:nvPr/>
        </p:nvSpPr>
        <p:spPr>
          <a:xfrm>
            <a:off x="7437120" y="2355534"/>
            <a:ext cx="164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348D4"/>
                </a:solidFill>
                <a:latin typeface="Bricolage Grotesque" pitchFamily="34" charset="0"/>
                <a:ea typeface="Bricolage Grotesque" pitchFamily="34" charset="-122"/>
                <a:cs typeface="Bricolage Grotesque" pitchFamily="34" charset="-120"/>
              </a:rPr>
              <a:t>R</a:t>
            </a:r>
            <a:endParaRPr lang="en-US" sz="2800" dirty="0"/>
          </a:p>
        </p:txBody>
      </p:sp>
      <p:sp>
        <p:nvSpPr>
          <p:cNvPr id="18" name="Text 16"/>
          <p:cNvSpPr/>
          <p:nvPr/>
        </p:nvSpPr>
        <p:spPr>
          <a:xfrm>
            <a:off x="7437120" y="2929576"/>
            <a:ext cx="16459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Referral</a:t>
            </a:r>
            <a:endParaRPr lang="en-US" sz="1500" dirty="0"/>
          </a:p>
        </p:txBody>
      </p:sp>
      <p:sp>
        <p:nvSpPr>
          <p:cNvPr id="19" name="Text 17"/>
          <p:cNvSpPr/>
          <p:nvPr/>
        </p:nvSpPr>
        <p:spPr>
          <a:xfrm>
            <a:off x="7437120" y="3234376"/>
            <a:ext cx="164592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Sharing a project with lab mates is part of the workflow</a:t>
            </a:r>
            <a:endParaRPr lang="en-US" sz="1300" dirty="0"/>
          </a:p>
        </p:txBody>
      </p:sp>
      <p:sp>
        <p:nvSpPr>
          <p:cNvPr id="20" name="Shape 18"/>
          <p:cNvSpPr/>
          <p:nvPr/>
        </p:nvSpPr>
        <p:spPr>
          <a:xfrm>
            <a:off x="9370695" y="2150430"/>
            <a:ext cx="2005330" cy="2444750"/>
          </a:xfrm>
          <a:prstGeom prst="roundRect">
            <a:avLst>
              <a:gd name="adj" fmla="val 6175"/>
            </a:avLst>
          </a:prstGeom>
          <a:solidFill>
            <a:srgbClr val="FFFFFF"/>
          </a:solidFill>
          <a:ln w="6350">
            <a:solidFill>
              <a:srgbClr val="DADCE5"/>
            </a:solidFill>
            <a:prstDash val="solid"/>
          </a:ln>
        </p:spPr>
      </p:sp>
      <p:sp>
        <p:nvSpPr>
          <p:cNvPr id="21" name="Text 19"/>
          <p:cNvSpPr/>
          <p:nvPr/>
        </p:nvSpPr>
        <p:spPr>
          <a:xfrm>
            <a:off x="9575800" y="2355534"/>
            <a:ext cx="164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348D4"/>
                </a:solidFill>
                <a:latin typeface="Bricolage Grotesque" pitchFamily="34" charset="0"/>
                <a:ea typeface="Bricolage Grotesque" pitchFamily="34" charset="-122"/>
                <a:cs typeface="Bricolage Grotesque" pitchFamily="34" charset="-120"/>
              </a:rPr>
              <a:t>R</a:t>
            </a:r>
            <a:endParaRPr lang="en-US" sz="2800" dirty="0"/>
          </a:p>
        </p:txBody>
      </p:sp>
      <p:sp>
        <p:nvSpPr>
          <p:cNvPr id="22" name="Text 20"/>
          <p:cNvSpPr/>
          <p:nvPr/>
        </p:nvSpPr>
        <p:spPr>
          <a:xfrm>
            <a:off x="9575800" y="2929576"/>
            <a:ext cx="16459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Revenue</a:t>
            </a:r>
            <a:endParaRPr lang="en-US" sz="1500" dirty="0"/>
          </a:p>
        </p:txBody>
      </p:sp>
      <p:sp>
        <p:nvSpPr>
          <p:cNvPr id="23" name="Text 21"/>
          <p:cNvSpPr/>
          <p:nvPr/>
        </p:nvSpPr>
        <p:spPr>
          <a:xfrm>
            <a:off x="9575800" y="3234376"/>
            <a:ext cx="164592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8"/>
                </a:solidFill>
                <a:latin typeface="IBM Plex Sans" pitchFamily="34" charset="0"/>
                <a:ea typeface="IBM Plex Sans" pitchFamily="34" charset="-122"/>
                <a:cs typeface="IBM Plex Sans" pitchFamily="34" charset="-120"/>
              </a:rPr>
              <a:t>Free for students; per-seat plans for labs and R&amp;D teams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3348D4"/>
                </a:solidFill>
                <a:latin typeface="IBM Plex Sans" pitchFamily="34" charset="0"/>
                <a:ea typeface="IBM Plex Sans" pitchFamily="34" charset="-122"/>
                <a:cs typeface="IBM Plex Sans" pitchFamily="34" charset="-120"/>
              </a:rPr>
              <a:t>GO-TO-MARKET</a:t>
            </a:r>
            <a:endParaRPr lang="en-US" sz="1300" dirty="0"/>
          </a:p>
        </p:txBody>
      </p:sp>
      <p:sp>
        <p:nvSpPr>
          <p:cNvPr id="3" name="Text 1"/>
          <p:cNvSpPr/>
          <p:nvPr>
            <p:ph type="title"/>
          </p:nvPr>
        </p:nvSpPr>
        <p:spPr>
          <a:xfrm>
            <a:off x="812800" y="12725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spc="-75" kern="0" dirty="0">
                <a:solidFill>
                  <a:srgbClr val="141A2B"/>
                </a:solidFill>
                <a:latin typeface="Bricolage Grotesque" pitchFamily="34" charset="0"/>
                <a:ea typeface="Bricolage Grotesque" pitchFamily="34" charset="-122"/>
                <a:cs typeface="Bricolage Grotesque" pitchFamily="34" charset="-120"/>
              </a:rPr>
              <a:t>GTM: 10 users, then 1,000, then 100k.</a:t>
            </a:r>
            <a:endParaRPr lang="en-US" sz="3600" dirty="0"/>
          </a:p>
        </p:txBody>
      </p:sp>
      <p:sp>
        <p:nvSpPr>
          <p:cNvPr id="4" name="Shape 2"/>
          <p:cNvSpPr/>
          <p:nvPr/>
        </p:nvSpPr>
        <p:spPr>
          <a:xfrm>
            <a:off x="812800" y="1994855"/>
            <a:ext cx="5189220" cy="1452880"/>
          </a:xfrm>
          <a:prstGeom prst="roundRect">
            <a:avLst>
              <a:gd name="adj" fmla="val 8741"/>
            </a:avLst>
          </a:prstGeom>
          <a:solidFill>
            <a:srgbClr val="141A2B"/>
          </a:solidFill>
          <a:ln/>
        </p:spPr>
      </p:sp>
      <p:sp>
        <p:nvSpPr>
          <p:cNvPr id="5" name="Text 3"/>
          <p:cNvSpPr/>
          <p:nvPr/>
        </p:nvSpPr>
        <p:spPr>
          <a:xfrm>
            <a:off x="1016000" y="2198055"/>
            <a:ext cx="49263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2FF"/>
                </a:solidFill>
                <a:latin typeface="IBM Plex Sans" pitchFamily="34" charset="0"/>
                <a:ea typeface="IBM Plex Sans" pitchFamily="34" charset="-122"/>
                <a:cs typeface="IBM Plex Sans" pitchFamily="34" charset="-120"/>
              </a:rPr>
              <a:t>WHO ARE MY FIRST 10 USERS?</a:t>
            </a:r>
            <a:endParaRPr lang="en-US" sz="1200" dirty="0"/>
          </a:p>
        </p:txBody>
      </p:sp>
      <p:sp>
        <p:nvSpPr>
          <p:cNvPr id="6" name="Text 4"/>
          <p:cNvSpPr/>
          <p:nvPr/>
        </p:nvSpPr>
        <p:spPr>
          <a:xfrm>
            <a:off x="1016000" y="2487613"/>
            <a:ext cx="49263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4EF"/>
                </a:solidFill>
                <a:latin typeface="IBM Plex Sans" pitchFamily="34" charset="0"/>
                <a:ea typeface="IBM Plex Sans" pitchFamily="34" charset="-122"/>
                <a:cs typeface="IBM Plex Sans" pitchFamily="34" charset="-120"/>
              </a:rPr>
              <a:t>[6] PhD students in Prof. Manibrata Sen’s Theoretical Physics lab, their [2] supervisors, and 2 R&amp;D engineers</a:t>
            </a:r>
            <a:endParaRPr lang="en-US" sz="1400" dirty="0"/>
          </a:p>
        </p:txBody>
      </p:sp>
      <p:sp>
        <p:nvSpPr>
          <p:cNvPr id="7" name="Shape 5"/>
          <p:cNvSpPr/>
          <p:nvPr/>
        </p:nvSpPr>
        <p:spPr>
          <a:xfrm>
            <a:off x="6182995" y="1998030"/>
            <a:ext cx="5193030" cy="1446530"/>
          </a:xfrm>
          <a:prstGeom prst="roundRect">
            <a:avLst>
              <a:gd name="adj" fmla="val 8560"/>
            </a:avLst>
          </a:prstGeom>
          <a:solidFill>
            <a:srgbClr val="FFFFFF"/>
          </a:solidFill>
          <a:ln w="6350">
            <a:solidFill>
              <a:srgbClr val="DADCE5"/>
            </a:solidFill>
            <a:prstDash val="solid"/>
          </a:ln>
        </p:spPr>
      </p:sp>
      <p:sp>
        <p:nvSpPr>
          <p:cNvPr id="8" name="Text 6"/>
          <p:cNvSpPr/>
          <p:nvPr/>
        </p:nvSpPr>
        <p:spPr>
          <a:xfrm>
            <a:off x="6388100" y="2203134"/>
            <a:ext cx="49263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348D4"/>
                </a:solidFill>
                <a:latin typeface="IBM Plex Sans" pitchFamily="34" charset="0"/>
                <a:ea typeface="IBM Plex Sans" pitchFamily="34" charset="-122"/>
                <a:cs typeface="IBM Plex Sans" pitchFamily="34" charset="-120"/>
              </a:rPr>
              <a:t>WHERE WILL I SHARE IT?</a:t>
            </a:r>
            <a:endParaRPr lang="en-US" sz="1200" dirty="0"/>
          </a:p>
        </p:txBody>
      </p:sp>
      <p:sp>
        <p:nvSpPr>
          <p:cNvPr id="9" name="Text 7"/>
          <p:cNvSpPr/>
          <p:nvPr/>
        </p:nvSpPr>
        <p:spPr>
          <a:xfrm>
            <a:off x="6388100" y="2492691"/>
            <a:ext cx="492630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E3D"/>
                </a:solidFill>
                <a:latin typeface="IBM Plex Sans" pitchFamily="34" charset="0"/>
                <a:ea typeface="IBM Plex Sans" pitchFamily="34" charset="-122"/>
                <a:cs typeface="IBM Plex Sans" pitchFamily="34" charset="-120"/>
              </a:rPr>
              <a:t>[Department PhD WhatsApp group], [research scholars’ association], [university incubator], a slot at [lab meeting or seminar]</a:t>
            </a:r>
            <a:endParaRPr lang="en-US" sz="1400" dirty="0"/>
          </a:p>
        </p:txBody>
      </p:sp>
      <p:sp>
        <p:nvSpPr>
          <p:cNvPr id="10" name="Text 8"/>
          <p:cNvSpPr/>
          <p:nvPr/>
        </p:nvSpPr>
        <p:spPr>
          <a:xfrm>
            <a:off x="812800" y="367633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348D4"/>
                </a:solidFill>
                <a:latin typeface="IBM Plex Sans" pitchFamily="34" charset="0"/>
                <a:ea typeface="IBM Plex Sans" pitchFamily="34" charset="-122"/>
                <a:cs typeface="IBM Plex Sans" pitchFamily="34" charset="-120"/>
              </a:rPr>
              <a:t>HOW DO I GET TO 1,000, THEN 100K?</a:t>
            </a:r>
            <a:endParaRPr lang="en-US" sz="1200" dirty="0"/>
          </a:p>
        </p:txBody>
      </p:sp>
      <p:sp>
        <p:nvSpPr>
          <p:cNvPr id="11" name="Shape 9"/>
          <p:cNvSpPr/>
          <p:nvPr/>
        </p:nvSpPr>
        <p:spPr>
          <a:xfrm>
            <a:off x="812800" y="3991291"/>
            <a:ext cx="5080000" cy="1097280"/>
          </a:xfrm>
          <a:prstGeom prst="roundRect">
            <a:avLst>
              <a:gd name="adj" fmla="val 11574"/>
            </a:avLst>
          </a:prstGeom>
          <a:solidFill>
            <a:srgbClr val="E3E7FB"/>
          </a:solidFill>
          <a:ln/>
        </p:spPr>
      </p:sp>
      <p:sp>
        <p:nvSpPr>
          <p:cNvPr id="12" name="Text 10"/>
          <p:cNvSpPr/>
          <p:nvPr/>
        </p:nvSpPr>
        <p:spPr>
          <a:xfrm>
            <a:off x="990600" y="4169091"/>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To 1,000</a:t>
            </a:r>
            <a:endParaRPr lang="en-US" sz="1500" dirty="0"/>
          </a:p>
        </p:txBody>
      </p:sp>
      <p:sp>
        <p:nvSpPr>
          <p:cNvPr id="13" name="Text 11"/>
          <p:cNvSpPr/>
          <p:nvPr/>
        </p:nvSpPr>
        <p:spPr>
          <a:xfrm>
            <a:off x="990600" y="4448491"/>
            <a:ext cx="486613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2E3D"/>
                </a:solidFill>
                <a:latin typeface="IBM Plex Sans" pitchFamily="34" charset="0"/>
                <a:ea typeface="IBM Plex Sans" pitchFamily="34" charset="-122"/>
                <a:cs typeface="IBM Plex Sans" pitchFamily="34" charset="-120"/>
              </a:rPr>
              <a:t>Each project pulls in a supervisor and lab mates; student ambassadors in [5] departments</a:t>
            </a:r>
            <a:endParaRPr lang="en-US" sz="1300" dirty="0"/>
          </a:p>
        </p:txBody>
      </p:sp>
      <p:pic>
        <p:nvPicPr>
          <p:cNvPr id="14" name="Image 0" descr="connector">    </p:cNvPr>
          <p:cNvPicPr>
            <a:picLocks noChangeAspect="1"/>
          </p:cNvPicPr>
          <p:nvPr/>
        </p:nvPicPr>
        <p:blipFill>
          <a:blip r:embed="rId1"/>
          <a:srcRect l="0" r="0" t="0" b="0"/>
          <a:stretch/>
        </p:blipFill>
        <p:spPr>
          <a:xfrm>
            <a:off x="5969000" y="4501834"/>
            <a:ext cx="254000" cy="76200"/>
          </a:xfrm>
          <a:prstGeom prst="rect">
            <a:avLst/>
          </a:prstGeom>
        </p:spPr>
      </p:pic>
      <p:sp>
        <p:nvSpPr>
          <p:cNvPr id="15" name="Shape 12"/>
          <p:cNvSpPr/>
          <p:nvPr/>
        </p:nvSpPr>
        <p:spPr>
          <a:xfrm>
            <a:off x="6299200" y="3991291"/>
            <a:ext cx="5080000" cy="1097280"/>
          </a:xfrm>
          <a:prstGeom prst="roundRect">
            <a:avLst>
              <a:gd name="adj" fmla="val 11574"/>
            </a:avLst>
          </a:prstGeom>
          <a:solidFill>
            <a:srgbClr val="E3E7FB"/>
          </a:solidFill>
          <a:ln/>
        </p:spPr>
      </p:sp>
      <p:sp>
        <p:nvSpPr>
          <p:cNvPr id="16" name="Text 13"/>
          <p:cNvSpPr/>
          <p:nvPr/>
        </p:nvSpPr>
        <p:spPr>
          <a:xfrm>
            <a:off x="6477000" y="4169091"/>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A2B"/>
                </a:solidFill>
                <a:latin typeface="IBM Plex Sans" pitchFamily="34" charset="0"/>
                <a:ea typeface="IBM Plex Sans" pitchFamily="34" charset="-122"/>
                <a:cs typeface="IBM Plex Sans" pitchFamily="34" charset="-120"/>
              </a:rPr>
              <a:t>To 100k</a:t>
            </a:r>
            <a:endParaRPr lang="en-US" sz="1500" dirty="0"/>
          </a:p>
        </p:txBody>
      </p:sp>
      <p:sp>
        <p:nvSpPr>
          <p:cNvPr id="17" name="Text 14"/>
          <p:cNvSpPr/>
          <p:nvPr/>
        </p:nvSpPr>
        <p:spPr>
          <a:xfrm>
            <a:off x="6477000" y="4448491"/>
            <a:ext cx="486613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2E3D"/>
                </a:solidFill>
                <a:latin typeface="IBM Plex Sans" pitchFamily="34" charset="0"/>
                <a:ea typeface="IBM Plex Sans" pitchFamily="34" charset="-122"/>
                <a:cs typeface="IBM Plex Sans" pitchFamily="34" charset="-120"/>
              </a:rPr>
              <a:t>Institution-wide licences through research offices; a free idea check as the way in</a:t>
            </a:r>
            <a:endParaRPr lang="en-US" sz="1300" dirty="0"/>
          </a:p>
        </p:txBody>
      </p:sp>
      <p:sp>
        <p:nvSpPr>
          <p:cNvPr id="18" name="Text 15"/>
          <p:cNvSpPr/>
          <p:nvPr/>
        </p:nvSpPr>
        <p:spPr>
          <a:xfrm>
            <a:off x="812800" y="5317176"/>
            <a:ext cx="10566400" cy="546100"/>
          </a:xfrm>
          <a:prstGeom prst="roundRect">
            <a:avLst>
              <a:gd name="adj" fmla="val 18605"/>
            </a:avLst>
          </a:prstGeom>
          <a:solidFill>
            <a:srgbClr val="FBEFD6"/>
          </a:solidFill>
          <a:ln/>
        </p:spPr>
        <p:txBody>
          <a:bodyPr wrap="square" lIns="173442" tIns="109942" rIns="0" bIns="84542" rtlCol="0" anchor="t">
            <a:normAutofit/>
          </a:bodyPr>
          <a:lstStyle/>
          <a:p>
            <a:pPr algn="l" indent="0" marL="0">
              <a:lnSpc>
                <a:spcPts val="2100"/>
              </a:lnSpc>
              <a:buNone/>
            </a:pPr>
            <a:r>
              <a:rPr lang="en-US" sz="1500" b="1" dirty="0">
                <a:solidFill>
                  <a:srgbClr val="2A2E3D"/>
                </a:solidFill>
                <a:latin typeface="IBM Plex Sans" pitchFamily="34" charset="0"/>
                <a:ea typeface="IBM Plex Sans" pitchFamily="34" charset="-122"/>
                <a:cs typeface="IBM Plex Sans" pitchFamily="34" charset="-120"/>
              </a:rPr>
              <a:t>How it makes money:</a:t>
            </a:r>
            <a:r>
              <a:rPr lang="en-US" sz="1500" dirty="0">
                <a:solidFill>
                  <a:srgbClr val="2A2E3D"/>
                </a:solidFill>
                <a:latin typeface="IBM Plex Sans" pitchFamily="34" charset="0"/>
                <a:ea typeface="IBM Plex Sans" pitchFamily="34" charset="-122"/>
                <a:cs typeface="IBM Plex Sans" pitchFamily="34" charset="-120"/>
              </a:rPr>
              <a:t> free for students; labs and R&amp;D teams pay ₹399 per seat per month.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A2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A2B"/>
              </a:gs>
              <a:gs pos="100000">
                <a:srgbClr val="1C2540"/>
              </a:gs>
            </a:gsLst>
            <a:lin ang="27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8FA2FF"/>
                </a:solidFill>
                <a:latin typeface="IBM Plex Sans" pitchFamily="34" charset="0"/>
                <a:ea typeface="IBM Plex Sans" pitchFamily="34" charset="-122"/>
                <a:cs typeface="IBM Plex Sans" pitchFamily="34" charset="-120"/>
              </a:rPr>
              <a:t>WHAT’S NEXT</a:t>
            </a:r>
            <a:endParaRPr lang="en-US" sz="1300" dirty="0"/>
          </a:p>
        </p:txBody>
      </p:sp>
      <p:sp>
        <p:nvSpPr>
          <p:cNvPr id="4" name="Shape 2"/>
          <p:cNvSpPr/>
          <p:nvPr/>
        </p:nvSpPr>
        <p:spPr>
          <a:xfrm>
            <a:off x="812800" y="1247142"/>
            <a:ext cx="3403600" cy="1470660"/>
          </a:xfrm>
          <a:prstGeom prst="roundRect">
            <a:avLst>
              <a:gd name="adj" fmla="val 8636"/>
            </a:avLst>
          </a:prstGeom>
          <a:solidFill>
            <a:srgbClr val="232C49"/>
          </a:solidFill>
          <a:ln/>
        </p:spPr>
      </p:sp>
      <p:sp>
        <p:nvSpPr>
          <p:cNvPr id="5" name="Text 3"/>
          <p:cNvSpPr/>
          <p:nvPr/>
        </p:nvSpPr>
        <p:spPr>
          <a:xfrm>
            <a:off x="1041400" y="1475742"/>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Log results by voice</a:t>
            </a:r>
            <a:endParaRPr lang="en-US" sz="1600" dirty="0"/>
          </a:p>
        </p:txBody>
      </p:sp>
      <p:sp>
        <p:nvSpPr>
          <p:cNvPr id="6" name="Text 4"/>
          <p:cNvSpPr/>
          <p:nvPr/>
        </p:nvSpPr>
        <p:spPr>
          <a:xfrm>
            <a:off x="1041400" y="1795779"/>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E0"/>
                </a:solidFill>
                <a:latin typeface="IBM Plex Sans" pitchFamily="34" charset="0"/>
                <a:ea typeface="IBM Plex Sans" pitchFamily="34" charset="-122"/>
                <a:cs typeface="IBM Plex Sans" pitchFamily="34" charset="-120"/>
              </a:rPr>
              <a:t>A WhatsApp voice note from the lab bench becomes a logged result.</a:t>
            </a:r>
            <a:endParaRPr lang="en-US" sz="1300" dirty="0"/>
          </a:p>
        </p:txBody>
      </p:sp>
      <p:sp>
        <p:nvSpPr>
          <p:cNvPr id="7" name="Shape 5"/>
          <p:cNvSpPr/>
          <p:nvPr/>
        </p:nvSpPr>
        <p:spPr>
          <a:xfrm>
            <a:off x="4394200" y="1247142"/>
            <a:ext cx="3403600" cy="1470660"/>
          </a:xfrm>
          <a:prstGeom prst="roundRect">
            <a:avLst>
              <a:gd name="adj" fmla="val 8636"/>
            </a:avLst>
          </a:prstGeom>
          <a:solidFill>
            <a:srgbClr val="232C49"/>
          </a:solidFill>
          <a:ln/>
        </p:spPr>
      </p:sp>
      <p:sp>
        <p:nvSpPr>
          <p:cNvPr id="8" name="Text 6"/>
          <p:cNvSpPr/>
          <p:nvPr/>
        </p:nvSpPr>
        <p:spPr>
          <a:xfrm>
            <a:off x="4622800" y="1475742"/>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Grant-ready reports</a:t>
            </a:r>
            <a:endParaRPr lang="en-US" sz="1600" dirty="0"/>
          </a:p>
        </p:txBody>
      </p:sp>
      <p:sp>
        <p:nvSpPr>
          <p:cNvPr id="9" name="Text 7"/>
          <p:cNvSpPr/>
          <p:nvPr/>
        </p:nvSpPr>
        <p:spPr>
          <a:xfrm>
            <a:off x="4622800" y="1795779"/>
            <a:ext cx="30347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E0"/>
                </a:solidFill>
                <a:latin typeface="IBM Plex Sans" pitchFamily="34" charset="0"/>
                <a:ea typeface="IBM Plex Sans" pitchFamily="34" charset="-122"/>
                <a:cs typeface="IBM Plex Sans" pitchFamily="34" charset="-120"/>
              </a:rPr>
              <a:t>Export the dashboard and evidence for funders and progress reviews.</a:t>
            </a:r>
            <a:endParaRPr lang="en-US" sz="1300" dirty="0"/>
          </a:p>
        </p:txBody>
      </p:sp>
      <p:sp>
        <p:nvSpPr>
          <p:cNvPr id="10" name="Shape 8"/>
          <p:cNvSpPr/>
          <p:nvPr/>
        </p:nvSpPr>
        <p:spPr>
          <a:xfrm>
            <a:off x="7975600" y="1247142"/>
            <a:ext cx="3403600" cy="1470660"/>
          </a:xfrm>
          <a:prstGeom prst="roundRect">
            <a:avLst>
              <a:gd name="adj" fmla="val 8636"/>
            </a:avLst>
          </a:prstGeom>
          <a:solidFill>
            <a:srgbClr val="232C49"/>
          </a:solidFill>
          <a:ln/>
        </p:spPr>
      </p:sp>
      <p:sp>
        <p:nvSpPr>
          <p:cNvPr id="11" name="Text 9"/>
          <p:cNvSpPr/>
          <p:nvPr/>
        </p:nvSpPr>
        <p:spPr>
          <a:xfrm>
            <a:off x="8204200" y="1475742"/>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A “My week” view</a:t>
            </a:r>
            <a:endParaRPr lang="en-US" sz="1600" dirty="0"/>
          </a:p>
        </p:txBody>
      </p:sp>
      <p:sp>
        <p:nvSpPr>
          <p:cNvPr id="12" name="Text 10"/>
          <p:cNvSpPr/>
          <p:nvPr/>
        </p:nvSpPr>
        <p:spPr>
          <a:xfrm>
            <a:off x="8204200" y="1795779"/>
            <a:ext cx="30347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E0"/>
                </a:solidFill>
                <a:latin typeface="IBM Plex Sans" pitchFamily="34" charset="0"/>
                <a:ea typeface="IBM Plex Sans" pitchFamily="34" charset="-122"/>
                <a:cs typeface="IBM Plex Sans" pitchFamily="34" charset="-120"/>
              </a:rPr>
              <a:t>Your tasks due this week, and partial results you can log before a task is done.</a:t>
            </a:r>
            <a:endParaRPr lang="en-US" sz="1300" dirty="0"/>
          </a:p>
        </p:txBody>
      </p:sp>
      <p:sp>
        <p:nvSpPr>
          <p:cNvPr id="13" name="Text 11"/>
          <p:cNvSpPr/>
          <p:nvPr>
            <p:ph type="title"/>
          </p:nvPr>
        </p:nvSpPr>
        <p:spPr>
          <a:xfrm>
            <a:off x="812800" y="4668521"/>
            <a:ext cx="9810750" cy="119888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F5F4EF"/>
                </a:solidFill>
                <a:latin typeface="Bricolage Grotesque" pitchFamily="34" charset="0"/>
                <a:ea typeface="Bricolage Grotesque" pitchFamily="34" charset="-122"/>
                <a:cs typeface="Bricolage Grotesque" pitchFamily="34" charset="-120"/>
              </a:rPr>
              <a:t>From idea to validated result, with your whole team on the same page.</a:t>
            </a:r>
            <a:endParaRPr lang="en-US" sz="4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3A8"/>
                </a:solidFill>
                <a:latin typeface="IBM Plex Sans" pitchFamily="34" charset="0"/>
                <a:ea typeface="IBM Plex Sans" pitchFamily="34" charset="-122"/>
                <a:cs typeface="IBM Plex Sans" pitchFamily="34" charset="-120"/>
              </a:rPr>
              <a:t>Try it: research-os-beige-five.vercel.app · Code: github.com/worldofnisho-471/ResearchOS · sauravdasgupta377@gmail.com</a:t>
            </a:r>
            <a:endParaRPr lang="en-US" sz="1200" dirty="0"/>
          </a:p>
        </p:txBody>
      </p:sp>
    </p:spTree>
  </p:cSld>
  <p:clrMapOvr>
    <a:masterClrMapping/>
  </p:clrMapOvr>
</p:sld>
</file>

<file path=ppt/theme/theme1.xml><?xml version="1.0" encoding="utf-8"?>
<a:theme xmlns:a="http://schemas.openxmlformats.org/drawingml/2006/main" name="ResearchOS Pitch Deck">
  <a:themeElements>
    <a:clrScheme name="ResearchOS Pitch Deck">
      <a:dk1>
        <a:srgbClr val="141A2B"/>
      </a:dk1>
      <a:lt1>
        <a:srgbClr val="F5F4EF"/>
      </a:lt1>
      <a:dk2>
        <a:srgbClr val="4C515C"/>
      </a:dk2>
      <a:lt2>
        <a:srgbClr val="DFDEDB"/>
      </a:lt2>
      <a:accent1>
        <a:srgbClr val="3348D4"/>
      </a:accent1>
      <a:accent2>
        <a:srgbClr val="8FA2FF"/>
      </a:accent2>
      <a:accent3>
        <a:srgbClr val="2639B3"/>
      </a:accent3>
      <a:accent4>
        <a:srgbClr val="E8A93A"/>
      </a:accent4>
      <a:accent5>
        <a:srgbClr val="8A5A0B"/>
      </a:accent5>
      <a:accent6>
        <a:srgbClr val="4A5168"/>
      </a:accent6>
      <a:hlink>
        <a:srgbClr val="0563C1"/>
      </a:hlink>
      <a:folHlink>
        <a:srgbClr val="954F72"/>
      </a:folHlink>
    </a:clrScheme>
    <a:fontScheme name="ResearchOS Pitch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ResearchOS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2026-10-27T09:27:33Z</dcterms:created>
  <dcterms:modified xsi:type="dcterms:W3CDTF">2026-10-27T09:27:33Z</dcterms:modified>
</cp:coreProperties>
</file>