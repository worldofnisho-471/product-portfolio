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44"/>
                </a:solidFill>
                <a:latin typeface="Arial"/>
              </a:defRPr>
            </a:pPr>
            <a:r>
              <a:rPr sz="1200" b="0" i="0" u="none" strike="noStrike">
                <a:solidFill>
                  <a:srgbClr val="0B1F44"/>
                </a:solidFill>
                <a:latin typeface="Arial"/>
              </a:rPr>
              <a:t>EP-427 execution improvement vs threshold (bps)</a:t>
            </a:r>
          </a:p>
        </c:rich>
      </c:tx>
      <c:layout/>
      <c:overlay val="0"/>
    </c:title>
    <c:autoTitleDeleted val="0"/>
    <c:plotArea>
      <c:layout/>
      <c:barChart>
        <c:barDir val="col"/>
        <c:grouping val="clustered"/>
        <c:varyColors val="0"/>
        <c:ser>
          <c:idx val="0"/>
          <c:order val="0"/>
          <c:tx>
            <c:strRef>
              <c:f>Sheet1!$B$1</c:f>
              <c:strCache>
                <c:ptCount val="1"/>
                <c:pt idx="0">
                  <c:v>Improvement (bps)</c:v>
                </c:pt>
              </c:strCache>
            </c:strRef>
          </c:tx>
          <c:spPr>
            <a:solidFill>
              <a:srgbClr val="1E8E5A"/>
            </a:solidFill>
            <a:effectLst/>
          </c:spPr>
          <c:invertIfNegative val="0"/>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E8E5A"/>
              </a:solidFill>
              <a:effectLst/>
            </c:spPr>
          </c:dPt>
          <c:dPt>
            <c:idx val="1"/>
            <c:invertIfNegative val="0"/>
            <c:bubble3D val="0"/>
            <c:spPr>
              <a:solidFill>
                <a:srgbClr val="C0392B"/>
              </a:solidFill>
              <a:effectLst/>
            </c:spPr>
          </c:dPt>
          <c:dPt>
            <c:idx val="2"/>
            <c:invertIfNegative val="0"/>
            <c:bubble3D val="0"/>
            <c:spPr>
              <a:solidFill>
                <a:srgbClr val="8A94A6"/>
              </a:solidFill>
              <a:effectLst/>
            </c:spPr>
          </c:dPt>
          <c:cat>
            <c:multiLvlStrRef>
              <c:f>Sheet1!$A$2:$A$4</c:f>
              <c:multiLvlStrCache>
                <c:ptCount val="3"/>
                <c:lvl>
                  <c:pt idx="0">
                    <c:v>Original (Mar)</c:v>
                  </c:pt>
                  <c:pt idx="1">
                    <c:v>Current (Sep)</c:v>
                  </c:pt>
                  <c:pt idx="2">
                    <c:v>Policy threshold</c:v>
                  </c:pt>
                </c:lvl>
              </c:multiLvlStrCache>
            </c:multiLvlStrRef>
          </c:cat>
          <c:val>
            <c:numRef>
              <c:f>Sheet1!$B$2:$B$4</c:f>
              <c:numCache>
                <c:formatCode>General</c:formatCode>
                <c:ptCount val="3"/>
                <c:pt idx="0">
                  <c:v>0.72</c:v>
                </c:pt>
                <c:pt idx="1">
                  <c:v>0.11</c:v>
                </c:pt>
                <c:pt idx="2">
                  <c:v>0.25</c:v>
                </c:pt>
              </c:numCache>
            </c:numRef>
          </c:val>
        </c:ser>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577"/>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Thanks for the time. In ten minutes I want to show you a product idea built on assets we already own, and be upfront about what we do not yet know.
KEY POINT: This is a proposal to validate, not a proposal to scale.
LIKELY QUESTION: Is this a new analytics product?
SUGGESTED ANSWER: No. The analytics exist. This is the policy lifecycle and evidence layer on top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Desks have excellent analytics. But the rule the desk actually runs, for example "use Algo B for large EUR/USD forwards in high volatility", lives somewhere else, and its supporting evidence ages quietly.
KEY POINT: Analytics describe outcomes; nobody maintains the link between outcomes and the policy.
LIKELY QUESTION: Don't TCA tools already cover this?
SUGGESTED ANSWER: They cover the left side very well. The gap is the right side: persistent policy, evidence, review, decision and memory. Whether customers feel that gap strongly is what we need to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single concrete policy of the kind a desk operates. Original validation in March showed a clear improvement over the threshold. Six months later, with more than twice the data, the same measure looks very different.
KEY POINT: The evidence for a policy can change while the policy stays in force.
LIKELY QUESTION: Is this real client data?
SUGGESTED ANSWER: No. It is an illustrative scenario built to show the workflow; real figures would come from a customer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Walk left to right. The policy is created and approved properly. It is reviewed in June. By September the evidence has deteriorated, but nothing in the organisation is positioned to notice it systematically. Without a persistent policy layer, the supporting evidence ends up fragmented.
KEY POINT: Good governance at creation is not the same as continuous evidence.
LIKELY QUESTION: Does a deterioration mean Algo B is wrong?
SUGGESTED ANSWER: Not necessarily. It means the policy needs human review and possibly revalidation. Regime changes, mix shifts or sample differences could all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core object is the Execution Policy Register: every policy the institution relies on, why it exists, what supports it, and its history. Tradefeedr and existing execution data feed it; the desk works through a Policy Review Center.
KEY POINT: It is a layer above and around Tradefeedr, not a competitor to it.
LIKELY QUESTION: Is this a new analytics engine?
SUGGESTED ANSWER: No. The underlying execution analytics already exist. The new part is the policy-level lifecycle and evidence layer on top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Execution data flows into the register. The evidence engine and statistical assessment run quietly in the background and set a policy status. Humans engage at periodic or triggered reviews, choose Retain, Modify, Revalidate or Retire, and the decision with its evidence is stored. Then the cycle repeats.
KEY POINT: No real-time alert noise. Status is evidence-driven; reviews are periodic or triggered.
LIKELY QUESTION: Will this flood desks with alerts?
SUGGESTED ANSWER: No. It is designed around periodic and triggered reviews, not a stream of alerts on every small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layers with clear authority. Statistics decide whether evidence meets the predefined threshold. AI explains the validated evidence and helps investigate. Humans keep the decision. AI never changes a trading policy on its own.
KEY POINT: AI is an enhancement for explanation and investigation, not the source of the decision or the moat.
LIKELY QUESTION: Why not let AI recommend the replacement algo?
SUGGESTED ANSWER: Out of scope by design. It raises governance risk and is not the problem we are testing; the product supports review, it does not select algos.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market is strong and I do not want to suggest otherwise. Tradefeedr and Bloomberg BTCA already offer sophisticated analytics and governance. The whitespace we see is policy-level evidence, lifecycle and provenance. That is our hypothesis and it needs customer validation.
KEY POINT: Whitespace is a hypothesis, not a proven gap. Competitors could move.
LIKELY QUESTION: What if Bloomberg adds this?
SUGGESTED ANSWER: It is a real risk. Our response is speed, integration into LSEG workflows and Tradefeedr data, and policy history that accumulates with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already own the data, the analytics and the workflows where desks work. This is a natural extension of Tradefeedr rather than a new standalone tool. I will be honest that the moat is modest: it comes from integration, accumulated policy history, distribution and speed, not from technology that cannot be copied.
KEY POINT: Position is an advantage in time-to-market and distribution, not a guarantee.
LIKELY QUESTION: Is there a defensible moat?
SUGGESTED ANSWER: A modest one: data and workflow integration, policy history that builds up with customers, LSEG distribution and time-to-market.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Commission Delegated Regulation (EU) 2026/825 was adopted in April 2026, published in July 2026, and applies from 12 February 2028. It supplements MiFID II order-execution policy requirements with more emphasis on ongoing effectiveness assessment and ad-hoc reviews after trigger events. That is a demand signal and a timing window, not a mandate to buy a product.
KEY POINT: Narrow beachhead: EU-regulated firms trading in-scope FX derivatives (forwards, NDFs, swaps). Not all FX, not spot.
LIKELY QUESTION: Does MiFID require firms to buy this?
SUGGESTED ANSWER: No. It sets requirements on firms. How they meet them, including internal builds, is their choice. Commercial demand is something we must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MVP reuses existing infrastructure: no new trading engine, no new experiment platform. Initially we position it as a premium Tradefeedr or Workspace capability. I am not showing ROI numbers because we do not have them; ROI is something we measure in discovery and pilot.
KEY POINT: Key assumption: will customers prefer a vendor-backed policy-evidence system over extending existing TCA or compliance tooling?
LIKELY QUESTION: What is the revenue potential?
SUGGESTED ANSWER: We have not sized it and will not guess. Discovery and a pilot should establish willingness to pay and workflow burden.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risks are on the left and I would rather you hear them from me. The ask is small: discovery interviews, a prototype or pilot, and a decision gate. The underlying execution analytics already exist; the idea is the policy-level lifecycle and evidence layer. The biggest uncertainty is whether customers see enough incremental value to buy rather than extend existing tooling.
KEY POINT: Approve a bounded validation phase, then decide on scale.
LIKELY QUESTION: What do you need from us?
SUGGESTED ANSWER: Sponsorship to access 3-5 target customers via Tradefeedr relationships, and a small team to build 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44"/>
        </a:solidFill>
      </p:bgPr>
    </p:bg>
    <p:spTree>
      <p:nvGrpSpPr>
        <p:cNvPr id="1" name=""/>
        <p:cNvGrpSpPr/>
        <p:nvPr/>
      </p:nvGrpSpPr>
      <p:grpSpPr>
        <a:xfrm>
          <a:off x="0" y="0"/>
          <a:ext cx="0" cy="0"/>
          <a:chOff x="0" y="0"/>
          <a:chExt cx="0" cy="0"/>
        </a:xfrm>
      </p:grpSpPr>
      <p:sp>
        <p:nvSpPr>
          <p:cNvPr id="3" name="Shape 0"/>
          <p:cNvSpPr/>
          <p:nvPr/>
        </p:nvSpPr>
        <p:spPr>
          <a:xfrm>
            <a:off x="731520" y="2011680"/>
            <a:ext cx="109728" cy="2011680"/>
          </a:xfrm>
          <a:prstGeom prst="rect">
            <a:avLst/>
          </a:prstGeom>
          <a:solidFill>
            <a:srgbClr val="1A5FD6"/>
          </a:solidFill>
          <a:ln w="12700">
            <a:solidFill>
              <a:srgbClr val="1A5FD6"/>
            </a:solidFill>
            <a:prstDash val="solid"/>
          </a:ln>
        </p:spPr>
      </p:sp>
      <p:sp>
        <p:nvSpPr>
          <p:cNvPr id="4" name="Text 1"/>
          <p:cNvSpPr txBox="1"/>
          <p:nvPr/>
        </p:nvSpPr>
        <p:spPr>
          <a:xfrm>
            <a:off x="1005840" y="1188720"/>
            <a:ext cx="3657600" cy="457200"/>
          </a:xfrm>
          <a:prstGeom prst="rect">
            <a:avLst/>
          </a:prstGeom>
          <a:noFill/>
          <a:ln/>
        </p:spPr>
        <p:txBody>
          <a:bodyPr wrap="square" lIns="635" tIns="635" rIns="635" bIns="635" rtlCol="0" anchor="ctr"/>
          <a:lstStyle/>
          <a:p>
            <a:pPr indent="0" marL="0">
              <a:buNone/>
            </a:pPr>
            <a:r>
              <a:rPr lang="en-US" sz="1600" b="1" spc="400" kern="0" dirty="0">
                <a:solidFill>
                  <a:srgbClr val="8FB4FF"/>
                </a:solidFill>
              </a:rPr>
              <a:t>LSEG</a:t>
            </a:r>
            <a:endParaRPr lang="en-US" sz="1600" dirty="0"/>
          </a:p>
        </p:txBody>
      </p:sp>
      <p:sp>
        <p:nvSpPr>
          <p:cNvPr id="5" name="Text 2"/>
          <p:cNvSpPr txBox="1"/>
          <p:nvPr/>
        </p:nvSpPr>
        <p:spPr>
          <a:xfrm>
            <a:off x="1005840" y="2011680"/>
            <a:ext cx="10058400" cy="1097280"/>
          </a:xfrm>
          <a:prstGeom prst="rect">
            <a:avLst/>
          </a:prstGeom>
          <a:noFill/>
          <a:ln/>
        </p:spPr>
        <p:txBody>
          <a:bodyPr wrap="square" lIns="635" tIns="635" rIns="635" bIns="635"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Execution Policy Intelligence</a:t>
            </a:r>
            <a:endParaRPr lang="en-US" sz="4400" dirty="0"/>
          </a:p>
        </p:txBody>
      </p:sp>
      <p:sp>
        <p:nvSpPr>
          <p:cNvPr id="6" name="Text 3"/>
          <p:cNvSpPr txBox="1"/>
          <p:nvPr/>
        </p:nvSpPr>
        <p:spPr>
          <a:xfrm>
            <a:off x="1005840" y="3200400"/>
            <a:ext cx="8686800" cy="822960"/>
          </a:xfrm>
          <a:prstGeom prst="rect">
            <a:avLst/>
          </a:prstGeom>
          <a:noFill/>
          <a:ln/>
        </p:spPr>
        <p:txBody>
          <a:bodyPr wrap="square" lIns="635" tIns="635" rIns="635" bIns="635" rtlCol="0" anchor="t"/>
          <a:lstStyle/>
          <a:p>
            <a:pPr indent="0" marL="0">
              <a:buNone/>
            </a:pPr>
            <a:r>
              <a:rPr lang="en-US" sz="2000" dirty="0">
                <a:solidFill>
                  <a:srgbClr val="C9D6EE"/>
                </a:solidFill>
              </a:rPr>
              <a:t>Turning FX execution analytics into evidence-backed execution policy management</a:t>
            </a:r>
            <a:endParaRPr lang="en-US" sz="2000" dirty="0"/>
          </a:p>
        </p:txBody>
      </p:sp>
      <p:sp>
        <p:nvSpPr>
          <p:cNvPr id="7" name="Text 4"/>
          <p:cNvSpPr txBox="1"/>
          <p:nvPr/>
        </p:nvSpPr>
        <p:spPr>
          <a:xfrm>
            <a:off x="1005840" y="5852160"/>
            <a:ext cx="10058400" cy="365760"/>
          </a:xfrm>
          <a:prstGeom prst="rect">
            <a:avLst/>
          </a:prstGeom>
          <a:noFill/>
          <a:ln/>
        </p:spPr>
        <p:txBody>
          <a:bodyPr wrap="square" lIns="635" tIns="635" rIns="635" bIns="635" rtlCol="0" anchor="ctr"/>
          <a:lstStyle/>
          <a:p>
            <a:pPr indent="0" marL="0">
              <a:buNone/>
            </a:pPr>
            <a:r>
              <a:rPr lang="en-US" sz="1200" dirty="0">
                <a:solidFill>
                  <a:srgbClr val="8FA3C7"/>
                </a:solidFill>
              </a:rPr>
              <a:t>Product proposal for leadership review  |  October 2026  |  Seeking approval to validate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A5FD6"/>
          </a:solidFill>
          <a:ln w="12700">
            <a:solidFill>
              <a:srgbClr val="1A5FD6"/>
            </a:solidFill>
            <a:prstDash val="solid"/>
          </a:ln>
        </p:spPr>
      </p:sp>
      <p:sp>
        <p:nvSpPr>
          <p:cNvPr id="3" name="Text 1"/>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A5FD6"/>
                </a:solidFill>
              </a:rPr>
              <a:t>THE PROBLEM</a:t>
            </a:r>
            <a:endParaRPr lang="en-US" sz="1100" dirty="0"/>
          </a:p>
        </p:txBody>
      </p:sp>
      <p:sp>
        <p:nvSpPr>
          <p:cNvPr id="4" name="Text 2"/>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B1F44"/>
                </a:solidFill>
                <a:latin typeface="Georgia" pitchFamily="34" charset="0"/>
                <a:ea typeface="Georgia" pitchFamily="34" charset="-122"/>
                <a:cs typeface="Georgia" pitchFamily="34" charset="-120"/>
              </a:rPr>
              <a:t>We can analyse execution. But can we continuously prove that our execution policies still work?</a:t>
            </a:r>
            <a:endParaRPr lang="en-US" sz="2600" dirty="0"/>
          </a:p>
        </p:txBody>
      </p:sp>
      <p:sp>
        <p:nvSpPr>
          <p:cNvPr id="5" name="Text 3"/>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5B6577"/>
                </a:solidFill>
              </a:rPr>
              <a:t>LSEG | Execution Policy Intelligence — internal product proposal | Illustrative scenario data</a:t>
            </a:r>
            <a:endParaRPr lang="en-US" sz="900" dirty="0"/>
          </a:p>
        </p:txBody>
      </p:sp>
      <p:sp>
        <p:nvSpPr>
          <p:cNvPr id="6" name="Text 4"/>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7"/>
                </a:solidFill>
              </a:rPr>
              <a:t>2</a:t>
            </a:r>
            <a:endParaRPr lang="en-US" sz="900" dirty="0"/>
          </a:p>
        </p:txBody>
      </p:sp>
      <p:sp>
        <p:nvSpPr>
          <p:cNvPr id="8" name="Text 5"/>
          <p:cNvSpPr txBox="1"/>
          <p:nvPr/>
        </p:nvSpPr>
        <p:spPr>
          <a:xfrm>
            <a:off x="548640" y="1691640"/>
            <a:ext cx="5120640" cy="365760"/>
          </a:xfrm>
          <a:prstGeom prst="rect">
            <a:avLst/>
          </a:prstGeom>
          <a:noFill/>
          <a:ln/>
        </p:spPr>
        <p:txBody>
          <a:bodyPr wrap="square" lIns="635" tIns="635" rIns="635" bIns="635" rtlCol="0" anchor="ctr"/>
          <a:lstStyle/>
          <a:p>
            <a:pPr indent="0" marL="0">
              <a:buNone/>
            </a:pPr>
            <a:r>
              <a:rPr lang="en-US" sz="1200" b="1" dirty="0">
                <a:solidFill>
                  <a:srgbClr val="5B6577"/>
                </a:solidFill>
              </a:rPr>
              <a:t>WHAT WE HAVE TODAY</a:t>
            </a:r>
            <a:endParaRPr lang="en-US" sz="1200" dirty="0"/>
          </a:p>
        </p:txBody>
      </p:sp>
      <p:sp>
        <p:nvSpPr>
          <p:cNvPr id="9" name="Text 6"/>
          <p:cNvSpPr txBox="1"/>
          <p:nvPr/>
        </p:nvSpPr>
        <p:spPr>
          <a:xfrm>
            <a:off x="6492240" y="1691640"/>
            <a:ext cx="5120640" cy="365760"/>
          </a:xfrm>
          <a:prstGeom prst="rect">
            <a:avLst/>
          </a:prstGeom>
          <a:noFill/>
          <a:ln/>
        </p:spPr>
        <p:txBody>
          <a:bodyPr wrap="square" lIns="635" tIns="635" rIns="635" bIns="635" rtlCol="0" anchor="ctr"/>
          <a:lstStyle/>
          <a:p>
            <a:pPr indent="0" marL="0">
              <a:buNone/>
            </a:pPr>
            <a:r>
              <a:rPr lang="en-US" sz="1200" b="1" dirty="0">
                <a:solidFill>
                  <a:srgbClr val="1A5FD6"/>
                </a:solidFill>
              </a:rPr>
              <a:t>WHAT IS MISSING</a:t>
            </a:r>
            <a:endParaRPr lang="en-US" sz="1200" dirty="0"/>
          </a:p>
        </p:txBody>
      </p:sp>
      <p:sp>
        <p:nvSpPr>
          <p:cNvPr id="10" name="Shape 7"/>
          <p:cNvSpPr/>
          <p:nvPr/>
        </p:nvSpPr>
        <p:spPr>
          <a:xfrm>
            <a:off x="548640" y="2194560"/>
            <a:ext cx="1600200" cy="1280160"/>
          </a:xfrm>
          <a:prstGeom prst="roundRect">
            <a:avLst>
              <a:gd name="adj" fmla="val 4286"/>
            </a:avLst>
          </a:prstGeom>
          <a:solidFill>
            <a:srgbClr val="F2F5FA"/>
          </a:solidFill>
          <a:ln w="12700">
            <a:solidFill>
              <a:srgbClr val="D5DCE8"/>
            </a:solidFill>
            <a:prstDash val="solid"/>
          </a:ln>
        </p:spPr>
      </p:sp>
      <p:sp>
        <p:nvSpPr>
          <p:cNvPr id="11" name="Text 8"/>
          <p:cNvSpPr txBox="1"/>
          <p:nvPr/>
        </p:nvSpPr>
        <p:spPr>
          <a:xfrm>
            <a:off x="548640" y="2194560"/>
            <a:ext cx="1600200" cy="1280160"/>
          </a:xfrm>
          <a:prstGeom prst="rect">
            <a:avLst/>
          </a:prstGeom>
          <a:noFill/>
          <a:ln/>
        </p:spPr>
        <p:txBody>
          <a:bodyPr wrap="square" lIns="635" tIns="635" rIns="635" bIns="635" rtlCol="0" anchor="ctr"/>
          <a:lstStyle/>
          <a:p>
            <a:pPr algn="ctr" indent="0" marL="0">
              <a:buNone/>
            </a:pPr>
            <a:r>
              <a:rPr lang="en-US" sz="1500" b="1" dirty="0">
                <a:solidFill>
                  <a:srgbClr val="0B1F44"/>
                </a:solidFill>
              </a:rPr>
              <a:t>Execution data</a:t>
            </a:r>
            <a:endParaRPr lang="en-US" sz="1500" dirty="0"/>
          </a:p>
        </p:txBody>
      </p:sp>
      <p:sp>
        <p:nvSpPr>
          <p:cNvPr id="12" name="Shape 9"/>
          <p:cNvSpPr/>
          <p:nvPr/>
        </p:nvSpPr>
        <p:spPr>
          <a:xfrm>
            <a:off x="2377440" y="2194560"/>
            <a:ext cx="1600200" cy="1280160"/>
          </a:xfrm>
          <a:prstGeom prst="roundRect">
            <a:avLst>
              <a:gd name="adj" fmla="val 4286"/>
            </a:avLst>
          </a:prstGeom>
          <a:solidFill>
            <a:srgbClr val="F2F5FA"/>
          </a:solidFill>
          <a:ln w="12700">
            <a:solidFill>
              <a:srgbClr val="D5DCE8"/>
            </a:solidFill>
            <a:prstDash val="solid"/>
          </a:ln>
        </p:spPr>
      </p:sp>
      <p:sp>
        <p:nvSpPr>
          <p:cNvPr id="13" name="Text 10"/>
          <p:cNvSpPr txBox="1"/>
          <p:nvPr/>
        </p:nvSpPr>
        <p:spPr>
          <a:xfrm>
            <a:off x="2377440" y="2194560"/>
            <a:ext cx="1600200" cy="1280160"/>
          </a:xfrm>
          <a:prstGeom prst="rect">
            <a:avLst/>
          </a:prstGeom>
          <a:noFill/>
          <a:ln/>
        </p:spPr>
        <p:txBody>
          <a:bodyPr wrap="square" lIns="635" tIns="635" rIns="635" bIns="635" rtlCol="0" anchor="ctr"/>
          <a:lstStyle/>
          <a:p>
            <a:pPr algn="ctr" indent="0" marL="0">
              <a:buNone/>
            </a:pPr>
            <a:r>
              <a:rPr lang="en-US" sz="1500" b="1" dirty="0">
                <a:solidFill>
                  <a:srgbClr val="0B1F44"/>
                </a:solidFill>
              </a:rPr>
              <a:t>TCA</a:t>
            </a:r>
            <a:endParaRPr lang="en-US" sz="1500" dirty="0"/>
          </a:p>
        </p:txBody>
      </p:sp>
      <p:sp>
        <p:nvSpPr>
          <p:cNvPr id="14" name="Shape 11"/>
          <p:cNvSpPr/>
          <p:nvPr/>
        </p:nvSpPr>
        <p:spPr>
          <a:xfrm>
            <a:off x="4206240" y="2194560"/>
            <a:ext cx="1600200" cy="1280160"/>
          </a:xfrm>
          <a:prstGeom prst="roundRect">
            <a:avLst>
              <a:gd name="adj" fmla="val 4286"/>
            </a:avLst>
          </a:prstGeom>
          <a:solidFill>
            <a:srgbClr val="F2F5FA"/>
          </a:solidFill>
          <a:ln w="12700">
            <a:solidFill>
              <a:srgbClr val="D5DCE8"/>
            </a:solidFill>
            <a:prstDash val="solid"/>
          </a:ln>
        </p:spPr>
      </p:sp>
      <p:sp>
        <p:nvSpPr>
          <p:cNvPr id="15" name="Text 12"/>
          <p:cNvSpPr txBox="1"/>
          <p:nvPr/>
        </p:nvSpPr>
        <p:spPr>
          <a:xfrm>
            <a:off x="4206240" y="2194560"/>
            <a:ext cx="1600200" cy="1280160"/>
          </a:xfrm>
          <a:prstGeom prst="rect">
            <a:avLst/>
          </a:prstGeom>
          <a:noFill/>
          <a:ln/>
        </p:spPr>
        <p:txBody>
          <a:bodyPr wrap="square" lIns="635" tIns="635" rIns="635" bIns="635" rtlCol="0" anchor="ctr"/>
          <a:lstStyle/>
          <a:p>
            <a:pPr algn="ctr" indent="0" marL="0">
              <a:buNone/>
            </a:pPr>
            <a:r>
              <a:rPr lang="en-US" sz="1500" b="1" dirty="0">
                <a:solidFill>
                  <a:srgbClr val="0B1F44"/>
                </a:solidFill>
              </a:rPr>
              <a:t>Analytics</a:t>
            </a:r>
            <a:endParaRPr lang="en-US" sz="1500" dirty="0"/>
          </a:p>
        </p:txBody>
      </p:sp>
      <p:sp>
        <p:nvSpPr>
          <p:cNvPr id="16" name="Shape 13"/>
          <p:cNvSpPr/>
          <p:nvPr/>
        </p:nvSpPr>
        <p:spPr>
          <a:xfrm>
            <a:off x="6492240" y="2194560"/>
            <a:ext cx="960120" cy="1280160"/>
          </a:xfrm>
          <a:prstGeom prst="roundRect">
            <a:avLst>
              <a:gd name="adj" fmla="val 5714"/>
            </a:avLst>
          </a:prstGeom>
          <a:solidFill>
            <a:srgbClr val="FFFFFF"/>
          </a:solidFill>
          <a:ln w="12700">
            <a:solidFill>
              <a:srgbClr val="1A5FD6"/>
            </a:solidFill>
            <a:prstDash val="solid"/>
          </a:ln>
        </p:spPr>
      </p:sp>
      <p:sp>
        <p:nvSpPr>
          <p:cNvPr id="17" name="Text 14"/>
          <p:cNvSpPr txBox="1"/>
          <p:nvPr/>
        </p:nvSpPr>
        <p:spPr>
          <a:xfrm>
            <a:off x="6492240" y="2194560"/>
            <a:ext cx="960120" cy="1280160"/>
          </a:xfrm>
          <a:prstGeom prst="rect">
            <a:avLst/>
          </a:prstGeom>
          <a:noFill/>
          <a:ln/>
        </p:spPr>
        <p:txBody>
          <a:bodyPr wrap="square" lIns="635" tIns="635" rIns="635" bIns="635" rtlCol="0" anchor="ctr"/>
          <a:lstStyle/>
          <a:p>
            <a:pPr algn="ctr" indent="0" marL="0">
              <a:buNone/>
            </a:pPr>
            <a:r>
              <a:rPr lang="en-US" sz="1200" b="1" dirty="0">
                <a:solidFill>
                  <a:srgbClr val="1A5FD6"/>
                </a:solidFill>
              </a:rPr>
              <a:t>Policy</a:t>
            </a:r>
            <a:endParaRPr lang="en-US" sz="1200" dirty="0"/>
          </a:p>
        </p:txBody>
      </p:sp>
      <p:sp>
        <p:nvSpPr>
          <p:cNvPr id="18" name="Shape 15"/>
          <p:cNvSpPr/>
          <p:nvPr/>
        </p:nvSpPr>
        <p:spPr>
          <a:xfrm>
            <a:off x="7543800" y="2194560"/>
            <a:ext cx="960120" cy="1280160"/>
          </a:xfrm>
          <a:prstGeom prst="roundRect">
            <a:avLst>
              <a:gd name="adj" fmla="val 5714"/>
            </a:avLst>
          </a:prstGeom>
          <a:solidFill>
            <a:srgbClr val="FFFFFF"/>
          </a:solidFill>
          <a:ln w="12700">
            <a:solidFill>
              <a:srgbClr val="1A5FD6"/>
            </a:solidFill>
            <a:prstDash val="solid"/>
          </a:ln>
        </p:spPr>
      </p:sp>
      <p:sp>
        <p:nvSpPr>
          <p:cNvPr id="19" name="Text 16"/>
          <p:cNvSpPr txBox="1"/>
          <p:nvPr/>
        </p:nvSpPr>
        <p:spPr>
          <a:xfrm>
            <a:off x="7543800" y="2194560"/>
            <a:ext cx="960120" cy="1280160"/>
          </a:xfrm>
          <a:prstGeom prst="rect">
            <a:avLst/>
          </a:prstGeom>
          <a:noFill/>
          <a:ln/>
        </p:spPr>
        <p:txBody>
          <a:bodyPr wrap="square" lIns="635" tIns="635" rIns="635" bIns="635" rtlCol="0" anchor="ctr"/>
          <a:lstStyle/>
          <a:p>
            <a:pPr algn="ctr" indent="0" marL="0">
              <a:buNone/>
            </a:pPr>
            <a:r>
              <a:rPr lang="en-US" sz="1200" b="1" dirty="0">
                <a:solidFill>
                  <a:srgbClr val="1A5FD6"/>
                </a:solidFill>
              </a:rPr>
              <a:t>Evidence</a:t>
            </a:r>
            <a:endParaRPr lang="en-US" sz="1200" dirty="0"/>
          </a:p>
        </p:txBody>
      </p:sp>
      <p:sp>
        <p:nvSpPr>
          <p:cNvPr id="20" name="Shape 17"/>
          <p:cNvSpPr/>
          <p:nvPr/>
        </p:nvSpPr>
        <p:spPr>
          <a:xfrm>
            <a:off x="8595360" y="2194560"/>
            <a:ext cx="960120" cy="1280160"/>
          </a:xfrm>
          <a:prstGeom prst="roundRect">
            <a:avLst>
              <a:gd name="adj" fmla="val 5714"/>
            </a:avLst>
          </a:prstGeom>
          <a:solidFill>
            <a:srgbClr val="FFFFFF"/>
          </a:solidFill>
          <a:ln w="12700">
            <a:solidFill>
              <a:srgbClr val="1A5FD6"/>
            </a:solidFill>
            <a:prstDash val="solid"/>
          </a:ln>
        </p:spPr>
      </p:sp>
      <p:sp>
        <p:nvSpPr>
          <p:cNvPr id="21" name="Text 18"/>
          <p:cNvSpPr txBox="1"/>
          <p:nvPr/>
        </p:nvSpPr>
        <p:spPr>
          <a:xfrm>
            <a:off x="8595360" y="2194560"/>
            <a:ext cx="960120" cy="1280160"/>
          </a:xfrm>
          <a:prstGeom prst="rect">
            <a:avLst/>
          </a:prstGeom>
          <a:noFill/>
          <a:ln/>
        </p:spPr>
        <p:txBody>
          <a:bodyPr wrap="square" lIns="635" tIns="635" rIns="635" bIns="635" rtlCol="0" anchor="ctr"/>
          <a:lstStyle/>
          <a:p>
            <a:pPr algn="ctr" indent="0" marL="0">
              <a:buNone/>
            </a:pPr>
            <a:r>
              <a:rPr lang="en-US" sz="1200" b="1" dirty="0">
                <a:solidFill>
                  <a:srgbClr val="1A5FD6"/>
                </a:solidFill>
              </a:rPr>
              <a:t>Review</a:t>
            </a:r>
            <a:endParaRPr lang="en-US" sz="1200" dirty="0"/>
          </a:p>
        </p:txBody>
      </p:sp>
      <p:sp>
        <p:nvSpPr>
          <p:cNvPr id="22" name="Shape 19"/>
          <p:cNvSpPr/>
          <p:nvPr/>
        </p:nvSpPr>
        <p:spPr>
          <a:xfrm>
            <a:off x="9646920" y="2194560"/>
            <a:ext cx="960120" cy="1280160"/>
          </a:xfrm>
          <a:prstGeom prst="roundRect">
            <a:avLst>
              <a:gd name="adj" fmla="val 5714"/>
            </a:avLst>
          </a:prstGeom>
          <a:solidFill>
            <a:srgbClr val="FFFFFF"/>
          </a:solidFill>
          <a:ln w="12700">
            <a:solidFill>
              <a:srgbClr val="1A5FD6"/>
            </a:solidFill>
            <a:prstDash val="solid"/>
          </a:ln>
        </p:spPr>
      </p:sp>
      <p:sp>
        <p:nvSpPr>
          <p:cNvPr id="23" name="Text 20"/>
          <p:cNvSpPr txBox="1"/>
          <p:nvPr/>
        </p:nvSpPr>
        <p:spPr>
          <a:xfrm>
            <a:off x="9646920" y="2194560"/>
            <a:ext cx="960120" cy="1280160"/>
          </a:xfrm>
          <a:prstGeom prst="rect">
            <a:avLst/>
          </a:prstGeom>
          <a:noFill/>
          <a:ln/>
        </p:spPr>
        <p:txBody>
          <a:bodyPr wrap="square" lIns="635" tIns="635" rIns="635" bIns="635" rtlCol="0" anchor="ctr"/>
          <a:lstStyle/>
          <a:p>
            <a:pPr algn="ctr" indent="0" marL="0">
              <a:buNone/>
            </a:pPr>
            <a:r>
              <a:rPr lang="en-US" sz="1200" b="1" dirty="0">
                <a:solidFill>
                  <a:srgbClr val="1A5FD6"/>
                </a:solidFill>
              </a:rPr>
              <a:t>Decision</a:t>
            </a:r>
            <a:endParaRPr lang="en-US" sz="1200" dirty="0"/>
          </a:p>
        </p:txBody>
      </p:sp>
      <p:sp>
        <p:nvSpPr>
          <p:cNvPr id="24" name="Shape 21"/>
          <p:cNvSpPr/>
          <p:nvPr/>
        </p:nvSpPr>
        <p:spPr>
          <a:xfrm>
            <a:off x="10698480" y="2194560"/>
            <a:ext cx="960120" cy="1280160"/>
          </a:xfrm>
          <a:prstGeom prst="roundRect">
            <a:avLst>
              <a:gd name="adj" fmla="val 5714"/>
            </a:avLst>
          </a:prstGeom>
          <a:solidFill>
            <a:srgbClr val="FFFFFF"/>
          </a:solidFill>
          <a:ln w="12700">
            <a:solidFill>
              <a:srgbClr val="1A5FD6"/>
            </a:solidFill>
            <a:prstDash val="solid"/>
          </a:ln>
        </p:spPr>
      </p:sp>
      <p:sp>
        <p:nvSpPr>
          <p:cNvPr id="25" name="Text 22"/>
          <p:cNvSpPr txBox="1"/>
          <p:nvPr/>
        </p:nvSpPr>
        <p:spPr>
          <a:xfrm>
            <a:off x="10698480" y="2194560"/>
            <a:ext cx="960120" cy="1280160"/>
          </a:xfrm>
          <a:prstGeom prst="rect">
            <a:avLst/>
          </a:prstGeom>
          <a:noFill/>
          <a:ln/>
        </p:spPr>
        <p:txBody>
          <a:bodyPr wrap="square" lIns="635" tIns="635" rIns="635" bIns="635" rtlCol="0" anchor="ctr"/>
          <a:lstStyle/>
          <a:p>
            <a:pPr algn="ctr" indent="0" marL="0">
              <a:buNone/>
            </a:pPr>
            <a:r>
              <a:rPr lang="en-US" sz="1200" b="1" dirty="0">
                <a:solidFill>
                  <a:srgbClr val="1A5FD6"/>
                </a:solidFill>
              </a:rPr>
              <a:t>Memory</a:t>
            </a:r>
            <a:endParaRPr lang="en-US" sz="1200" dirty="0"/>
          </a:p>
        </p:txBody>
      </p:sp>
      <p:sp>
        <p:nvSpPr>
          <p:cNvPr id="26" name="Text 23"/>
          <p:cNvSpPr txBox="1"/>
          <p:nvPr/>
        </p:nvSpPr>
        <p:spPr>
          <a:xfrm>
            <a:off x="5669280" y="2194560"/>
            <a:ext cx="822960" cy="1280160"/>
          </a:xfrm>
          <a:prstGeom prst="rect">
            <a:avLst/>
          </a:prstGeom>
          <a:noFill/>
          <a:ln/>
        </p:spPr>
        <p:txBody>
          <a:bodyPr wrap="square" lIns="635" tIns="635" rIns="635" bIns="635" rtlCol="0" anchor="ctr"/>
          <a:lstStyle/>
          <a:p>
            <a:pPr algn="ctr" indent="0" marL="0">
              <a:buNone/>
            </a:pPr>
            <a:r>
              <a:rPr lang="en-US" sz="4400" b="1" dirty="0">
                <a:solidFill>
                  <a:srgbClr val="C77D00"/>
                </a:solidFill>
              </a:rPr>
              <a:t>?</a:t>
            </a:r>
            <a:endParaRPr lang="en-US" sz="4400" dirty="0"/>
          </a:p>
        </p:txBody>
      </p:sp>
      <p:sp>
        <p:nvSpPr>
          <p:cNvPr id="27" name="Shape 24"/>
          <p:cNvSpPr/>
          <p:nvPr/>
        </p:nvSpPr>
        <p:spPr>
          <a:xfrm>
            <a:off x="548640" y="3977640"/>
            <a:ext cx="11064240" cy="1737360"/>
          </a:xfrm>
          <a:prstGeom prst="rect">
            <a:avLst>
              <a:gd name="adj" fmla="val 3158"/>
            </a:avLst>
          </a:prstGeom>
          <a:solidFill>
            <a:srgbClr val="0B1F44"/>
          </a:solidFill>
          <a:ln w="12700">
            <a:solidFill>
              <a:srgbClr val="0B1F44"/>
            </a:solidFill>
            <a:prstDash val="solid"/>
          </a:ln>
        </p:spPr>
      </p:sp>
      <p:sp>
        <p:nvSpPr>
          <p:cNvPr id="28" name="Text 25"/>
          <p:cNvSpPr txBox="1"/>
          <p:nvPr/>
        </p:nvSpPr>
        <p:spPr>
          <a:xfrm>
            <a:off x="914400" y="4069080"/>
            <a:ext cx="10332720" cy="1554480"/>
          </a:xfrm>
          <a:prstGeom prst="rect">
            <a:avLst/>
          </a:prstGeom>
          <a:noFill/>
          <a:ln/>
        </p:spPr>
        <p:txBody>
          <a:bodyPr wrap="square" lIns="635" tIns="635" rIns="635" bIns="635" rtlCol="0" anchor="ctr"/>
          <a:lstStyle/>
          <a:p>
            <a:pPr indent="0" marL="0">
              <a:buNone/>
            </a:pPr>
            <a:r>
              <a:rPr lang="en-US" sz="1800" b="1" dirty="0">
                <a:solidFill>
                  <a:srgbClr val="8FB4FF"/>
                </a:solidFill>
              </a:rPr>
              <a:t>The gap. </a:t>
            </a:r>
            <a:pPr indent="0" marL="0">
              <a:buNone/>
            </a:pPr>
            <a:r>
              <a:rPr lang="en-US" sz="1800" dirty="0">
                <a:solidFill>
                  <a:srgbClr val="FFFFFF"/>
                </a:solidFill>
              </a:rPr>
              <a:t>Policies are set from evidence at a point in time. Months later, the evidence is scattered across TCA outputs, quant notebooks, spreadsheets and committee minutes, and hard to demonstrate on demand.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A5FD6"/>
          </a:solidFill>
          <a:ln w="12700">
            <a:solidFill>
              <a:srgbClr val="1A5FD6"/>
            </a:solidFill>
            <a:prstDash val="solid"/>
          </a:ln>
        </p:spPr>
      </p:sp>
      <p:sp>
        <p:nvSpPr>
          <p:cNvPr id="3" name="Text 1"/>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A5FD6"/>
                </a:solidFill>
              </a:rPr>
              <a:t>HERO EXAMPLE</a:t>
            </a:r>
            <a:endParaRPr lang="en-US" sz="1100" dirty="0"/>
          </a:p>
        </p:txBody>
      </p:sp>
      <p:sp>
        <p:nvSpPr>
          <p:cNvPr id="4" name="Text 2"/>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B1F44"/>
                </a:solidFill>
                <a:latin typeface="Georgia" pitchFamily="34" charset="0"/>
                <a:ea typeface="Georgia" pitchFamily="34" charset="-122"/>
                <a:cs typeface="Georgia" pitchFamily="34" charset="-120"/>
              </a:rPr>
              <a:t>A real-world policy: EP-427</a:t>
            </a:r>
            <a:endParaRPr lang="en-US" sz="2600" dirty="0"/>
          </a:p>
        </p:txBody>
      </p:sp>
      <p:sp>
        <p:nvSpPr>
          <p:cNvPr id="5" name="Text 3"/>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5B6577"/>
                </a:solidFill>
              </a:rPr>
              <a:t>LSEG | Execution Policy Intelligence — internal product proposal | Illustrative scenario data</a:t>
            </a:r>
            <a:endParaRPr lang="en-US" sz="900" dirty="0"/>
          </a:p>
        </p:txBody>
      </p:sp>
      <p:sp>
        <p:nvSpPr>
          <p:cNvPr id="6" name="Text 4"/>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7"/>
                </a:solidFill>
              </a:rPr>
              <a:t>3</a:t>
            </a:r>
            <a:endParaRPr lang="en-US" sz="900" dirty="0"/>
          </a:p>
        </p:txBody>
      </p:sp>
      <p:sp>
        <p:nvSpPr>
          <p:cNvPr id="8" name="Shape 5"/>
          <p:cNvSpPr/>
          <p:nvPr/>
        </p:nvSpPr>
        <p:spPr>
          <a:xfrm>
            <a:off x="548640" y="1645920"/>
            <a:ext cx="11064240" cy="1325880"/>
          </a:xfrm>
          <a:prstGeom prst="rect">
            <a:avLst>
              <a:gd name="adj" fmla="val 4138"/>
            </a:avLst>
          </a:prstGeom>
          <a:solidFill>
            <a:srgbClr val="0B1F44"/>
          </a:solidFill>
          <a:ln w="12700">
            <a:solidFill>
              <a:srgbClr val="0B1F44"/>
            </a:solidFill>
            <a:prstDash val="solid"/>
          </a:ln>
        </p:spPr>
      </p:sp>
      <p:sp>
        <p:nvSpPr>
          <p:cNvPr id="9" name="Text 6"/>
          <p:cNvSpPr txBox="1"/>
          <p:nvPr/>
        </p:nvSpPr>
        <p:spPr>
          <a:xfrm>
            <a:off x="822960" y="1691640"/>
            <a:ext cx="1828800" cy="457200"/>
          </a:xfrm>
          <a:prstGeom prst="rect">
            <a:avLst/>
          </a:prstGeom>
          <a:noFill/>
          <a:ln/>
        </p:spPr>
        <p:txBody>
          <a:bodyPr wrap="square" lIns="635" tIns="635" rIns="635" bIns="635" rtlCol="0" anchor="ctr"/>
          <a:lstStyle/>
          <a:p>
            <a:pPr indent="0" marL="0">
              <a:buNone/>
            </a:pPr>
            <a:r>
              <a:rPr lang="en-US" sz="1300" b="1" dirty="0">
                <a:solidFill>
                  <a:srgbClr val="8FB4FF"/>
                </a:solidFill>
              </a:rPr>
              <a:t>EP-427</a:t>
            </a:r>
            <a:endParaRPr lang="en-US" sz="1300" dirty="0"/>
          </a:p>
        </p:txBody>
      </p:sp>
      <p:sp>
        <p:nvSpPr>
          <p:cNvPr id="10" name="Text 7"/>
          <p:cNvSpPr txBox="1"/>
          <p:nvPr/>
        </p:nvSpPr>
        <p:spPr>
          <a:xfrm>
            <a:off x="822960" y="2103120"/>
            <a:ext cx="10515600" cy="731520"/>
          </a:xfrm>
          <a:prstGeom prst="rect">
            <a:avLst/>
          </a:prstGeom>
          <a:noFill/>
          <a:ln/>
        </p:spPr>
        <p:txBody>
          <a:bodyPr wrap="square" lIns="635" tIns="635" rIns="635" bIns="635" rtlCol="0" anchor="ctr"/>
          <a:lstStyle/>
          <a:p>
            <a:pPr algn="l" indent="0" marL="0">
              <a:buNone/>
            </a:pPr>
            <a:r>
              <a:rPr lang="en-US" sz="2400" b="1" dirty="0">
                <a:solidFill>
                  <a:srgbClr val="FFFFFF"/>
                </a:solidFill>
                <a:latin typeface="Georgia" pitchFamily="34" charset="0"/>
                <a:ea typeface="Georgia" pitchFamily="34" charset="-122"/>
                <a:cs typeface="Georgia" pitchFamily="34" charset="-120"/>
              </a:rPr>
              <a:t>For EUR/USD forwards above $50M under high-volatility conditions, use Algo B.</a:t>
            </a:r>
            <a:endParaRPr lang="en-US" sz="2400" dirty="0"/>
          </a:p>
        </p:txBody>
      </p:sp>
      <p:sp>
        <p:nvSpPr>
          <p:cNvPr id="11" name="Text 8"/>
          <p:cNvSpPr txBox="1"/>
          <p:nvPr/>
        </p:nvSpPr>
        <p:spPr>
          <a:xfrm>
            <a:off x="548640" y="3108960"/>
            <a:ext cx="2651760" cy="640080"/>
          </a:xfrm>
          <a:prstGeom prst="rect">
            <a:avLst/>
          </a:prstGeom>
          <a:noFill/>
          <a:ln/>
        </p:spPr>
        <p:txBody>
          <a:bodyPr wrap="square" lIns="635" tIns="635" rIns="635" bIns="635" rtlCol="0" anchor="ctr"/>
          <a:lstStyle/>
          <a:p>
            <a:pPr indent="0" marL="0">
              <a:buNone/>
            </a:pPr>
            <a:r>
              <a:rPr lang="en-US" sz="1000" dirty="0">
                <a:solidFill>
                  <a:srgbClr val="5B6577"/>
                </a:solidFill>
              </a:rPr>
              <a:t>Instrument
</a:t>
            </a:r>
            <a:pPr indent="0" marL="0">
              <a:buNone/>
            </a:pPr>
            <a:r>
              <a:rPr lang="en-US" sz="1400" b="1" dirty="0">
                <a:solidFill>
                  <a:srgbClr val="0B1F44"/>
                </a:solidFill>
              </a:rPr>
              <a:t>EUR/USD Forward</a:t>
            </a:r>
            <a:endParaRPr lang="en-US" sz="1400" dirty="0"/>
          </a:p>
        </p:txBody>
      </p:sp>
      <p:sp>
        <p:nvSpPr>
          <p:cNvPr id="12" name="Text 9"/>
          <p:cNvSpPr txBox="1"/>
          <p:nvPr/>
        </p:nvSpPr>
        <p:spPr>
          <a:xfrm>
            <a:off x="3337560" y="3108960"/>
            <a:ext cx="2651760" cy="640080"/>
          </a:xfrm>
          <a:prstGeom prst="rect">
            <a:avLst/>
          </a:prstGeom>
          <a:noFill/>
          <a:ln/>
        </p:spPr>
        <p:txBody>
          <a:bodyPr wrap="square" lIns="635" tIns="635" rIns="635" bIns="635" rtlCol="0" anchor="ctr"/>
          <a:lstStyle/>
          <a:p>
            <a:pPr indent="0" marL="0">
              <a:buNone/>
            </a:pPr>
            <a:r>
              <a:rPr lang="en-US" sz="1000" dirty="0">
                <a:solidFill>
                  <a:srgbClr val="5B6577"/>
                </a:solidFill>
              </a:rPr>
              <a:t>Order size
</a:t>
            </a:r>
            <a:pPr indent="0" marL="0">
              <a:buNone/>
            </a:pPr>
            <a:r>
              <a:rPr lang="en-US" sz="1400" b="1" dirty="0">
                <a:solidFill>
                  <a:srgbClr val="0B1F44"/>
                </a:solidFill>
              </a:rPr>
              <a:t>&gt; $50M</a:t>
            </a:r>
            <a:endParaRPr lang="en-US" sz="1400" dirty="0"/>
          </a:p>
        </p:txBody>
      </p:sp>
      <p:sp>
        <p:nvSpPr>
          <p:cNvPr id="13" name="Text 10"/>
          <p:cNvSpPr txBox="1"/>
          <p:nvPr/>
        </p:nvSpPr>
        <p:spPr>
          <a:xfrm>
            <a:off x="6126480" y="3108960"/>
            <a:ext cx="2651760" cy="640080"/>
          </a:xfrm>
          <a:prstGeom prst="rect">
            <a:avLst/>
          </a:prstGeom>
          <a:noFill/>
          <a:ln/>
        </p:spPr>
        <p:txBody>
          <a:bodyPr wrap="square" lIns="635" tIns="635" rIns="635" bIns="635" rtlCol="0" anchor="ctr"/>
          <a:lstStyle/>
          <a:p>
            <a:pPr indent="0" marL="0">
              <a:buNone/>
            </a:pPr>
            <a:r>
              <a:rPr lang="en-US" sz="1000" dirty="0">
                <a:solidFill>
                  <a:srgbClr val="5B6577"/>
                </a:solidFill>
              </a:rPr>
              <a:t>Market condition
</a:t>
            </a:r>
            <a:pPr indent="0" marL="0">
              <a:buNone/>
            </a:pPr>
            <a:r>
              <a:rPr lang="en-US" sz="1400" b="1" dirty="0">
                <a:solidFill>
                  <a:srgbClr val="0B1F44"/>
                </a:solidFill>
              </a:rPr>
              <a:t>High volatility</a:t>
            </a:r>
            <a:endParaRPr lang="en-US" sz="1400" dirty="0"/>
          </a:p>
        </p:txBody>
      </p:sp>
      <p:sp>
        <p:nvSpPr>
          <p:cNvPr id="14" name="Text 11"/>
          <p:cNvSpPr txBox="1"/>
          <p:nvPr/>
        </p:nvSpPr>
        <p:spPr>
          <a:xfrm>
            <a:off x="8915400" y="3108960"/>
            <a:ext cx="2651760" cy="640080"/>
          </a:xfrm>
          <a:prstGeom prst="rect">
            <a:avLst/>
          </a:prstGeom>
          <a:noFill/>
          <a:ln/>
        </p:spPr>
        <p:txBody>
          <a:bodyPr wrap="square" lIns="635" tIns="635" rIns="635" bIns="635" rtlCol="0" anchor="ctr"/>
          <a:lstStyle/>
          <a:p>
            <a:pPr indent="0" marL="0">
              <a:buNone/>
            </a:pPr>
            <a:r>
              <a:rPr lang="en-US" sz="1000" dirty="0">
                <a:solidFill>
                  <a:srgbClr val="5B6577"/>
                </a:solidFill>
              </a:rPr>
              <a:t>Execution method
</a:t>
            </a:r>
            <a:pPr indent="0" marL="0">
              <a:buNone/>
            </a:pPr>
            <a:r>
              <a:rPr lang="en-US" sz="1400" b="1" dirty="0">
                <a:solidFill>
                  <a:srgbClr val="0B1F44"/>
                </a:solidFill>
              </a:rPr>
              <a:t>Algo B</a:t>
            </a:r>
            <a:endParaRPr lang="en-US" sz="1400" dirty="0"/>
          </a:p>
        </p:txBody>
      </p:sp>
      <p:sp>
        <p:nvSpPr>
          <p:cNvPr id="15" name="Shape 12"/>
          <p:cNvSpPr/>
          <p:nvPr/>
        </p:nvSpPr>
        <p:spPr>
          <a:xfrm>
            <a:off x="548640" y="3931920"/>
            <a:ext cx="5394960" cy="2286000"/>
          </a:xfrm>
          <a:prstGeom prst="rect">
            <a:avLst>
              <a:gd name="adj" fmla="val 2400"/>
            </a:avLst>
          </a:prstGeom>
          <a:solidFill>
            <a:srgbClr val="FFFFFF"/>
          </a:solidFill>
          <a:ln w="12700">
            <a:solidFill>
              <a:srgbClr val="1E8E5A"/>
            </a:solidFill>
            <a:prstDash val="solid"/>
          </a:ln>
        </p:spPr>
      </p:sp>
      <p:sp>
        <p:nvSpPr>
          <p:cNvPr id="16" name="Shape 13"/>
          <p:cNvSpPr/>
          <p:nvPr/>
        </p:nvSpPr>
        <p:spPr>
          <a:xfrm>
            <a:off x="548640" y="3931920"/>
            <a:ext cx="5394960" cy="411480"/>
          </a:xfrm>
          <a:prstGeom prst="rect">
            <a:avLst/>
          </a:prstGeom>
          <a:solidFill>
            <a:srgbClr val="1E8E5A"/>
          </a:solidFill>
          <a:ln w="12700">
            <a:solidFill>
              <a:srgbClr val="1E8E5A"/>
            </a:solidFill>
            <a:prstDash val="solid"/>
          </a:ln>
        </p:spPr>
      </p:sp>
      <p:sp>
        <p:nvSpPr>
          <p:cNvPr id="17" name="Text 14"/>
          <p:cNvSpPr txBox="1"/>
          <p:nvPr/>
        </p:nvSpPr>
        <p:spPr>
          <a:xfrm>
            <a:off x="685800" y="3931920"/>
            <a:ext cx="2743200" cy="411480"/>
          </a:xfrm>
          <a:prstGeom prst="rect">
            <a:avLst/>
          </a:prstGeom>
          <a:noFill/>
          <a:ln/>
        </p:spPr>
        <p:txBody>
          <a:bodyPr wrap="square" lIns="635" tIns="635" rIns="635" bIns="635" rtlCol="0" anchor="ctr"/>
          <a:lstStyle/>
          <a:p>
            <a:pPr indent="0" marL="0">
              <a:buNone/>
            </a:pPr>
            <a:r>
              <a:rPr lang="en-US" sz="1300" b="1" dirty="0">
                <a:solidFill>
                  <a:srgbClr val="FFFFFF"/>
                </a:solidFill>
              </a:rPr>
              <a:t>ORIGINAL VALIDATION  |  March 2026</a:t>
            </a:r>
            <a:endParaRPr lang="en-US" sz="1300" dirty="0"/>
          </a:p>
        </p:txBody>
      </p:sp>
      <p:sp>
        <p:nvSpPr>
          <p:cNvPr id="18" name="Text 15"/>
          <p:cNvSpPr txBox="1"/>
          <p:nvPr/>
        </p:nvSpPr>
        <p:spPr>
          <a:xfrm>
            <a:off x="3291840" y="3931920"/>
            <a:ext cx="2514600" cy="411480"/>
          </a:xfrm>
          <a:prstGeom prst="rect">
            <a:avLst/>
          </a:prstGeom>
          <a:noFill/>
          <a:ln/>
        </p:spPr>
        <p:txBody>
          <a:bodyPr wrap="square" lIns="635" tIns="635" rIns="635" bIns="635" rtlCol="0" anchor="ctr"/>
          <a:lstStyle/>
          <a:p>
            <a:pPr algn="r" indent="0" marL="0">
              <a:buNone/>
            </a:pPr>
            <a:r>
              <a:rPr lang="en-US" sz="1300" b="1" dirty="0">
                <a:solidFill>
                  <a:srgbClr val="FFFFFF"/>
                </a:solidFill>
              </a:rPr>
              <a:t>SUPPORTED</a:t>
            </a:r>
            <a:endParaRPr lang="en-US" sz="1300" dirty="0"/>
          </a:p>
        </p:txBody>
      </p:sp>
      <p:sp>
        <p:nvSpPr>
          <p:cNvPr id="19" name="Text 16"/>
          <p:cNvSpPr txBox="1"/>
          <p:nvPr/>
        </p:nvSpPr>
        <p:spPr>
          <a:xfrm>
            <a:off x="731520" y="4434840"/>
            <a:ext cx="2377440" cy="1005840"/>
          </a:xfrm>
          <a:prstGeom prst="rect">
            <a:avLst/>
          </a:prstGeom>
          <a:noFill/>
          <a:ln/>
        </p:spPr>
        <p:txBody>
          <a:bodyPr wrap="square" lIns="635" tIns="635" rIns="635" bIns="635" rtlCol="0" anchor="ctr"/>
          <a:lstStyle/>
          <a:p>
            <a:pPr indent="0" marL="0">
              <a:buNone/>
            </a:pPr>
            <a:r>
              <a:rPr lang="en-US" sz="4400" b="1" dirty="0">
                <a:solidFill>
                  <a:srgbClr val="1E8E5A"/>
                </a:solidFill>
                <a:latin typeface="Georgia" pitchFamily="34" charset="0"/>
                <a:ea typeface="Georgia" pitchFamily="34" charset="-122"/>
                <a:cs typeface="Georgia" pitchFamily="34" charset="-120"/>
              </a:rPr>
              <a:t>+0.72 bps</a:t>
            </a:r>
            <a:endParaRPr lang="en-US" sz="4400" dirty="0"/>
          </a:p>
        </p:txBody>
      </p:sp>
      <p:sp>
        <p:nvSpPr>
          <p:cNvPr id="20" name="Text 17"/>
          <p:cNvSpPr txBox="1"/>
          <p:nvPr/>
        </p:nvSpPr>
        <p:spPr>
          <a:xfrm>
            <a:off x="731520" y="5394960"/>
            <a:ext cx="2560320" cy="320040"/>
          </a:xfrm>
          <a:prstGeom prst="rect">
            <a:avLst/>
          </a:prstGeom>
          <a:noFill/>
          <a:ln/>
        </p:spPr>
        <p:txBody>
          <a:bodyPr wrap="square" lIns="635" tIns="635" rIns="635" bIns="635" rtlCol="0" anchor="ctr"/>
          <a:lstStyle/>
          <a:p>
            <a:pPr indent="0" marL="0">
              <a:buNone/>
            </a:pPr>
            <a:r>
              <a:rPr lang="en-US" sz="1100" dirty="0">
                <a:solidFill>
                  <a:srgbClr val="5B6577"/>
                </a:solidFill>
              </a:rPr>
              <a:t>execution improvement</a:t>
            </a:r>
            <a:endParaRPr lang="en-US" sz="1100" dirty="0"/>
          </a:p>
        </p:txBody>
      </p:sp>
      <p:sp>
        <p:nvSpPr>
          <p:cNvPr id="21" name="Text 18"/>
          <p:cNvSpPr txBox="1"/>
          <p:nvPr/>
        </p:nvSpPr>
        <p:spPr>
          <a:xfrm>
            <a:off x="3291840" y="4480560"/>
            <a:ext cx="2286000" cy="1463040"/>
          </a:xfrm>
          <a:prstGeom prst="rect">
            <a:avLst/>
          </a:prstGeom>
          <a:noFill/>
          <a:ln/>
        </p:spPr>
        <p:txBody>
          <a:bodyPr wrap="square" lIns="635" tIns="635" rIns="635" bIns="635" rtlCol="0" anchor="t"/>
          <a:lstStyle/>
          <a:p>
            <a:pPr indent="0" marL="0">
              <a:buNone/>
            </a:pPr>
            <a:r>
              <a:rPr lang="en-US" sz="2000" b="1" dirty="0">
                <a:solidFill>
                  <a:srgbClr val="0B1F44"/>
                </a:solidFill>
              </a:rPr>
              <a:t>1,246
</a:t>
            </a:r>
            <a:pPr indent="0" marL="0">
              <a:buNone/>
            </a:pPr>
            <a:r>
              <a:rPr lang="en-US" sz="1100" dirty="0">
                <a:solidFill>
                  <a:srgbClr val="5B6577"/>
                </a:solidFill>
              </a:rPr>
              <a:t>comparable trades
</a:t>
            </a:r>
            <a:pPr indent="0" marL="0">
              <a:buNone/>
            </a:pPr>
            <a:r>
              <a:rPr lang="en-US" sz="1300" b="1" dirty="0">
                <a:solidFill>
                  <a:srgbClr val="0B1F44"/>
                </a:solidFill>
              </a:rPr>
              <a:t>Threshold: +0.25 bps</a:t>
            </a:r>
            <a:endParaRPr lang="en-US" sz="1400" dirty="0"/>
          </a:p>
        </p:txBody>
      </p:sp>
      <p:sp>
        <p:nvSpPr>
          <p:cNvPr id="22" name="Shape 19"/>
          <p:cNvSpPr/>
          <p:nvPr/>
        </p:nvSpPr>
        <p:spPr>
          <a:xfrm>
            <a:off x="6217920" y="3931920"/>
            <a:ext cx="5394960" cy="2286000"/>
          </a:xfrm>
          <a:prstGeom prst="rect">
            <a:avLst>
              <a:gd name="adj" fmla="val 2400"/>
            </a:avLst>
          </a:prstGeom>
          <a:solidFill>
            <a:srgbClr val="FFFFFF"/>
          </a:solidFill>
          <a:ln w="12700">
            <a:solidFill>
              <a:srgbClr val="C0392B"/>
            </a:solidFill>
            <a:prstDash val="solid"/>
          </a:ln>
        </p:spPr>
      </p:sp>
      <p:sp>
        <p:nvSpPr>
          <p:cNvPr id="23" name="Shape 20"/>
          <p:cNvSpPr/>
          <p:nvPr/>
        </p:nvSpPr>
        <p:spPr>
          <a:xfrm>
            <a:off x="6217920" y="3931920"/>
            <a:ext cx="5394960" cy="411480"/>
          </a:xfrm>
          <a:prstGeom prst="rect">
            <a:avLst/>
          </a:prstGeom>
          <a:solidFill>
            <a:srgbClr val="C0392B"/>
          </a:solidFill>
          <a:ln w="12700">
            <a:solidFill>
              <a:srgbClr val="C0392B"/>
            </a:solidFill>
            <a:prstDash val="solid"/>
          </a:ln>
        </p:spPr>
      </p:sp>
      <p:sp>
        <p:nvSpPr>
          <p:cNvPr id="24" name="Text 21"/>
          <p:cNvSpPr txBox="1"/>
          <p:nvPr/>
        </p:nvSpPr>
        <p:spPr>
          <a:xfrm>
            <a:off x="6355080" y="3931920"/>
            <a:ext cx="2743200" cy="411480"/>
          </a:xfrm>
          <a:prstGeom prst="rect">
            <a:avLst/>
          </a:prstGeom>
          <a:noFill/>
          <a:ln/>
        </p:spPr>
        <p:txBody>
          <a:bodyPr wrap="square" lIns="635" tIns="635" rIns="635" bIns="635" rtlCol="0" anchor="ctr"/>
          <a:lstStyle/>
          <a:p>
            <a:pPr indent="0" marL="0">
              <a:buNone/>
            </a:pPr>
            <a:r>
              <a:rPr lang="en-US" sz="1300" b="1" dirty="0">
                <a:solidFill>
                  <a:srgbClr val="FFFFFF"/>
                </a:solidFill>
              </a:rPr>
              <a:t>CURRENT EVIDENCE  |  September 2026</a:t>
            </a:r>
            <a:endParaRPr lang="en-US" sz="1300" dirty="0"/>
          </a:p>
        </p:txBody>
      </p:sp>
      <p:sp>
        <p:nvSpPr>
          <p:cNvPr id="25" name="Text 22"/>
          <p:cNvSpPr txBox="1"/>
          <p:nvPr/>
        </p:nvSpPr>
        <p:spPr>
          <a:xfrm>
            <a:off x="8961120" y="3931920"/>
            <a:ext cx="2514600" cy="411480"/>
          </a:xfrm>
          <a:prstGeom prst="rect">
            <a:avLst/>
          </a:prstGeom>
          <a:noFill/>
          <a:ln/>
        </p:spPr>
        <p:txBody>
          <a:bodyPr wrap="square" lIns="635" tIns="635" rIns="635" bIns="635" rtlCol="0" anchor="ctr"/>
          <a:lstStyle/>
          <a:p>
            <a:pPr algn="r" indent="0" marL="0">
              <a:buNone/>
            </a:pPr>
            <a:r>
              <a:rPr lang="en-US" sz="1300" b="1" dirty="0">
                <a:solidFill>
                  <a:srgbClr val="FFFFFF"/>
                </a:solidFill>
              </a:rPr>
              <a:t>REVIEW REQUIRED</a:t>
            </a:r>
            <a:endParaRPr lang="en-US" sz="1300" dirty="0"/>
          </a:p>
        </p:txBody>
      </p:sp>
      <p:sp>
        <p:nvSpPr>
          <p:cNvPr id="26" name="Text 23"/>
          <p:cNvSpPr txBox="1"/>
          <p:nvPr/>
        </p:nvSpPr>
        <p:spPr>
          <a:xfrm>
            <a:off x="6400800" y="4434840"/>
            <a:ext cx="2377440" cy="1005840"/>
          </a:xfrm>
          <a:prstGeom prst="rect">
            <a:avLst/>
          </a:prstGeom>
          <a:noFill/>
          <a:ln/>
        </p:spPr>
        <p:txBody>
          <a:bodyPr wrap="square" lIns="635" tIns="635" rIns="635" bIns="635" rtlCol="0" anchor="ctr"/>
          <a:lstStyle/>
          <a:p>
            <a:pPr indent="0" marL="0">
              <a:buNone/>
            </a:pPr>
            <a:r>
              <a:rPr lang="en-US" sz="4400" b="1" dirty="0">
                <a:solidFill>
                  <a:srgbClr val="C0392B"/>
                </a:solidFill>
                <a:latin typeface="Georgia" pitchFamily="34" charset="0"/>
                <a:ea typeface="Georgia" pitchFamily="34" charset="-122"/>
                <a:cs typeface="Georgia" pitchFamily="34" charset="-120"/>
              </a:rPr>
              <a:t>+0.11 bps</a:t>
            </a:r>
            <a:endParaRPr lang="en-US" sz="4400" dirty="0"/>
          </a:p>
        </p:txBody>
      </p:sp>
      <p:sp>
        <p:nvSpPr>
          <p:cNvPr id="27" name="Text 24"/>
          <p:cNvSpPr txBox="1"/>
          <p:nvPr/>
        </p:nvSpPr>
        <p:spPr>
          <a:xfrm>
            <a:off x="6400800" y="5394960"/>
            <a:ext cx="2560320" cy="320040"/>
          </a:xfrm>
          <a:prstGeom prst="rect">
            <a:avLst/>
          </a:prstGeom>
          <a:noFill/>
          <a:ln/>
        </p:spPr>
        <p:txBody>
          <a:bodyPr wrap="square" lIns="635" tIns="635" rIns="635" bIns="635" rtlCol="0" anchor="ctr"/>
          <a:lstStyle/>
          <a:p>
            <a:pPr indent="0" marL="0">
              <a:buNone/>
            </a:pPr>
            <a:r>
              <a:rPr lang="en-US" sz="1100" dirty="0">
                <a:solidFill>
                  <a:srgbClr val="5B6577"/>
                </a:solidFill>
              </a:rPr>
              <a:t>execution improvement</a:t>
            </a:r>
            <a:endParaRPr lang="en-US" sz="1100" dirty="0"/>
          </a:p>
        </p:txBody>
      </p:sp>
      <p:sp>
        <p:nvSpPr>
          <p:cNvPr id="28" name="Text 25"/>
          <p:cNvSpPr txBox="1"/>
          <p:nvPr/>
        </p:nvSpPr>
        <p:spPr>
          <a:xfrm>
            <a:off x="8961120" y="4480560"/>
            <a:ext cx="2286000" cy="1463040"/>
          </a:xfrm>
          <a:prstGeom prst="rect">
            <a:avLst/>
          </a:prstGeom>
          <a:noFill/>
          <a:ln/>
        </p:spPr>
        <p:txBody>
          <a:bodyPr wrap="square" lIns="635" tIns="635" rIns="635" bIns="635" rtlCol="0" anchor="t"/>
          <a:lstStyle/>
          <a:p>
            <a:pPr indent="0" marL="0">
              <a:buNone/>
            </a:pPr>
            <a:r>
              <a:rPr lang="en-US" sz="2000" b="1" dirty="0">
                <a:solidFill>
                  <a:srgbClr val="0B1F44"/>
                </a:solidFill>
              </a:rPr>
              <a:t>3,100
</a:t>
            </a:r>
            <a:pPr indent="0" marL="0">
              <a:buNone/>
            </a:pPr>
            <a:r>
              <a:rPr lang="en-US" sz="1100" dirty="0">
                <a:solidFill>
                  <a:srgbClr val="5B6577"/>
                </a:solidFill>
              </a:rPr>
              <a:t>comparable trades
</a:t>
            </a:r>
            <a:pPr indent="0" marL="0">
              <a:buNone/>
            </a:pPr>
            <a:r>
              <a:rPr lang="en-US" sz="1300" b="1" dirty="0">
                <a:solidFill>
                  <a:srgbClr val="0B1F44"/>
                </a:solidFill>
              </a:rPr>
              <a:t>Threshold: +0.25 bps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A5FD6"/>
          </a:solidFill>
          <a:ln w="12700">
            <a:solidFill>
              <a:srgbClr val="1A5FD6"/>
            </a:solidFill>
            <a:prstDash val="solid"/>
          </a:ln>
        </p:spPr>
      </p:sp>
      <p:sp>
        <p:nvSpPr>
          <p:cNvPr id="3" name="Text 1"/>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A5FD6"/>
                </a:solidFill>
              </a:rPr>
              <a:t>POLICY LIFECYCLE</a:t>
            </a:r>
            <a:endParaRPr lang="en-US" sz="1100" dirty="0"/>
          </a:p>
        </p:txBody>
      </p:sp>
      <p:sp>
        <p:nvSpPr>
          <p:cNvPr id="4" name="Text 2"/>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B1F44"/>
                </a:solidFill>
                <a:latin typeface="Georgia" pitchFamily="34" charset="0"/>
                <a:ea typeface="Georgia" pitchFamily="34" charset="-122"/>
                <a:cs typeface="Georgia" pitchFamily="34" charset="-120"/>
              </a:rPr>
              <a:t>What happens over time? The evidence moves, and the record does not</a:t>
            </a:r>
            <a:endParaRPr lang="en-US" sz="2600" dirty="0"/>
          </a:p>
        </p:txBody>
      </p:sp>
      <p:sp>
        <p:nvSpPr>
          <p:cNvPr id="5" name="Text 3"/>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5B6577"/>
                </a:solidFill>
              </a:rPr>
              <a:t>LSEG | Execution Policy Intelligence — internal product proposal | Illustrative scenario data</a:t>
            </a:r>
            <a:endParaRPr lang="en-US" sz="900" dirty="0"/>
          </a:p>
        </p:txBody>
      </p:sp>
      <p:sp>
        <p:nvSpPr>
          <p:cNvPr id="6" name="Text 4"/>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7"/>
                </a:solidFill>
              </a:rPr>
              <a:t>4</a:t>
            </a:r>
            <a:endParaRPr lang="en-US" sz="900" dirty="0"/>
          </a:p>
        </p:txBody>
      </p:sp>
      <p:sp>
        <p:nvSpPr>
          <p:cNvPr id="8" name="Shape 5"/>
          <p:cNvSpPr/>
          <p:nvPr/>
        </p:nvSpPr>
        <p:spPr>
          <a:xfrm>
            <a:off x="822960" y="2331720"/>
            <a:ext cx="10515600" cy="0"/>
          </a:xfrm>
          <a:prstGeom prst="line">
            <a:avLst/>
          </a:prstGeom>
          <a:noFill/>
          <a:ln w="38100">
            <a:solidFill>
              <a:srgbClr val="D5DCE8"/>
            </a:solidFill>
            <a:prstDash val="solid"/>
          </a:ln>
        </p:spPr>
      </p:sp>
      <p:sp>
        <p:nvSpPr>
          <p:cNvPr id="9" name="Shape 6"/>
          <p:cNvSpPr/>
          <p:nvPr/>
        </p:nvSpPr>
        <p:spPr>
          <a:xfrm>
            <a:off x="694944" y="2203704"/>
            <a:ext cx="256032" cy="256032"/>
          </a:xfrm>
          <a:prstGeom prst="ellipse">
            <a:avLst/>
          </a:prstGeom>
          <a:solidFill>
            <a:srgbClr val="1A5FD6"/>
          </a:solidFill>
          <a:ln w="25400">
            <a:solidFill>
              <a:srgbClr val="FFFFFF"/>
            </a:solidFill>
            <a:prstDash val="solid"/>
          </a:ln>
        </p:spPr>
      </p:sp>
      <p:sp>
        <p:nvSpPr>
          <p:cNvPr id="10" name="Text 7"/>
          <p:cNvSpPr txBox="1"/>
          <p:nvPr/>
        </p:nvSpPr>
        <p:spPr>
          <a:xfrm>
            <a:off x="91440" y="1691640"/>
            <a:ext cx="1463040" cy="365760"/>
          </a:xfrm>
          <a:prstGeom prst="rect">
            <a:avLst/>
          </a:prstGeom>
          <a:noFill/>
          <a:ln/>
        </p:spPr>
        <p:txBody>
          <a:bodyPr wrap="square" lIns="635" tIns="635" rIns="635" bIns="635" rtlCol="0" anchor="ctr"/>
          <a:lstStyle/>
          <a:p>
            <a:pPr algn="ctr" indent="0" marL="0">
              <a:buNone/>
            </a:pPr>
            <a:r>
              <a:rPr lang="en-US" sz="1300" b="1" dirty="0">
                <a:solidFill>
                  <a:srgbClr val="1A5FD6"/>
                </a:solidFill>
              </a:rPr>
              <a:t>Mar 2026</a:t>
            </a:r>
            <a:endParaRPr lang="en-US" sz="1300" dirty="0"/>
          </a:p>
        </p:txBody>
      </p:sp>
      <p:sp>
        <p:nvSpPr>
          <p:cNvPr id="11" name="Text 8"/>
          <p:cNvSpPr txBox="1"/>
          <p:nvPr/>
        </p:nvSpPr>
        <p:spPr>
          <a:xfrm>
            <a:off x="0" y="2560320"/>
            <a:ext cx="1645920" cy="548640"/>
          </a:xfrm>
          <a:prstGeom prst="rect">
            <a:avLst/>
          </a:prstGeom>
          <a:noFill/>
          <a:ln/>
        </p:spPr>
        <p:txBody>
          <a:bodyPr wrap="square" lIns="635" tIns="635" rIns="635" bIns="635" rtlCol="0" anchor="t"/>
          <a:lstStyle/>
          <a:p>
            <a:pPr algn="ctr" indent="0" marL="0">
              <a:buNone/>
            </a:pPr>
            <a:r>
              <a:rPr lang="en-US" sz="1300" dirty="0">
                <a:solidFill>
                  <a:srgbClr val="0B1F44"/>
                </a:solidFill>
              </a:rPr>
              <a:t>Policy created</a:t>
            </a:r>
            <a:endParaRPr lang="en-US" sz="1300" dirty="0"/>
          </a:p>
        </p:txBody>
      </p:sp>
      <p:sp>
        <p:nvSpPr>
          <p:cNvPr id="12" name="Shape 9"/>
          <p:cNvSpPr/>
          <p:nvPr/>
        </p:nvSpPr>
        <p:spPr>
          <a:xfrm>
            <a:off x="3300984" y="2203704"/>
            <a:ext cx="256032" cy="256032"/>
          </a:xfrm>
          <a:prstGeom prst="ellipse">
            <a:avLst/>
          </a:prstGeom>
          <a:solidFill>
            <a:srgbClr val="1A5FD6"/>
          </a:solidFill>
          <a:ln w="25400">
            <a:solidFill>
              <a:srgbClr val="FFFFFF"/>
            </a:solidFill>
            <a:prstDash val="solid"/>
          </a:ln>
        </p:spPr>
      </p:sp>
      <p:sp>
        <p:nvSpPr>
          <p:cNvPr id="13" name="Text 10"/>
          <p:cNvSpPr txBox="1"/>
          <p:nvPr/>
        </p:nvSpPr>
        <p:spPr>
          <a:xfrm>
            <a:off x="2697480" y="1691640"/>
            <a:ext cx="1463040" cy="365760"/>
          </a:xfrm>
          <a:prstGeom prst="rect">
            <a:avLst/>
          </a:prstGeom>
          <a:noFill/>
          <a:ln/>
        </p:spPr>
        <p:txBody>
          <a:bodyPr wrap="square" lIns="635" tIns="635" rIns="635" bIns="635" rtlCol="0" anchor="ctr"/>
          <a:lstStyle/>
          <a:p>
            <a:pPr algn="ctr" indent="0" marL="0">
              <a:buNone/>
            </a:pPr>
            <a:r>
              <a:rPr lang="en-US" sz="1300" b="1" dirty="0">
                <a:solidFill>
                  <a:srgbClr val="1A5FD6"/>
                </a:solidFill>
              </a:rPr>
              <a:t>Apr</a:t>
            </a:r>
            <a:endParaRPr lang="en-US" sz="1300" dirty="0"/>
          </a:p>
        </p:txBody>
      </p:sp>
      <p:sp>
        <p:nvSpPr>
          <p:cNvPr id="14" name="Text 11"/>
          <p:cNvSpPr txBox="1"/>
          <p:nvPr/>
        </p:nvSpPr>
        <p:spPr>
          <a:xfrm>
            <a:off x="2606040" y="2560320"/>
            <a:ext cx="1645920" cy="548640"/>
          </a:xfrm>
          <a:prstGeom prst="rect">
            <a:avLst/>
          </a:prstGeom>
          <a:noFill/>
          <a:ln/>
        </p:spPr>
        <p:txBody>
          <a:bodyPr wrap="square" lIns="635" tIns="635" rIns="635" bIns="635" rtlCol="0" anchor="t"/>
          <a:lstStyle/>
          <a:p>
            <a:pPr algn="ctr" indent="0" marL="0">
              <a:buNone/>
            </a:pPr>
            <a:r>
              <a:rPr lang="en-US" sz="1300" dirty="0">
                <a:solidFill>
                  <a:srgbClr val="0B1F44"/>
                </a:solidFill>
              </a:rPr>
              <a:t>Approved</a:t>
            </a:r>
            <a:endParaRPr lang="en-US" sz="1300" dirty="0"/>
          </a:p>
        </p:txBody>
      </p:sp>
      <p:sp>
        <p:nvSpPr>
          <p:cNvPr id="15" name="Shape 12"/>
          <p:cNvSpPr/>
          <p:nvPr/>
        </p:nvSpPr>
        <p:spPr>
          <a:xfrm>
            <a:off x="5907024" y="2203704"/>
            <a:ext cx="256032" cy="256032"/>
          </a:xfrm>
          <a:prstGeom prst="ellipse">
            <a:avLst/>
          </a:prstGeom>
          <a:solidFill>
            <a:srgbClr val="1A5FD6"/>
          </a:solidFill>
          <a:ln w="25400">
            <a:solidFill>
              <a:srgbClr val="FFFFFF"/>
            </a:solidFill>
            <a:prstDash val="solid"/>
          </a:ln>
        </p:spPr>
      </p:sp>
      <p:sp>
        <p:nvSpPr>
          <p:cNvPr id="16" name="Text 13"/>
          <p:cNvSpPr txBox="1"/>
          <p:nvPr/>
        </p:nvSpPr>
        <p:spPr>
          <a:xfrm>
            <a:off x="5303520" y="1691640"/>
            <a:ext cx="1463040" cy="365760"/>
          </a:xfrm>
          <a:prstGeom prst="rect">
            <a:avLst/>
          </a:prstGeom>
          <a:noFill/>
          <a:ln/>
        </p:spPr>
        <p:txBody>
          <a:bodyPr wrap="square" lIns="635" tIns="635" rIns="635" bIns="635" rtlCol="0" anchor="ctr"/>
          <a:lstStyle/>
          <a:p>
            <a:pPr algn="ctr" indent="0" marL="0">
              <a:buNone/>
            </a:pPr>
            <a:r>
              <a:rPr lang="en-US" sz="1300" b="1" dirty="0">
                <a:solidFill>
                  <a:srgbClr val="1A5FD6"/>
                </a:solidFill>
              </a:rPr>
              <a:t>Jun</a:t>
            </a:r>
            <a:endParaRPr lang="en-US" sz="1300" dirty="0"/>
          </a:p>
        </p:txBody>
      </p:sp>
      <p:sp>
        <p:nvSpPr>
          <p:cNvPr id="17" name="Text 14"/>
          <p:cNvSpPr txBox="1"/>
          <p:nvPr/>
        </p:nvSpPr>
        <p:spPr>
          <a:xfrm>
            <a:off x="5212080" y="2560320"/>
            <a:ext cx="1645920" cy="548640"/>
          </a:xfrm>
          <a:prstGeom prst="rect">
            <a:avLst/>
          </a:prstGeom>
          <a:noFill/>
          <a:ln/>
        </p:spPr>
        <p:txBody>
          <a:bodyPr wrap="square" lIns="635" tIns="635" rIns="635" bIns="635" rtlCol="0" anchor="t"/>
          <a:lstStyle/>
          <a:p>
            <a:pPr algn="ctr" indent="0" marL="0">
              <a:buNone/>
            </a:pPr>
            <a:r>
              <a:rPr lang="en-US" sz="1300" dirty="0">
                <a:solidFill>
                  <a:srgbClr val="0B1F44"/>
                </a:solidFill>
              </a:rPr>
              <a:t>Reviewed</a:t>
            </a:r>
            <a:endParaRPr lang="en-US" sz="1300" dirty="0"/>
          </a:p>
        </p:txBody>
      </p:sp>
      <p:sp>
        <p:nvSpPr>
          <p:cNvPr id="18" name="Shape 15"/>
          <p:cNvSpPr/>
          <p:nvPr/>
        </p:nvSpPr>
        <p:spPr>
          <a:xfrm>
            <a:off x="8513064" y="2203704"/>
            <a:ext cx="256032" cy="256032"/>
          </a:xfrm>
          <a:prstGeom prst="ellipse">
            <a:avLst/>
          </a:prstGeom>
          <a:solidFill>
            <a:srgbClr val="C77D00"/>
          </a:solidFill>
          <a:ln w="25400">
            <a:solidFill>
              <a:srgbClr val="FFFFFF"/>
            </a:solidFill>
            <a:prstDash val="solid"/>
          </a:ln>
        </p:spPr>
      </p:sp>
      <p:sp>
        <p:nvSpPr>
          <p:cNvPr id="19" name="Text 16"/>
          <p:cNvSpPr txBox="1"/>
          <p:nvPr/>
        </p:nvSpPr>
        <p:spPr>
          <a:xfrm>
            <a:off x="7909560" y="1691640"/>
            <a:ext cx="1463040" cy="365760"/>
          </a:xfrm>
          <a:prstGeom prst="rect">
            <a:avLst/>
          </a:prstGeom>
          <a:noFill/>
          <a:ln/>
        </p:spPr>
        <p:txBody>
          <a:bodyPr wrap="square" lIns="635" tIns="635" rIns="635" bIns="635" rtlCol="0" anchor="ctr"/>
          <a:lstStyle/>
          <a:p>
            <a:pPr algn="ctr" indent="0" marL="0">
              <a:buNone/>
            </a:pPr>
            <a:r>
              <a:rPr lang="en-US" sz="1300" b="1" dirty="0">
                <a:solidFill>
                  <a:srgbClr val="C77D00"/>
                </a:solidFill>
              </a:rPr>
              <a:t>Sep</a:t>
            </a:r>
            <a:endParaRPr lang="en-US" sz="1300" dirty="0"/>
          </a:p>
        </p:txBody>
      </p:sp>
      <p:sp>
        <p:nvSpPr>
          <p:cNvPr id="20" name="Text 17"/>
          <p:cNvSpPr txBox="1"/>
          <p:nvPr/>
        </p:nvSpPr>
        <p:spPr>
          <a:xfrm>
            <a:off x="7818120" y="2560320"/>
            <a:ext cx="1645920" cy="548640"/>
          </a:xfrm>
          <a:prstGeom prst="rect">
            <a:avLst/>
          </a:prstGeom>
          <a:noFill/>
          <a:ln/>
        </p:spPr>
        <p:txBody>
          <a:bodyPr wrap="square" lIns="635" tIns="635" rIns="635" bIns="635" rtlCol="0" anchor="t"/>
          <a:lstStyle/>
          <a:p>
            <a:pPr algn="ctr" indent="0" marL="0">
              <a:buNone/>
            </a:pPr>
            <a:r>
              <a:rPr lang="en-US" sz="1300" dirty="0">
                <a:solidFill>
                  <a:srgbClr val="0B1F44"/>
                </a:solidFill>
              </a:rPr>
              <a:t>Evidence deteriorates</a:t>
            </a:r>
            <a:endParaRPr lang="en-US" sz="1300" dirty="0"/>
          </a:p>
        </p:txBody>
      </p:sp>
      <p:sp>
        <p:nvSpPr>
          <p:cNvPr id="21" name="Shape 18"/>
          <p:cNvSpPr/>
          <p:nvPr/>
        </p:nvSpPr>
        <p:spPr>
          <a:xfrm>
            <a:off x="11119104" y="2203704"/>
            <a:ext cx="256032" cy="256032"/>
          </a:xfrm>
          <a:prstGeom prst="ellipse">
            <a:avLst/>
          </a:prstGeom>
          <a:solidFill>
            <a:srgbClr val="C0392B"/>
          </a:solidFill>
          <a:ln w="25400">
            <a:solidFill>
              <a:srgbClr val="FFFFFF"/>
            </a:solidFill>
            <a:prstDash val="solid"/>
          </a:ln>
        </p:spPr>
      </p:sp>
      <p:sp>
        <p:nvSpPr>
          <p:cNvPr id="22" name="Text 19"/>
          <p:cNvSpPr txBox="1"/>
          <p:nvPr/>
        </p:nvSpPr>
        <p:spPr>
          <a:xfrm>
            <a:off x="10515600" y="1691640"/>
            <a:ext cx="1463040" cy="365760"/>
          </a:xfrm>
          <a:prstGeom prst="rect">
            <a:avLst/>
          </a:prstGeom>
          <a:noFill/>
          <a:ln/>
        </p:spPr>
        <p:txBody>
          <a:bodyPr wrap="square" lIns="635" tIns="635" rIns="635" bIns="635" rtlCol="0" anchor="ctr"/>
          <a:lstStyle/>
          <a:p>
            <a:pPr algn="ctr" indent="0" marL="0">
              <a:buNone/>
            </a:pPr>
            <a:r>
              <a:rPr lang="en-US" sz="1300" b="1" dirty="0">
                <a:solidFill>
                  <a:srgbClr val="C0392B"/>
                </a:solidFill>
              </a:rPr>
              <a:t>Sep</a:t>
            </a:r>
            <a:endParaRPr lang="en-US" sz="1300" dirty="0"/>
          </a:p>
        </p:txBody>
      </p:sp>
      <p:sp>
        <p:nvSpPr>
          <p:cNvPr id="23" name="Text 20"/>
          <p:cNvSpPr txBox="1"/>
          <p:nvPr/>
        </p:nvSpPr>
        <p:spPr>
          <a:xfrm>
            <a:off x="10424160" y="2560320"/>
            <a:ext cx="1645920" cy="548640"/>
          </a:xfrm>
          <a:prstGeom prst="rect">
            <a:avLst/>
          </a:prstGeom>
          <a:noFill/>
          <a:ln/>
        </p:spPr>
        <p:txBody>
          <a:bodyPr wrap="square" lIns="635" tIns="635" rIns="635" bIns="635" rtlCol="0" anchor="t"/>
          <a:lstStyle/>
          <a:p>
            <a:pPr algn="ctr" indent="0" marL="0">
              <a:buNone/>
            </a:pPr>
            <a:r>
              <a:rPr lang="en-US" sz="1300" dirty="0">
                <a:solidFill>
                  <a:srgbClr val="0B1F44"/>
                </a:solidFill>
              </a:rPr>
              <a:t>Review required</a:t>
            </a:r>
            <a:endParaRPr lang="en-US" sz="1300" dirty="0"/>
          </a:p>
        </p:txBody>
      </p:sp>
      <p:graphicFrame>
        <p:nvGraphicFramePr>
          <p:cNvPr id="24" name="Chart 0" descr=""/>
          <p:cNvGraphicFramePr/>
          <p:nvPr/>
        </p:nvGraphicFramePr>
        <p:xfrm>
          <a:off x="548640" y="3291840"/>
          <a:ext cx="5852160" cy="3017520"/>
        </p:xfrm>
        <a:graphic xmlns:a="http://schemas.openxmlformats.org/drawingml/2006/main">
          <a:graphicData uri="http://schemas.openxmlformats.org/drawingml/2006/chart">
            <c:chart xmlns:c="http://schemas.openxmlformats.org/drawingml/2006/chart" r:id="rId1"/>
          </a:graphicData>
        </a:graphic>
      </p:graphicFrame>
      <p:sp>
        <p:nvSpPr>
          <p:cNvPr id="25" name="Shape 21"/>
          <p:cNvSpPr/>
          <p:nvPr/>
        </p:nvSpPr>
        <p:spPr>
          <a:xfrm>
            <a:off x="6766560" y="3383280"/>
            <a:ext cx="4846320" cy="2743200"/>
          </a:xfrm>
          <a:prstGeom prst="rect">
            <a:avLst>
              <a:gd name="adj" fmla="val 2000"/>
            </a:avLst>
          </a:prstGeom>
          <a:solidFill>
            <a:srgbClr val="F2F5FA"/>
          </a:solidFill>
          <a:ln w="12700">
            <a:solidFill>
              <a:srgbClr val="D5DCE8"/>
            </a:solidFill>
            <a:prstDash val="solid"/>
          </a:ln>
        </p:spPr>
      </p:sp>
      <p:sp>
        <p:nvSpPr>
          <p:cNvPr id="26" name="Text 22"/>
          <p:cNvSpPr txBox="1"/>
          <p:nvPr/>
        </p:nvSpPr>
        <p:spPr>
          <a:xfrm>
            <a:off x="6949440" y="3474720"/>
            <a:ext cx="4572000" cy="365760"/>
          </a:xfrm>
          <a:prstGeom prst="rect">
            <a:avLst/>
          </a:prstGeom>
          <a:noFill/>
          <a:ln/>
        </p:spPr>
        <p:txBody>
          <a:bodyPr wrap="square" lIns="635" tIns="635" rIns="635" bIns="635" rtlCol="0" anchor="ctr"/>
          <a:lstStyle/>
          <a:p>
            <a:pPr indent="0" marL="0">
              <a:buNone/>
            </a:pPr>
            <a:r>
              <a:rPr lang="en-US" sz="1500" b="1" dirty="0">
                <a:solidFill>
                  <a:srgbClr val="0B1F44"/>
                </a:solidFill>
              </a:rPr>
              <a:t>Without a persistent policy layer</a:t>
            </a:r>
            <a:endParaRPr lang="en-US" sz="1500" dirty="0"/>
          </a:p>
        </p:txBody>
      </p:sp>
      <p:sp>
        <p:nvSpPr>
          <p:cNvPr id="27" name="Text 23"/>
          <p:cNvSpPr txBox="1"/>
          <p:nvPr/>
        </p:nvSpPr>
        <p:spPr>
          <a:xfrm>
            <a:off x="6949440" y="3931920"/>
            <a:ext cx="4480560" cy="210312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5B6577"/>
                </a:solidFill>
              </a:rPr>
              <a:t>Evidence lives in TCA exports, notebooks and slide decks</a:t>
            </a:r>
            <a:endParaRPr lang="en-US" sz="1300" dirty="0"/>
          </a:p>
          <a:p>
            <a:pPr marL="342900" indent="-342900">
              <a:spcAft>
                <a:spcPts val="600"/>
              </a:spcAft>
              <a:buSzPct val="100000"/>
              <a:buChar char="•"/>
            </a:pPr>
            <a:r>
              <a:rPr lang="en-US" sz="1300" dirty="0">
                <a:solidFill>
                  <a:srgbClr val="5B6577"/>
                </a:solidFill>
              </a:rPr>
              <a:t>Thresholds and rationale are hard to retrieve later</a:t>
            </a:r>
            <a:endParaRPr lang="en-US" sz="1300" dirty="0"/>
          </a:p>
          <a:p>
            <a:pPr marL="342900" indent="-342900">
              <a:spcAft>
                <a:spcPts val="600"/>
              </a:spcAft>
              <a:buSzPct val="100000"/>
              <a:buChar char="•"/>
            </a:pPr>
            <a:r>
              <a:rPr lang="en-US" sz="1300" dirty="0">
                <a:solidFill>
                  <a:srgbClr val="5B6577"/>
                </a:solidFill>
              </a:rPr>
              <a:t>Review timing depends on people remembering</a:t>
            </a:r>
            <a:endParaRPr lang="en-US" sz="1300" dirty="0"/>
          </a:p>
          <a:p>
            <a:pPr marL="342900" indent="-342900">
              <a:spcAft>
                <a:spcPts val="600"/>
              </a:spcAft>
              <a:buSzPct val="100000"/>
              <a:buChar char="•"/>
            </a:pPr>
            <a:r>
              <a:rPr lang="en-US" sz="1300" dirty="0">
                <a:solidFill>
                  <a:srgbClr val="5B6577"/>
                </a:solidFill>
              </a:rPr>
              <a:t>Decisions and reasons are not linked to evidence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A5FD6"/>
          </a:solidFill>
          <a:ln w="12700">
            <a:solidFill>
              <a:srgbClr val="1A5FD6"/>
            </a:solidFill>
            <a:prstDash val="solid"/>
          </a:ln>
        </p:spPr>
      </p:sp>
      <p:sp>
        <p:nvSpPr>
          <p:cNvPr id="3" name="Text 1"/>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A5FD6"/>
                </a:solidFill>
              </a:rPr>
              <a:t>THE PROPOSAL</a:t>
            </a:r>
            <a:endParaRPr lang="en-US" sz="1100" dirty="0"/>
          </a:p>
        </p:txBody>
      </p:sp>
      <p:sp>
        <p:nvSpPr>
          <p:cNvPr id="4" name="Text 2"/>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B1F44"/>
                </a:solidFill>
                <a:latin typeface="Georgia" pitchFamily="34" charset="0"/>
                <a:ea typeface="Georgia" pitchFamily="34" charset="-122"/>
                <a:cs typeface="Georgia" pitchFamily="34" charset="-120"/>
              </a:rPr>
              <a:t>The proposed product: an Execution Policy Register, powered by Tradefeedr evidence</a:t>
            </a:r>
            <a:endParaRPr lang="en-US" sz="2600" dirty="0"/>
          </a:p>
        </p:txBody>
      </p:sp>
      <p:sp>
        <p:nvSpPr>
          <p:cNvPr id="5" name="Text 3"/>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5B6577"/>
                </a:solidFill>
              </a:rPr>
              <a:t>LSEG | Execution Policy Intelligence — internal product proposal | Illustrative scenario data</a:t>
            </a:r>
            <a:endParaRPr lang="en-US" sz="900" dirty="0"/>
          </a:p>
        </p:txBody>
      </p:sp>
      <p:sp>
        <p:nvSpPr>
          <p:cNvPr id="6" name="Text 4"/>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7"/>
                </a:solidFill>
              </a:rPr>
              <a:t>5</a:t>
            </a:r>
            <a:endParaRPr lang="en-US" sz="900" dirty="0"/>
          </a:p>
        </p:txBody>
      </p:sp>
      <p:sp>
        <p:nvSpPr>
          <p:cNvPr id="8" name="Shape 5"/>
          <p:cNvSpPr/>
          <p:nvPr/>
        </p:nvSpPr>
        <p:spPr>
          <a:xfrm>
            <a:off x="548640" y="1645920"/>
            <a:ext cx="11064240" cy="914400"/>
          </a:xfrm>
          <a:prstGeom prst="rect">
            <a:avLst>
              <a:gd name="adj" fmla="val 6000"/>
            </a:avLst>
          </a:prstGeom>
          <a:solidFill>
            <a:srgbClr val="F2F5FA"/>
          </a:solidFill>
          <a:ln w="12700">
            <a:solidFill>
              <a:srgbClr val="D5DCE8"/>
            </a:solidFill>
            <a:prstDash val="solid"/>
          </a:ln>
        </p:spPr>
      </p:sp>
      <p:sp>
        <p:nvSpPr>
          <p:cNvPr id="9" name="Text 6"/>
          <p:cNvSpPr txBox="1"/>
          <p:nvPr/>
        </p:nvSpPr>
        <p:spPr>
          <a:xfrm>
            <a:off x="548640" y="1645920"/>
            <a:ext cx="11064240" cy="914400"/>
          </a:xfrm>
          <a:prstGeom prst="rect">
            <a:avLst/>
          </a:prstGeom>
          <a:noFill/>
          <a:ln/>
        </p:spPr>
        <p:txBody>
          <a:bodyPr wrap="square" lIns="635" tIns="635" rIns="635" bIns="635" rtlCol="0" anchor="ctr"/>
          <a:lstStyle/>
          <a:p>
            <a:pPr algn="ctr" indent="0" marL="0">
              <a:buNone/>
            </a:pPr>
            <a:r>
              <a:rPr lang="en-US" sz="1500" b="1" dirty="0">
                <a:solidFill>
                  <a:srgbClr val="1A5FD6"/>
                </a:solidFill>
              </a:rPr>
              <a:t>Policy Review Center   |   Policy status   |   AI evidence explanation   |   Human decision workflow</a:t>
            </a:r>
            <a:endParaRPr lang="en-US" sz="1500" dirty="0"/>
          </a:p>
        </p:txBody>
      </p:sp>
      <p:sp>
        <p:nvSpPr>
          <p:cNvPr id="10" name="Shape 7"/>
          <p:cNvSpPr/>
          <p:nvPr/>
        </p:nvSpPr>
        <p:spPr>
          <a:xfrm>
            <a:off x="548640" y="2788920"/>
            <a:ext cx="11064240" cy="1554480"/>
          </a:xfrm>
          <a:prstGeom prst="rect">
            <a:avLst>
              <a:gd name="adj" fmla="val 3529"/>
            </a:avLst>
          </a:prstGeom>
          <a:solidFill>
            <a:srgbClr val="0B1F44"/>
          </a:solidFill>
          <a:ln w="12700">
            <a:solidFill>
              <a:srgbClr val="0B1F44"/>
            </a:solidFill>
            <a:prstDash val="solid"/>
          </a:ln>
        </p:spPr>
      </p:sp>
      <p:sp>
        <p:nvSpPr>
          <p:cNvPr id="11" name="Text 8"/>
          <p:cNvSpPr txBox="1"/>
          <p:nvPr/>
        </p:nvSpPr>
        <p:spPr>
          <a:xfrm>
            <a:off x="822960" y="2834640"/>
            <a:ext cx="5486400" cy="365760"/>
          </a:xfrm>
          <a:prstGeom prst="rect">
            <a:avLst/>
          </a:prstGeom>
          <a:noFill/>
          <a:ln/>
        </p:spPr>
        <p:txBody>
          <a:bodyPr wrap="square" lIns="635" tIns="635" rIns="635" bIns="635" rtlCol="0" anchor="ctr"/>
          <a:lstStyle/>
          <a:p>
            <a:pPr indent="0" marL="0">
              <a:buNone/>
            </a:pPr>
            <a:r>
              <a:rPr lang="en-US" sz="1200" b="1" dirty="0">
                <a:solidFill>
                  <a:srgbClr val="8FB4FF"/>
                </a:solidFill>
              </a:rPr>
              <a:t>EXECUTION POLICY REGISTER</a:t>
            </a:r>
            <a:endParaRPr lang="en-US" sz="1200" dirty="0"/>
          </a:p>
        </p:txBody>
      </p:sp>
      <p:sp>
        <p:nvSpPr>
          <p:cNvPr id="12" name="Shape 9"/>
          <p:cNvSpPr/>
          <p:nvPr/>
        </p:nvSpPr>
        <p:spPr>
          <a:xfrm>
            <a:off x="822960" y="3291840"/>
            <a:ext cx="1920240" cy="868680"/>
          </a:xfrm>
          <a:prstGeom prst="roundRect">
            <a:avLst>
              <a:gd name="adj" fmla="val 6316"/>
            </a:avLst>
          </a:prstGeom>
          <a:solidFill>
            <a:srgbClr val="FFFFFF"/>
          </a:solidFill>
          <a:ln w="12700">
            <a:solidFill>
              <a:srgbClr val="FFFFFF"/>
            </a:solidFill>
            <a:prstDash val="solid"/>
          </a:ln>
        </p:spPr>
      </p:sp>
      <p:sp>
        <p:nvSpPr>
          <p:cNvPr id="13" name="Text 10"/>
          <p:cNvSpPr txBox="1"/>
          <p:nvPr/>
        </p:nvSpPr>
        <p:spPr>
          <a:xfrm>
            <a:off x="822960" y="3291840"/>
            <a:ext cx="1920240" cy="868680"/>
          </a:xfrm>
          <a:prstGeom prst="rect">
            <a:avLst/>
          </a:prstGeom>
          <a:noFill/>
          <a:ln/>
        </p:spPr>
        <p:txBody>
          <a:bodyPr wrap="square" lIns="635" tIns="635" rIns="635" bIns="635" rtlCol="0" anchor="ctr"/>
          <a:lstStyle/>
          <a:p>
            <a:pPr algn="ctr" indent="0" marL="0">
              <a:buNone/>
            </a:pPr>
            <a:r>
              <a:rPr lang="en-US" sz="1250" b="1" dirty="0">
                <a:solidFill>
                  <a:srgbClr val="0B1F44"/>
                </a:solidFill>
              </a:rPr>
              <a:t>What policies exist</a:t>
            </a:r>
            <a:endParaRPr lang="en-US" sz="1250" dirty="0"/>
          </a:p>
        </p:txBody>
      </p:sp>
      <p:sp>
        <p:nvSpPr>
          <p:cNvPr id="14" name="Shape 11"/>
          <p:cNvSpPr/>
          <p:nvPr/>
        </p:nvSpPr>
        <p:spPr>
          <a:xfrm>
            <a:off x="2926080" y="3291840"/>
            <a:ext cx="1920240" cy="868680"/>
          </a:xfrm>
          <a:prstGeom prst="roundRect">
            <a:avLst>
              <a:gd name="adj" fmla="val 6316"/>
            </a:avLst>
          </a:prstGeom>
          <a:solidFill>
            <a:srgbClr val="FFFFFF"/>
          </a:solidFill>
          <a:ln w="12700">
            <a:solidFill>
              <a:srgbClr val="FFFFFF"/>
            </a:solidFill>
            <a:prstDash val="solid"/>
          </a:ln>
        </p:spPr>
      </p:sp>
      <p:sp>
        <p:nvSpPr>
          <p:cNvPr id="15" name="Text 12"/>
          <p:cNvSpPr txBox="1"/>
          <p:nvPr/>
        </p:nvSpPr>
        <p:spPr>
          <a:xfrm>
            <a:off x="2926080" y="3291840"/>
            <a:ext cx="1920240" cy="868680"/>
          </a:xfrm>
          <a:prstGeom prst="rect">
            <a:avLst/>
          </a:prstGeom>
          <a:noFill/>
          <a:ln/>
        </p:spPr>
        <p:txBody>
          <a:bodyPr wrap="square" lIns="635" tIns="635" rIns="635" bIns="635" rtlCol="0" anchor="ctr"/>
          <a:lstStyle/>
          <a:p>
            <a:pPr algn="ctr" indent="0" marL="0">
              <a:buNone/>
            </a:pPr>
            <a:r>
              <a:rPr lang="en-US" sz="1250" b="1" dirty="0">
                <a:solidFill>
                  <a:srgbClr val="0B1F44"/>
                </a:solidFill>
              </a:rPr>
              <a:t>Why created</a:t>
            </a:r>
            <a:endParaRPr lang="en-US" sz="1250" dirty="0"/>
          </a:p>
        </p:txBody>
      </p:sp>
      <p:sp>
        <p:nvSpPr>
          <p:cNvPr id="16" name="Shape 13"/>
          <p:cNvSpPr/>
          <p:nvPr/>
        </p:nvSpPr>
        <p:spPr>
          <a:xfrm>
            <a:off x="5029200" y="3291840"/>
            <a:ext cx="1920240" cy="868680"/>
          </a:xfrm>
          <a:prstGeom prst="roundRect">
            <a:avLst>
              <a:gd name="adj" fmla="val 6316"/>
            </a:avLst>
          </a:prstGeom>
          <a:solidFill>
            <a:srgbClr val="FFFFFF"/>
          </a:solidFill>
          <a:ln w="12700">
            <a:solidFill>
              <a:srgbClr val="FFFFFF"/>
            </a:solidFill>
            <a:prstDash val="solid"/>
          </a:ln>
        </p:spPr>
      </p:sp>
      <p:sp>
        <p:nvSpPr>
          <p:cNvPr id="17" name="Text 14"/>
          <p:cNvSpPr txBox="1"/>
          <p:nvPr/>
        </p:nvSpPr>
        <p:spPr>
          <a:xfrm>
            <a:off x="5029200" y="3291840"/>
            <a:ext cx="1920240" cy="868680"/>
          </a:xfrm>
          <a:prstGeom prst="rect">
            <a:avLst/>
          </a:prstGeom>
          <a:noFill/>
          <a:ln/>
        </p:spPr>
        <p:txBody>
          <a:bodyPr wrap="square" lIns="635" tIns="635" rIns="635" bIns="635" rtlCol="0" anchor="ctr"/>
          <a:lstStyle/>
          <a:p>
            <a:pPr algn="ctr" indent="0" marL="0">
              <a:buNone/>
            </a:pPr>
            <a:r>
              <a:rPr lang="en-US" sz="1250" b="1" dirty="0">
                <a:solidFill>
                  <a:srgbClr val="0B1F44"/>
                </a:solidFill>
              </a:rPr>
              <a:t>Supporting evidence</a:t>
            </a:r>
            <a:endParaRPr lang="en-US" sz="1250" dirty="0"/>
          </a:p>
        </p:txBody>
      </p:sp>
      <p:sp>
        <p:nvSpPr>
          <p:cNvPr id="18" name="Shape 15"/>
          <p:cNvSpPr/>
          <p:nvPr/>
        </p:nvSpPr>
        <p:spPr>
          <a:xfrm>
            <a:off x="7132320" y="3291840"/>
            <a:ext cx="1920240" cy="868680"/>
          </a:xfrm>
          <a:prstGeom prst="roundRect">
            <a:avLst>
              <a:gd name="adj" fmla="val 6316"/>
            </a:avLst>
          </a:prstGeom>
          <a:solidFill>
            <a:srgbClr val="FFFFFF"/>
          </a:solidFill>
          <a:ln w="12700">
            <a:solidFill>
              <a:srgbClr val="FFFFFF"/>
            </a:solidFill>
            <a:prstDash val="solid"/>
          </a:ln>
        </p:spPr>
      </p:sp>
      <p:sp>
        <p:nvSpPr>
          <p:cNvPr id="19" name="Text 16"/>
          <p:cNvSpPr txBox="1"/>
          <p:nvPr/>
        </p:nvSpPr>
        <p:spPr>
          <a:xfrm>
            <a:off x="7132320" y="3291840"/>
            <a:ext cx="1920240" cy="868680"/>
          </a:xfrm>
          <a:prstGeom prst="rect">
            <a:avLst/>
          </a:prstGeom>
          <a:noFill/>
          <a:ln/>
        </p:spPr>
        <p:txBody>
          <a:bodyPr wrap="square" lIns="635" tIns="635" rIns="635" bIns="635" rtlCol="0" anchor="ctr"/>
          <a:lstStyle/>
          <a:p>
            <a:pPr algn="ctr" indent="0" marL="0">
              <a:buNone/>
            </a:pPr>
            <a:r>
              <a:rPr lang="en-US" sz="1250" b="1" dirty="0">
                <a:solidFill>
                  <a:srgbClr val="0B1F44"/>
                </a:solidFill>
              </a:rPr>
              <a:t>Review triggers</a:t>
            </a:r>
            <a:endParaRPr lang="en-US" sz="1250" dirty="0"/>
          </a:p>
        </p:txBody>
      </p:sp>
      <p:sp>
        <p:nvSpPr>
          <p:cNvPr id="20" name="Shape 17"/>
          <p:cNvSpPr/>
          <p:nvPr/>
        </p:nvSpPr>
        <p:spPr>
          <a:xfrm>
            <a:off x="9235440" y="3291840"/>
            <a:ext cx="1920240" cy="868680"/>
          </a:xfrm>
          <a:prstGeom prst="roundRect">
            <a:avLst>
              <a:gd name="adj" fmla="val 6316"/>
            </a:avLst>
          </a:prstGeom>
          <a:solidFill>
            <a:srgbClr val="FFFFFF"/>
          </a:solidFill>
          <a:ln w="12700">
            <a:solidFill>
              <a:srgbClr val="FFFFFF"/>
            </a:solidFill>
            <a:prstDash val="solid"/>
          </a:ln>
        </p:spPr>
      </p:sp>
      <p:sp>
        <p:nvSpPr>
          <p:cNvPr id="21" name="Text 18"/>
          <p:cNvSpPr txBox="1"/>
          <p:nvPr/>
        </p:nvSpPr>
        <p:spPr>
          <a:xfrm>
            <a:off x="9235440" y="3291840"/>
            <a:ext cx="1920240" cy="868680"/>
          </a:xfrm>
          <a:prstGeom prst="rect">
            <a:avLst/>
          </a:prstGeom>
          <a:noFill/>
          <a:ln/>
        </p:spPr>
        <p:txBody>
          <a:bodyPr wrap="square" lIns="635" tIns="635" rIns="635" bIns="635" rtlCol="0" anchor="ctr"/>
          <a:lstStyle/>
          <a:p>
            <a:pPr algn="ctr" indent="0" marL="0">
              <a:buNone/>
            </a:pPr>
            <a:r>
              <a:rPr lang="en-US" sz="1250" b="1" dirty="0">
                <a:solidFill>
                  <a:srgbClr val="0B1F44"/>
                </a:solidFill>
              </a:rPr>
              <a:t>Decisions + history</a:t>
            </a:r>
            <a:endParaRPr lang="en-US" sz="1250" dirty="0"/>
          </a:p>
        </p:txBody>
      </p:sp>
      <p:sp>
        <p:nvSpPr>
          <p:cNvPr id="22" name="Shape 19"/>
          <p:cNvSpPr/>
          <p:nvPr/>
        </p:nvSpPr>
        <p:spPr>
          <a:xfrm>
            <a:off x="548640" y="4572000"/>
            <a:ext cx="11064240" cy="868680"/>
          </a:xfrm>
          <a:prstGeom prst="rect">
            <a:avLst>
              <a:gd name="adj" fmla="val 6316"/>
            </a:avLst>
          </a:prstGeom>
          <a:solidFill>
            <a:srgbClr val="F2F5FA"/>
          </a:solidFill>
          <a:ln w="12700">
            <a:solidFill>
              <a:srgbClr val="D5DCE8"/>
            </a:solidFill>
            <a:prstDash val="solid"/>
          </a:ln>
        </p:spPr>
      </p:sp>
      <p:sp>
        <p:nvSpPr>
          <p:cNvPr id="23" name="Text 20"/>
          <p:cNvSpPr txBox="1"/>
          <p:nvPr/>
        </p:nvSpPr>
        <p:spPr>
          <a:xfrm>
            <a:off x="548640" y="4572000"/>
            <a:ext cx="11064240" cy="868680"/>
          </a:xfrm>
          <a:prstGeom prst="rect">
            <a:avLst/>
          </a:prstGeom>
          <a:noFill/>
          <a:ln/>
        </p:spPr>
        <p:txBody>
          <a:bodyPr wrap="square" lIns="635" tIns="635" rIns="635" bIns="635" rtlCol="0" anchor="ctr"/>
          <a:lstStyle/>
          <a:p>
            <a:pPr algn="ctr" indent="0" marL="0">
              <a:buNone/>
            </a:pPr>
            <a:r>
              <a:rPr lang="en-US" sz="1500" b="1" dirty="0">
                <a:solidFill>
                  <a:srgbClr val="0B1F44"/>
                </a:solidFill>
              </a:rPr>
              <a:t>Evidence integration layer  ←  LSEG Tradefeedr analytics, execution data, existing experiment / algo-wheel results</a:t>
            </a:r>
            <a:endParaRPr lang="en-US" sz="1500" dirty="0"/>
          </a:p>
        </p:txBody>
      </p:sp>
      <p:sp>
        <p:nvSpPr>
          <p:cNvPr id="24" name="Text 21"/>
          <p:cNvSpPr txBox="1"/>
          <p:nvPr/>
        </p:nvSpPr>
        <p:spPr>
          <a:xfrm>
            <a:off x="548640" y="5669280"/>
            <a:ext cx="11064240" cy="457200"/>
          </a:xfrm>
          <a:prstGeom prst="rect">
            <a:avLst/>
          </a:prstGeom>
          <a:noFill/>
          <a:ln/>
        </p:spPr>
        <p:txBody>
          <a:bodyPr wrap="square" lIns="635" tIns="635" rIns="635" bIns="635" rtlCol="0" anchor="ctr"/>
          <a:lstStyle/>
          <a:p>
            <a:pPr algn="ctr" indent="0" marL="0">
              <a:buNone/>
            </a:pPr>
            <a:r>
              <a:rPr lang="en-US" sz="1200" i="1" dirty="0">
                <a:solidFill>
                  <a:srgbClr val="5B6577"/>
                </a:solidFill>
              </a:rPr>
              <a:t>Not a TCA dashboard  |  Not an autonomous trader  |  Not an algo selector  |  Not a chatbot  |  Not new experiment infrastructure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A5FD6"/>
          </a:solidFill>
          <a:ln w="12700">
            <a:solidFill>
              <a:srgbClr val="1A5FD6"/>
            </a:solidFill>
            <a:prstDash val="solid"/>
          </a:ln>
        </p:spPr>
      </p:sp>
      <p:sp>
        <p:nvSpPr>
          <p:cNvPr id="3" name="Text 1"/>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A5FD6"/>
                </a:solidFill>
              </a:rPr>
              <a:t>WORKFLOW</a:t>
            </a:r>
            <a:endParaRPr lang="en-US" sz="1100" dirty="0"/>
          </a:p>
        </p:txBody>
      </p:sp>
      <p:sp>
        <p:nvSpPr>
          <p:cNvPr id="4" name="Text 2"/>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B1F44"/>
                </a:solidFill>
                <a:latin typeface="Georgia" pitchFamily="34" charset="0"/>
                <a:ea typeface="Georgia" pitchFamily="34" charset="-122"/>
                <a:cs typeface="Georgia" pitchFamily="34" charset="-120"/>
              </a:rPr>
              <a:t>How it works: evidence is maintained in the background; humans act at review points</a:t>
            </a:r>
            <a:endParaRPr lang="en-US" sz="2600" dirty="0"/>
          </a:p>
        </p:txBody>
      </p:sp>
      <p:sp>
        <p:nvSpPr>
          <p:cNvPr id="5" name="Text 3"/>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5B6577"/>
                </a:solidFill>
              </a:rPr>
              <a:t>LSEG | Execution Policy Intelligence — internal product proposal | Illustrative scenario data</a:t>
            </a:r>
            <a:endParaRPr lang="en-US" sz="900" dirty="0"/>
          </a:p>
        </p:txBody>
      </p:sp>
      <p:sp>
        <p:nvSpPr>
          <p:cNvPr id="6" name="Text 4"/>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7"/>
                </a:solidFill>
              </a:rPr>
              <a:t>6</a:t>
            </a:r>
            <a:endParaRPr lang="en-US" sz="900" dirty="0"/>
          </a:p>
        </p:txBody>
      </p:sp>
      <p:sp>
        <p:nvSpPr>
          <p:cNvPr id="8" name="Shape 5"/>
          <p:cNvSpPr/>
          <p:nvPr/>
        </p:nvSpPr>
        <p:spPr>
          <a:xfrm>
            <a:off x="548640" y="2103120"/>
            <a:ext cx="1371600" cy="1920240"/>
          </a:xfrm>
          <a:prstGeom prst="roundRect">
            <a:avLst>
              <a:gd name="adj" fmla="val 4000"/>
            </a:avLst>
          </a:prstGeom>
          <a:solidFill>
            <a:srgbClr val="F2F5FA"/>
          </a:solidFill>
          <a:ln w="12700">
            <a:solidFill>
              <a:srgbClr val="D5DCE8"/>
            </a:solidFill>
            <a:prstDash val="solid"/>
          </a:ln>
        </p:spPr>
      </p:sp>
      <p:sp>
        <p:nvSpPr>
          <p:cNvPr id="9" name="Shape 6"/>
          <p:cNvSpPr/>
          <p:nvPr/>
        </p:nvSpPr>
        <p:spPr>
          <a:xfrm>
            <a:off x="1005840" y="2240280"/>
            <a:ext cx="457200" cy="457200"/>
          </a:xfrm>
          <a:prstGeom prst="ellipse">
            <a:avLst/>
          </a:prstGeom>
          <a:solidFill>
            <a:srgbClr val="0B1F44"/>
          </a:solidFill>
          <a:ln w="12700">
            <a:solidFill>
              <a:srgbClr val="FFFFFF"/>
            </a:solidFill>
            <a:prstDash val="solid"/>
          </a:ln>
        </p:spPr>
      </p:sp>
      <p:sp>
        <p:nvSpPr>
          <p:cNvPr id="10" name="Text 7"/>
          <p:cNvSpPr txBox="1"/>
          <p:nvPr/>
        </p:nvSpPr>
        <p:spPr>
          <a:xfrm>
            <a:off x="1005840" y="2240280"/>
            <a:ext cx="457200" cy="457200"/>
          </a:xfrm>
          <a:prstGeom prst="rect">
            <a:avLst/>
          </a:prstGeom>
          <a:noFill/>
          <a:ln/>
        </p:spPr>
        <p:txBody>
          <a:bodyPr wrap="square" lIns="635" tIns="635" rIns="635" bIns="635"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594360" y="2743200"/>
            <a:ext cx="1280160" cy="548640"/>
          </a:xfrm>
          <a:prstGeom prst="rect">
            <a:avLst/>
          </a:prstGeom>
          <a:noFill/>
          <a:ln/>
        </p:spPr>
        <p:txBody>
          <a:bodyPr wrap="square" lIns="635" tIns="635" rIns="635" bIns="635" rtlCol="0" anchor="ctr"/>
          <a:lstStyle/>
          <a:p>
            <a:pPr algn="ctr" indent="0" marL="0">
              <a:buNone/>
            </a:pPr>
            <a:r>
              <a:rPr lang="en-US" sz="1250" b="1" dirty="0">
                <a:solidFill>
                  <a:srgbClr val="0B1F44"/>
                </a:solidFill>
              </a:rPr>
              <a:t>Execution</a:t>
            </a:r>
            <a:endParaRPr lang="en-US" sz="1250" dirty="0"/>
          </a:p>
        </p:txBody>
      </p:sp>
      <p:sp>
        <p:nvSpPr>
          <p:cNvPr id="12" name="Text 9"/>
          <p:cNvSpPr txBox="1"/>
          <p:nvPr/>
        </p:nvSpPr>
        <p:spPr>
          <a:xfrm>
            <a:off x="594360" y="3291840"/>
            <a:ext cx="1280160" cy="640080"/>
          </a:xfrm>
          <a:prstGeom prst="rect">
            <a:avLst/>
          </a:prstGeom>
          <a:noFill/>
          <a:ln/>
        </p:spPr>
        <p:txBody>
          <a:bodyPr wrap="square" lIns="635" tIns="635" rIns="635" bIns="635" rtlCol="0" anchor="t"/>
          <a:lstStyle/>
          <a:p>
            <a:pPr algn="ctr" indent="0" marL="0">
              <a:buNone/>
            </a:pPr>
            <a:r>
              <a:rPr lang="en-US" sz="1050" dirty="0">
                <a:solidFill>
                  <a:srgbClr val="5B6577"/>
                </a:solidFill>
              </a:rPr>
              <a:t>Trades occur</a:t>
            </a:r>
            <a:endParaRPr lang="en-US" sz="1050" dirty="0"/>
          </a:p>
        </p:txBody>
      </p:sp>
      <p:sp>
        <p:nvSpPr>
          <p:cNvPr id="13" name="Text 10"/>
          <p:cNvSpPr txBox="1"/>
          <p:nvPr/>
        </p:nvSpPr>
        <p:spPr>
          <a:xfrm>
            <a:off x="1828800" y="2743200"/>
            <a:ext cx="365760" cy="457200"/>
          </a:xfrm>
          <a:prstGeom prst="rect">
            <a:avLst/>
          </a:prstGeom>
          <a:noFill/>
          <a:ln/>
        </p:spPr>
        <p:txBody>
          <a:bodyPr wrap="square" lIns="635" tIns="635" rIns="635" bIns="635" rtlCol="0" anchor="ctr"/>
          <a:lstStyle/>
          <a:p>
            <a:pPr algn="ctr" indent="0" marL="0">
              <a:buNone/>
            </a:pPr>
            <a:r>
              <a:rPr lang="en-US" sz="2800" b="1" dirty="0">
                <a:solidFill>
                  <a:srgbClr val="1A5FD6"/>
                </a:solidFill>
              </a:rPr>
              <a:t>›</a:t>
            </a:r>
            <a:endParaRPr lang="en-US" sz="2800" dirty="0"/>
          </a:p>
        </p:txBody>
      </p:sp>
      <p:sp>
        <p:nvSpPr>
          <p:cNvPr id="14" name="Shape 11"/>
          <p:cNvSpPr/>
          <p:nvPr/>
        </p:nvSpPr>
        <p:spPr>
          <a:xfrm>
            <a:off x="2148840" y="2103120"/>
            <a:ext cx="1371600" cy="1920240"/>
          </a:xfrm>
          <a:prstGeom prst="roundRect">
            <a:avLst>
              <a:gd name="adj" fmla="val 4000"/>
            </a:avLst>
          </a:prstGeom>
          <a:solidFill>
            <a:srgbClr val="F2F5FA"/>
          </a:solidFill>
          <a:ln w="12700">
            <a:solidFill>
              <a:srgbClr val="D5DCE8"/>
            </a:solidFill>
            <a:prstDash val="solid"/>
          </a:ln>
        </p:spPr>
      </p:sp>
      <p:sp>
        <p:nvSpPr>
          <p:cNvPr id="15" name="Shape 12"/>
          <p:cNvSpPr/>
          <p:nvPr/>
        </p:nvSpPr>
        <p:spPr>
          <a:xfrm>
            <a:off x="2606040" y="2240280"/>
            <a:ext cx="457200" cy="457200"/>
          </a:xfrm>
          <a:prstGeom prst="ellipse">
            <a:avLst/>
          </a:prstGeom>
          <a:solidFill>
            <a:srgbClr val="0B1F44"/>
          </a:solidFill>
          <a:ln w="12700">
            <a:solidFill>
              <a:srgbClr val="FFFFFF"/>
            </a:solidFill>
            <a:prstDash val="solid"/>
          </a:ln>
        </p:spPr>
      </p:sp>
      <p:sp>
        <p:nvSpPr>
          <p:cNvPr id="16" name="Text 13"/>
          <p:cNvSpPr txBox="1"/>
          <p:nvPr/>
        </p:nvSpPr>
        <p:spPr>
          <a:xfrm>
            <a:off x="2606040" y="2240280"/>
            <a:ext cx="457200" cy="457200"/>
          </a:xfrm>
          <a:prstGeom prst="rect">
            <a:avLst/>
          </a:prstGeom>
          <a:noFill/>
          <a:ln/>
        </p:spPr>
        <p:txBody>
          <a:bodyPr wrap="square" lIns="635" tIns="635" rIns="635" bIns="635" rtlCol="0" anchor="ctr"/>
          <a:lstStyle/>
          <a:p>
            <a:pPr algn="ctr" indent="0" marL="0">
              <a:buNone/>
            </a:pPr>
            <a:r>
              <a:rPr lang="en-US" sz="1400" b="1" dirty="0">
                <a:solidFill>
                  <a:srgbClr val="FFFFFF"/>
                </a:solidFill>
              </a:rPr>
              <a:t>2</a:t>
            </a:r>
            <a:endParaRPr lang="en-US" sz="1400" dirty="0"/>
          </a:p>
        </p:txBody>
      </p:sp>
      <p:sp>
        <p:nvSpPr>
          <p:cNvPr id="17" name="Text 14"/>
          <p:cNvSpPr txBox="1"/>
          <p:nvPr/>
        </p:nvSpPr>
        <p:spPr>
          <a:xfrm>
            <a:off x="2194560" y="2743200"/>
            <a:ext cx="1280160" cy="548640"/>
          </a:xfrm>
          <a:prstGeom prst="rect">
            <a:avLst/>
          </a:prstGeom>
          <a:noFill/>
          <a:ln/>
        </p:spPr>
        <p:txBody>
          <a:bodyPr wrap="square" lIns="635" tIns="635" rIns="635" bIns="635" rtlCol="0" anchor="ctr"/>
          <a:lstStyle/>
          <a:p>
            <a:pPr algn="ctr" indent="0" marL="0">
              <a:buNone/>
            </a:pPr>
            <a:r>
              <a:rPr lang="en-US" sz="1250" b="1" dirty="0">
                <a:solidFill>
                  <a:srgbClr val="0B1F44"/>
                </a:solidFill>
              </a:rPr>
              <a:t>Evidence</a:t>
            </a:r>
            <a:endParaRPr lang="en-US" sz="1250" dirty="0"/>
          </a:p>
        </p:txBody>
      </p:sp>
      <p:sp>
        <p:nvSpPr>
          <p:cNvPr id="18" name="Text 15"/>
          <p:cNvSpPr txBox="1"/>
          <p:nvPr/>
        </p:nvSpPr>
        <p:spPr>
          <a:xfrm>
            <a:off x="2194560" y="3291840"/>
            <a:ext cx="1280160" cy="640080"/>
          </a:xfrm>
          <a:prstGeom prst="rect">
            <a:avLst/>
          </a:prstGeom>
          <a:noFill/>
          <a:ln/>
        </p:spPr>
        <p:txBody>
          <a:bodyPr wrap="square" lIns="635" tIns="635" rIns="635" bIns="635" rtlCol="0" anchor="t"/>
          <a:lstStyle/>
          <a:p>
            <a:pPr algn="ctr" indent="0" marL="0">
              <a:buNone/>
            </a:pPr>
            <a:r>
              <a:rPr lang="en-US" sz="1050" dirty="0">
                <a:solidFill>
                  <a:srgbClr val="5B6577"/>
                </a:solidFill>
              </a:rPr>
              <a:t>Tradefeedr + data</a:t>
            </a:r>
            <a:endParaRPr lang="en-US" sz="1050" dirty="0"/>
          </a:p>
        </p:txBody>
      </p:sp>
      <p:sp>
        <p:nvSpPr>
          <p:cNvPr id="19" name="Text 16"/>
          <p:cNvSpPr txBox="1"/>
          <p:nvPr/>
        </p:nvSpPr>
        <p:spPr>
          <a:xfrm>
            <a:off x="3429000" y="2743200"/>
            <a:ext cx="365760" cy="457200"/>
          </a:xfrm>
          <a:prstGeom prst="rect">
            <a:avLst/>
          </a:prstGeom>
          <a:noFill/>
          <a:ln/>
        </p:spPr>
        <p:txBody>
          <a:bodyPr wrap="square" lIns="635" tIns="635" rIns="635" bIns="635" rtlCol="0" anchor="ctr"/>
          <a:lstStyle/>
          <a:p>
            <a:pPr algn="ctr" indent="0" marL="0">
              <a:buNone/>
            </a:pPr>
            <a:r>
              <a:rPr lang="en-US" sz="2800" b="1" dirty="0">
                <a:solidFill>
                  <a:srgbClr val="1A5FD6"/>
                </a:solidFill>
              </a:rPr>
              <a:t>›</a:t>
            </a:r>
            <a:endParaRPr lang="en-US" sz="2800" dirty="0"/>
          </a:p>
        </p:txBody>
      </p:sp>
      <p:sp>
        <p:nvSpPr>
          <p:cNvPr id="20" name="Shape 17"/>
          <p:cNvSpPr/>
          <p:nvPr/>
        </p:nvSpPr>
        <p:spPr>
          <a:xfrm>
            <a:off x="3749040" y="2103120"/>
            <a:ext cx="1371600" cy="1920240"/>
          </a:xfrm>
          <a:prstGeom prst="roundRect">
            <a:avLst>
              <a:gd name="adj" fmla="val 4000"/>
            </a:avLst>
          </a:prstGeom>
          <a:solidFill>
            <a:srgbClr val="F2F5FA"/>
          </a:solidFill>
          <a:ln w="12700">
            <a:solidFill>
              <a:srgbClr val="D5DCE8"/>
            </a:solidFill>
            <a:prstDash val="solid"/>
          </a:ln>
        </p:spPr>
      </p:sp>
      <p:sp>
        <p:nvSpPr>
          <p:cNvPr id="21" name="Shape 18"/>
          <p:cNvSpPr/>
          <p:nvPr/>
        </p:nvSpPr>
        <p:spPr>
          <a:xfrm>
            <a:off x="4206240" y="2240280"/>
            <a:ext cx="457200" cy="457200"/>
          </a:xfrm>
          <a:prstGeom prst="ellipse">
            <a:avLst/>
          </a:prstGeom>
          <a:solidFill>
            <a:srgbClr val="0B1F44"/>
          </a:solidFill>
          <a:ln w="12700">
            <a:solidFill>
              <a:srgbClr val="FFFFFF"/>
            </a:solidFill>
            <a:prstDash val="solid"/>
          </a:ln>
        </p:spPr>
      </p:sp>
      <p:sp>
        <p:nvSpPr>
          <p:cNvPr id="22" name="Text 19"/>
          <p:cNvSpPr txBox="1"/>
          <p:nvPr/>
        </p:nvSpPr>
        <p:spPr>
          <a:xfrm>
            <a:off x="4206240" y="2240280"/>
            <a:ext cx="457200" cy="457200"/>
          </a:xfrm>
          <a:prstGeom prst="rect">
            <a:avLst/>
          </a:prstGeom>
          <a:noFill/>
          <a:ln/>
        </p:spPr>
        <p:txBody>
          <a:bodyPr wrap="square" lIns="635" tIns="635" rIns="635" bIns="635" rtlCol="0" anchor="ctr"/>
          <a:lstStyle/>
          <a:p>
            <a:pPr algn="ctr" indent="0" marL="0">
              <a:buNone/>
            </a:pPr>
            <a:r>
              <a:rPr lang="en-US" sz="1400" b="1" dirty="0">
                <a:solidFill>
                  <a:srgbClr val="FFFFFF"/>
                </a:solidFill>
              </a:rPr>
              <a:t>3</a:t>
            </a:r>
            <a:endParaRPr lang="en-US" sz="1400" dirty="0"/>
          </a:p>
        </p:txBody>
      </p:sp>
      <p:sp>
        <p:nvSpPr>
          <p:cNvPr id="23" name="Text 20"/>
          <p:cNvSpPr txBox="1"/>
          <p:nvPr/>
        </p:nvSpPr>
        <p:spPr>
          <a:xfrm>
            <a:off x="3794760" y="2743200"/>
            <a:ext cx="1280160" cy="548640"/>
          </a:xfrm>
          <a:prstGeom prst="rect">
            <a:avLst/>
          </a:prstGeom>
          <a:noFill/>
          <a:ln/>
        </p:spPr>
        <p:txBody>
          <a:bodyPr wrap="square" lIns="635" tIns="635" rIns="635" bIns="635" rtlCol="0" anchor="ctr"/>
          <a:lstStyle/>
          <a:p>
            <a:pPr algn="ctr" indent="0" marL="0">
              <a:buNone/>
            </a:pPr>
            <a:r>
              <a:rPr lang="en-US" sz="1250" b="1" dirty="0">
                <a:solidFill>
                  <a:srgbClr val="0B1F44"/>
                </a:solidFill>
              </a:rPr>
              <a:t>Statistical assessment</a:t>
            </a:r>
            <a:endParaRPr lang="en-US" sz="1250" dirty="0"/>
          </a:p>
        </p:txBody>
      </p:sp>
      <p:sp>
        <p:nvSpPr>
          <p:cNvPr id="24" name="Text 21"/>
          <p:cNvSpPr txBox="1"/>
          <p:nvPr/>
        </p:nvSpPr>
        <p:spPr>
          <a:xfrm>
            <a:off x="3794760" y="3291840"/>
            <a:ext cx="1280160" cy="640080"/>
          </a:xfrm>
          <a:prstGeom prst="rect">
            <a:avLst/>
          </a:prstGeom>
          <a:noFill/>
          <a:ln/>
        </p:spPr>
        <p:txBody>
          <a:bodyPr wrap="square" lIns="635" tIns="635" rIns="635" bIns="635" rtlCol="0" anchor="t"/>
          <a:lstStyle/>
          <a:p>
            <a:pPr algn="ctr" indent="0" marL="0">
              <a:buNone/>
            </a:pPr>
            <a:r>
              <a:rPr lang="en-US" sz="1050" dirty="0">
                <a:solidFill>
                  <a:srgbClr val="5B6577"/>
                </a:solidFill>
              </a:rPr>
              <a:t>Vs. predefined thresholds</a:t>
            </a:r>
            <a:endParaRPr lang="en-US" sz="1050" dirty="0"/>
          </a:p>
        </p:txBody>
      </p:sp>
      <p:sp>
        <p:nvSpPr>
          <p:cNvPr id="25" name="Text 22"/>
          <p:cNvSpPr txBox="1"/>
          <p:nvPr/>
        </p:nvSpPr>
        <p:spPr>
          <a:xfrm>
            <a:off x="5029200" y="2743200"/>
            <a:ext cx="365760" cy="457200"/>
          </a:xfrm>
          <a:prstGeom prst="rect">
            <a:avLst/>
          </a:prstGeom>
          <a:noFill/>
          <a:ln/>
        </p:spPr>
        <p:txBody>
          <a:bodyPr wrap="square" lIns="635" tIns="635" rIns="635" bIns="635" rtlCol="0" anchor="ctr"/>
          <a:lstStyle/>
          <a:p>
            <a:pPr algn="ctr" indent="0" marL="0">
              <a:buNone/>
            </a:pPr>
            <a:r>
              <a:rPr lang="en-US" sz="2800" b="1" dirty="0">
                <a:solidFill>
                  <a:srgbClr val="1A5FD6"/>
                </a:solidFill>
              </a:rPr>
              <a:t>›</a:t>
            </a:r>
            <a:endParaRPr lang="en-US" sz="2800" dirty="0"/>
          </a:p>
        </p:txBody>
      </p:sp>
      <p:sp>
        <p:nvSpPr>
          <p:cNvPr id="26" name="Shape 23"/>
          <p:cNvSpPr/>
          <p:nvPr/>
        </p:nvSpPr>
        <p:spPr>
          <a:xfrm>
            <a:off x="5349240" y="2103120"/>
            <a:ext cx="1371600" cy="1920240"/>
          </a:xfrm>
          <a:prstGeom prst="roundRect">
            <a:avLst>
              <a:gd name="adj" fmla="val 4000"/>
            </a:avLst>
          </a:prstGeom>
          <a:solidFill>
            <a:srgbClr val="0B1F44"/>
          </a:solidFill>
          <a:ln w="12700">
            <a:solidFill>
              <a:srgbClr val="0B1F44"/>
            </a:solidFill>
            <a:prstDash val="solid"/>
          </a:ln>
        </p:spPr>
      </p:sp>
      <p:sp>
        <p:nvSpPr>
          <p:cNvPr id="27" name="Shape 24"/>
          <p:cNvSpPr/>
          <p:nvPr/>
        </p:nvSpPr>
        <p:spPr>
          <a:xfrm>
            <a:off x="5806440" y="2240280"/>
            <a:ext cx="457200" cy="457200"/>
          </a:xfrm>
          <a:prstGeom prst="ellipse">
            <a:avLst/>
          </a:prstGeom>
          <a:solidFill>
            <a:srgbClr val="1A5FD6"/>
          </a:solidFill>
          <a:ln w="12700">
            <a:solidFill>
              <a:srgbClr val="FFFFFF"/>
            </a:solidFill>
            <a:prstDash val="solid"/>
          </a:ln>
        </p:spPr>
      </p:sp>
      <p:sp>
        <p:nvSpPr>
          <p:cNvPr id="28" name="Text 25"/>
          <p:cNvSpPr txBox="1"/>
          <p:nvPr/>
        </p:nvSpPr>
        <p:spPr>
          <a:xfrm>
            <a:off x="5806440" y="2240280"/>
            <a:ext cx="457200" cy="457200"/>
          </a:xfrm>
          <a:prstGeom prst="rect">
            <a:avLst/>
          </a:prstGeom>
          <a:noFill/>
          <a:ln/>
        </p:spPr>
        <p:txBody>
          <a:bodyPr wrap="square" lIns="635" tIns="635" rIns="635" bIns="635" rtlCol="0" anchor="ctr"/>
          <a:lstStyle/>
          <a:p>
            <a:pPr algn="ctr" indent="0" marL="0">
              <a:buNone/>
            </a:pPr>
            <a:r>
              <a:rPr lang="en-US" sz="1400" b="1" dirty="0">
                <a:solidFill>
                  <a:srgbClr val="FFFFFF"/>
                </a:solidFill>
              </a:rPr>
              <a:t>4</a:t>
            </a:r>
            <a:endParaRPr lang="en-US" sz="1400" dirty="0"/>
          </a:p>
        </p:txBody>
      </p:sp>
      <p:sp>
        <p:nvSpPr>
          <p:cNvPr id="29" name="Text 26"/>
          <p:cNvSpPr txBox="1"/>
          <p:nvPr/>
        </p:nvSpPr>
        <p:spPr>
          <a:xfrm>
            <a:off x="5394960" y="2743200"/>
            <a:ext cx="1280160" cy="548640"/>
          </a:xfrm>
          <a:prstGeom prst="rect">
            <a:avLst/>
          </a:prstGeom>
          <a:noFill/>
          <a:ln/>
        </p:spPr>
        <p:txBody>
          <a:bodyPr wrap="square" lIns="635" tIns="635" rIns="635" bIns="635" rtlCol="0" anchor="ctr"/>
          <a:lstStyle/>
          <a:p>
            <a:pPr algn="ctr" indent="0" marL="0">
              <a:buNone/>
            </a:pPr>
            <a:r>
              <a:rPr lang="en-US" sz="1250" b="1" dirty="0">
                <a:solidFill>
                  <a:srgbClr val="FFFFFF"/>
                </a:solidFill>
              </a:rPr>
              <a:t>Policy status</a:t>
            </a:r>
            <a:endParaRPr lang="en-US" sz="1250" dirty="0"/>
          </a:p>
        </p:txBody>
      </p:sp>
      <p:sp>
        <p:nvSpPr>
          <p:cNvPr id="30" name="Text 27"/>
          <p:cNvSpPr txBox="1"/>
          <p:nvPr/>
        </p:nvSpPr>
        <p:spPr>
          <a:xfrm>
            <a:off x="5394960" y="3291840"/>
            <a:ext cx="1280160" cy="640080"/>
          </a:xfrm>
          <a:prstGeom prst="rect">
            <a:avLst/>
          </a:prstGeom>
          <a:noFill/>
          <a:ln/>
        </p:spPr>
        <p:txBody>
          <a:bodyPr wrap="square" lIns="635" tIns="635" rIns="635" bIns="635" rtlCol="0" anchor="t"/>
          <a:lstStyle/>
          <a:p>
            <a:pPr algn="ctr" indent="0" marL="0">
              <a:buNone/>
            </a:pPr>
            <a:r>
              <a:rPr lang="en-US" sz="1050" dirty="0">
                <a:solidFill>
                  <a:srgbClr val="C9D6EE"/>
                </a:solidFill>
              </a:rPr>
              <a:t>Supported / Review required</a:t>
            </a:r>
            <a:endParaRPr lang="en-US" sz="1050" dirty="0"/>
          </a:p>
        </p:txBody>
      </p:sp>
      <p:sp>
        <p:nvSpPr>
          <p:cNvPr id="31" name="Text 28"/>
          <p:cNvSpPr txBox="1"/>
          <p:nvPr/>
        </p:nvSpPr>
        <p:spPr>
          <a:xfrm>
            <a:off x="6629400" y="2743200"/>
            <a:ext cx="365760" cy="457200"/>
          </a:xfrm>
          <a:prstGeom prst="rect">
            <a:avLst/>
          </a:prstGeom>
          <a:noFill/>
          <a:ln/>
        </p:spPr>
        <p:txBody>
          <a:bodyPr wrap="square" lIns="635" tIns="635" rIns="635" bIns="635" rtlCol="0" anchor="ctr"/>
          <a:lstStyle/>
          <a:p>
            <a:pPr algn="ctr" indent="0" marL="0">
              <a:buNone/>
            </a:pPr>
            <a:r>
              <a:rPr lang="en-US" sz="2800" b="1" dirty="0">
                <a:solidFill>
                  <a:srgbClr val="1A5FD6"/>
                </a:solidFill>
              </a:rPr>
              <a:t>›</a:t>
            </a:r>
            <a:endParaRPr lang="en-US" sz="2800" dirty="0"/>
          </a:p>
        </p:txBody>
      </p:sp>
      <p:sp>
        <p:nvSpPr>
          <p:cNvPr id="32" name="Shape 29"/>
          <p:cNvSpPr/>
          <p:nvPr/>
        </p:nvSpPr>
        <p:spPr>
          <a:xfrm>
            <a:off x="6949440" y="2103120"/>
            <a:ext cx="1371600" cy="1920240"/>
          </a:xfrm>
          <a:prstGeom prst="roundRect">
            <a:avLst>
              <a:gd name="adj" fmla="val 4000"/>
            </a:avLst>
          </a:prstGeom>
          <a:solidFill>
            <a:srgbClr val="F2F5FA"/>
          </a:solidFill>
          <a:ln w="12700">
            <a:solidFill>
              <a:srgbClr val="D5DCE8"/>
            </a:solidFill>
            <a:prstDash val="solid"/>
          </a:ln>
        </p:spPr>
      </p:sp>
      <p:sp>
        <p:nvSpPr>
          <p:cNvPr id="33" name="Shape 30"/>
          <p:cNvSpPr/>
          <p:nvPr/>
        </p:nvSpPr>
        <p:spPr>
          <a:xfrm>
            <a:off x="7406640" y="2240280"/>
            <a:ext cx="457200" cy="457200"/>
          </a:xfrm>
          <a:prstGeom prst="ellipse">
            <a:avLst/>
          </a:prstGeom>
          <a:solidFill>
            <a:srgbClr val="0B1F44"/>
          </a:solidFill>
          <a:ln w="12700">
            <a:solidFill>
              <a:srgbClr val="FFFFFF"/>
            </a:solidFill>
            <a:prstDash val="solid"/>
          </a:ln>
        </p:spPr>
      </p:sp>
      <p:sp>
        <p:nvSpPr>
          <p:cNvPr id="34" name="Text 31"/>
          <p:cNvSpPr txBox="1"/>
          <p:nvPr/>
        </p:nvSpPr>
        <p:spPr>
          <a:xfrm>
            <a:off x="7406640" y="2240280"/>
            <a:ext cx="457200" cy="457200"/>
          </a:xfrm>
          <a:prstGeom prst="rect">
            <a:avLst/>
          </a:prstGeom>
          <a:noFill/>
          <a:ln/>
        </p:spPr>
        <p:txBody>
          <a:bodyPr wrap="square" lIns="635" tIns="635" rIns="635" bIns="635" rtlCol="0" anchor="ctr"/>
          <a:lstStyle/>
          <a:p>
            <a:pPr algn="ctr" indent="0" marL="0">
              <a:buNone/>
            </a:pPr>
            <a:r>
              <a:rPr lang="en-US" sz="1400" b="1" dirty="0">
                <a:solidFill>
                  <a:srgbClr val="FFFFFF"/>
                </a:solidFill>
              </a:rPr>
              <a:t>5</a:t>
            </a:r>
            <a:endParaRPr lang="en-US" sz="1400" dirty="0"/>
          </a:p>
        </p:txBody>
      </p:sp>
      <p:sp>
        <p:nvSpPr>
          <p:cNvPr id="35" name="Text 32"/>
          <p:cNvSpPr txBox="1"/>
          <p:nvPr/>
        </p:nvSpPr>
        <p:spPr>
          <a:xfrm>
            <a:off x="6995160" y="2743200"/>
            <a:ext cx="1280160" cy="548640"/>
          </a:xfrm>
          <a:prstGeom prst="rect">
            <a:avLst/>
          </a:prstGeom>
          <a:noFill/>
          <a:ln/>
        </p:spPr>
        <p:txBody>
          <a:bodyPr wrap="square" lIns="635" tIns="635" rIns="635" bIns="635" rtlCol="0" anchor="ctr"/>
          <a:lstStyle/>
          <a:p>
            <a:pPr algn="ctr" indent="0" marL="0">
              <a:buNone/>
            </a:pPr>
            <a:r>
              <a:rPr lang="en-US" sz="1250" b="1" dirty="0">
                <a:solidFill>
                  <a:srgbClr val="0B1F44"/>
                </a:solidFill>
              </a:rPr>
              <a:t>Human review</a:t>
            </a:r>
            <a:endParaRPr lang="en-US" sz="1250" dirty="0"/>
          </a:p>
        </p:txBody>
      </p:sp>
      <p:sp>
        <p:nvSpPr>
          <p:cNvPr id="36" name="Text 33"/>
          <p:cNvSpPr txBox="1"/>
          <p:nvPr/>
        </p:nvSpPr>
        <p:spPr>
          <a:xfrm>
            <a:off x="6995160" y="3291840"/>
            <a:ext cx="1280160" cy="640080"/>
          </a:xfrm>
          <a:prstGeom prst="rect">
            <a:avLst/>
          </a:prstGeom>
          <a:noFill/>
          <a:ln/>
        </p:spPr>
        <p:txBody>
          <a:bodyPr wrap="square" lIns="635" tIns="635" rIns="635" bIns="635" rtlCol="0" anchor="t"/>
          <a:lstStyle/>
          <a:p>
            <a:pPr algn="ctr" indent="0" marL="0">
              <a:buNone/>
            </a:pPr>
            <a:r>
              <a:rPr lang="en-US" sz="1050" dirty="0">
                <a:solidFill>
                  <a:srgbClr val="5B6577"/>
                </a:solidFill>
              </a:rPr>
              <a:t>Quant + best-ex</a:t>
            </a:r>
            <a:endParaRPr lang="en-US" sz="1050" dirty="0"/>
          </a:p>
        </p:txBody>
      </p:sp>
      <p:sp>
        <p:nvSpPr>
          <p:cNvPr id="37" name="Text 34"/>
          <p:cNvSpPr txBox="1"/>
          <p:nvPr/>
        </p:nvSpPr>
        <p:spPr>
          <a:xfrm>
            <a:off x="8229600" y="2743200"/>
            <a:ext cx="365760" cy="457200"/>
          </a:xfrm>
          <a:prstGeom prst="rect">
            <a:avLst/>
          </a:prstGeom>
          <a:noFill/>
          <a:ln/>
        </p:spPr>
        <p:txBody>
          <a:bodyPr wrap="square" lIns="635" tIns="635" rIns="635" bIns="635" rtlCol="0" anchor="ctr"/>
          <a:lstStyle/>
          <a:p>
            <a:pPr algn="ctr" indent="0" marL="0">
              <a:buNone/>
            </a:pPr>
            <a:r>
              <a:rPr lang="en-US" sz="2800" b="1" dirty="0">
                <a:solidFill>
                  <a:srgbClr val="1A5FD6"/>
                </a:solidFill>
              </a:rPr>
              <a:t>›</a:t>
            </a:r>
            <a:endParaRPr lang="en-US" sz="2800" dirty="0"/>
          </a:p>
        </p:txBody>
      </p:sp>
      <p:sp>
        <p:nvSpPr>
          <p:cNvPr id="38" name="Shape 35"/>
          <p:cNvSpPr/>
          <p:nvPr/>
        </p:nvSpPr>
        <p:spPr>
          <a:xfrm>
            <a:off x="8549640" y="2103120"/>
            <a:ext cx="1371600" cy="1920240"/>
          </a:xfrm>
          <a:prstGeom prst="roundRect">
            <a:avLst>
              <a:gd name="adj" fmla="val 4000"/>
            </a:avLst>
          </a:prstGeom>
          <a:solidFill>
            <a:srgbClr val="F2F5FA"/>
          </a:solidFill>
          <a:ln w="12700">
            <a:solidFill>
              <a:srgbClr val="D5DCE8"/>
            </a:solidFill>
            <a:prstDash val="solid"/>
          </a:ln>
        </p:spPr>
      </p:sp>
      <p:sp>
        <p:nvSpPr>
          <p:cNvPr id="39" name="Shape 36"/>
          <p:cNvSpPr/>
          <p:nvPr/>
        </p:nvSpPr>
        <p:spPr>
          <a:xfrm>
            <a:off x="9006840" y="2240280"/>
            <a:ext cx="457200" cy="457200"/>
          </a:xfrm>
          <a:prstGeom prst="ellipse">
            <a:avLst/>
          </a:prstGeom>
          <a:solidFill>
            <a:srgbClr val="0B1F44"/>
          </a:solidFill>
          <a:ln w="12700">
            <a:solidFill>
              <a:srgbClr val="FFFFFF"/>
            </a:solidFill>
            <a:prstDash val="solid"/>
          </a:ln>
        </p:spPr>
      </p:sp>
      <p:sp>
        <p:nvSpPr>
          <p:cNvPr id="40" name="Text 37"/>
          <p:cNvSpPr txBox="1"/>
          <p:nvPr/>
        </p:nvSpPr>
        <p:spPr>
          <a:xfrm>
            <a:off x="9006840" y="2240280"/>
            <a:ext cx="457200" cy="457200"/>
          </a:xfrm>
          <a:prstGeom prst="rect">
            <a:avLst/>
          </a:prstGeom>
          <a:noFill/>
          <a:ln/>
        </p:spPr>
        <p:txBody>
          <a:bodyPr wrap="square" lIns="635" tIns="635" rIns="635" bIns="635" rtlCol="0" anchor="ctr"/>
          <a:lstStyle/>
          <a:p>
            <a:pPr algn="ctr" indent="0" marL="0">
              <a:buNone/>
            </a:pPr>
            <a:r>
              <a:rPr lang="en-US" sz="1400" b="1" dirty="0">
                <a:solidFill>
                  <a:srgbClr val="FFFFFF"/>
                </a:solidFill>
              </a:rPr>
              <a:t>6</a:t>
            </a:r>
            <a:endParaRPr lang="en-US" sz="1400" dirty="0"/>
          </a:p>
        </p:txBody>
      </p:sp>
      <p:sp>
        <p:nvSpPr>
          <p:cNvPr id="41" name="Text 38"/>
          <p:cNvSpPr txBox="1"/>
          <p:nvPr/>
        </p:nvSpPr>
        <p:spPr>
          <a:xfrm>
            <a:off x="8595360" y="2743200"/>
            <a:ext cx="1280160" cy="548640"/>
          </a:xfrm>
          <a:prstGeom prst="rect">
            <a:avLst/>
          </a:prstGeom>
          <a:noFill/>
          <a:ln/>
        </p:spPr>
        <p:txBody>
          <a:bodyPr wrap="square" lIns="635" tIns="635" rIns="635" bIns="635" rtlCol="0" anchor="ctr"/>
          <a:lstStyle/>
          <a:p>
            <a:pPr algn="ctr" indent="0" marL="0">
              <a:buNone/>
            </a:pPr>
            <a:r>
              <a:rPr lang="en-US" sz="1250" b="1" dirty="0">
                <a:solidFill>
                  <a:srgbClr val="0B1F44"/>
                </a:solidFill>
              </a:rPr>
              <a:t>Decision</a:t>
            </a:r>
            <a:endParaRPr lang="en-US" sz="1250" dirty="0"/>
          </a:p>
        </p:txBody>
      </p:sp>
      <p:sp>
        <p:nvSpPr>
          <p:cNvPr id="42" name="Text 39"/>
          <p:cNvSpPr txBox="1"/>
          <p:nvPr/>
        </p:nvSpPr>
        <p:spPr>
          <a:xfrm>
            <a:off x="8595360" y="3291840"/>
            <a:ext cx="1280160" cy="640080"/>
          </a:xfrm>
          <a:prstGeom prst="rect">
            <a:avLst/>
          </a:prstGeom>
          <a:noFill/>
          <a:ln/>
        </p:spPr>
        <p:txBody>
          <a:bodyPr wrap="square" lIns="635" tIns="635" rIns="635" bIns="635" rtlCol="0" anchor="t"/>
          <a:lstStyle/>
          <a:p>
            <a:pPr algn="ctr" indent="0" marL="0">
              <a:buNone/>
            </a:pPr>
            <a:r>
              <a:rPr lang="en-US" sz="1050" dirty="0">
                <a:solidFill>
                  <a:srgbClr val="5B6577"/>
                </a:solidFill>
              </a:rPr>
              <a:t>Retain, Modify, Revalidate, Retire</a:t>
            </a:r>
            <a:endParaRPr lang="en-US" sz="1050" dirty="0"/>
          </a:p>
        </p:txBody>
      </p:sp>
      <p:sp>
        <p:nvSpPr>
          <p:cNvPr id="43" name="Text 40"/>
          <p:cNvSpPr txBox="1"/>
          <p:nvPr/>
        </p:nvSpPr>
        <p:spPr>
          <a:xfrm>
            <a:off x="9829800" y="2743200"/>
            <a:ext cx="365760" cy="457200"/>
          </a:xfrm>
          <a:prstGeom prst="rect">
            <a:avLst/>
          </a:prstGeom>
          <a:noFill/>
          <a:ln/>
        </p:spPr>
        <p:txBody>
          <a:bodyPr wrap="square" lIns="635" tIns="635" rIns="635" bIns="635" rtlCol="0" anchor="ctr"/>
          <a:lstStyle/>
          <a:p>
            <a:pPr algn="ctr" indent="0" marL="0">
              <a:buNone/>
            </a:pPr>
            <a:r>
              <a:rPr lang="en-US" sz="2800" b="1" dirty="0">
                <a:solidFill>
                  <a:srgbClr val="1A5FD6"/>
                </a:solidFill>
              </a:rPr>
              <a:t>›</a:t>
            </a:r>
            <a:endParaRPr lang="en-US" sz="2800" dirty="0"/>
          </a:p>
        </p:txBody>
      </p:sp>
      <p:sp>
        <p:nvSpPr>
          <p:cNvPr id="44" name="Shape 41"/>
          <p:cNvSpPr/>
          <p:nvPr/>
        </p:nvSpPr>
        <p:spPr>
          <a:xfrm>
            <a:off x="10149840" y="2103120"/>
            <a:ext cx="1371600" cy="1920240"/>
          </a:xfrm>
          <a:prstGeom prst="roundRect">
            <a:avLst>
              <a:gd name="adj" fmla="val 4000"/>
            </a:avLst>
          </a:prstGeom>
          <a:solidFill>
            <a:srgbClr val="F2F5FA"/>
          </a:solidFill>
          <a:ln w="12700">
            <a:solidFill>
              <a:srgbClr val="D5DCE8"/>
            </a:solidFill>
            <a:prstDash val="solid"/>
          </a:ln>
        </p:spPr>
      </p:sp>
      <p:sp>
        <p:nvSpPr>
          <p:cNvPr id="45" name="Shape 42"/>
          <p:cNvSpPr/>
          <p:nvPr/>
        </p:nvSpPr>
        <p:spPr>
          <a:xfrm>
            <a:off x="10607040" y="2240280"/>
            <a:ext cx="457200" cy="457200"/>
          </a:xfrm>
          <a:prstGeom prst="ellipse">
            <a:avLst/>
          </a:prstGeom>
          <a:solidFill>
            <a:srgbClr val="0B1F44"/>
          </a:solidFill>
          <a:ln w="12700">
            <a:solidFill>
              <a:srgbClr val="FFFFFF"/>
            </a:solidFill>
            <a:prstDash val="solid"/>
          </a:ln>
        </p:spPr>
      </p:sp>
      <p:sp>
        <p:nvSpPr>
          <p:cNvPr id="46" name="Text 43"/>
          <p:cNvSpPr txBox="1"/>
          <p:nvPr/>
        </p:nvSpPr>
        <p:spPr>
          <a:xfrm>
            <a:off x="10607040" y="2240280"/>
            <a:ext cx="457200" cy="457200"/>
          </a:xfrm>
          <a:prstGeom prst="rect">
            <a:avLst/>
          </a:prstGeom>
          <a:noFill/>
          <a:ln/>
        </p:spPr>
        <p:txBody>
          <a:bodyPr wrap="square" lIns="635" tIns="635" rIns="635" bIns="635" rtlCol="0" anchor="ctr"/>
          <a:lstStyle/>
          <a:p>
            <a:pPr algn="ctr" indent="0" marL="0">
              <a:buNone/>
            </a:pPr>
            <a:r>
              <a:rPr lang="en-US" sz="1400" b="1" dirty="0">
                <a:solidFill>
                  <a:srgbClr val="FFFFFF"/>
                </a:solidFill>
              </a:rPr>
              <a:t>7</a:t>
            </a:r>
            <a:endParaRPr lang="en-US" sz="1400" dirty="0"/>
          </a:p>
        </p:txBody>
      </p:sp>
      <p:sp>
        <p:nvSpPr>
          <p:cNvPr id="47" name="Text 44"/>
          <p:cNvSpPr txBox="1"/>
          <p:nvPr/>
        </p:nvSpPr>
        <p:spPr>
          <a:xfrm>
            <a:off x="10195560" y="2743200"/>
            <a:ext cx="1280160" cy="548640"/>
          </a:xfrm>
          <a:prstGeom prst="rect">
            <a:avLst/>
          </a:prstGeom>
          <a:noFill/>
          <a:ln/>
        </p:spPr>
        <p:txBody>
          <a:bodyPr wrap="square" lIns="635" tIns="635" rIns="635" bIns="635" rtlCol="0" anchor="ctr"/>
          <a:lstStyle/>
          <a:p>
            <a:pPr algn="ctr" indent="0" marL="0">
              <a:buNone/>
            </a:pPr>
            <a:r>
              <a:rPr lang="en-US" sz="1250" b="1" dirty="0">
                <a:solidFill>
                  <a:srgbClr val="0B1F44"/>
                </a:solidFill>
              </a:rPr>
              <a:t>Policy history</a:t>
            </a:r>
            <a:endParaRPr lang="en-US" sz="1250" dirty="0"/>
          </a:p>
        </p:txBody>
      </p:sp>
      <p:sp>
        <p:nvSpPr>
          <p:cNvPr id="48" name="Text 45"/>
          <p:cNvSpPr txBox="1"/>
          <p:nvPr/>
        </p:nvSpPr>
        <p:spPr>
          <a:xfrm>
            <a:off x="10195560" y="3291840"/>
            <a:ext cx="1280160" cy="640080"/>
          </a:xfrm>
          <a:prstGeom prst="rect">
            <a:avLst/>
          </a:prstGeom>
          <a:noFill/>
          <a:ln/>
        </p:spPr>
        <p:txBody>
          <a:bodyPr wrap="square" lIns="635" tIns="635" rIns="635" bIns="635" rtlCol="0" anchor="t"/>
          <a:lstStyle/>
          <a:p>
            <a:pPr algn="ctr" indent="0" marL="0">
              <a:buNone/>
            </a:pPr>
            <a:r>
              <a:rPr lang="en-US" sz="1050" dirty="0">
                <a:solidFill>
                  <a:srgbClr val="5B6577"/>
                </a:solidFill>
              </a:rPr>
              <a:t>Evidence + decision stored</a:t>
            </a:r>
            <a:endParaRPr lang="en-US" sz="1050" dirty="0"/>
          </a:p>
        </p:txBody>
      </p:sp>
      <p:sp>
        <p:nvSpPr>
          <p:cNvPr id="49" name="Shape 46"/>
          <p:cNvSpPr/>
          <p:nvPr/>
        </p:nvSpPr>
        <p:spPr>
          <a:xfrm>
            <a:off x="548640" y="4480560"/>
            <a:ext cx="11064240" cy="1097280"/>
          </a:xfrm>
          <a:prstGeom prst="roundRect">
            <a:avLst>
              <a:gd name="adj" fmla="val 5000"/>
            </a:avLst>
          </a:prstGeom>
          <a:solidFill>
            <a:srgbClr val="FFFFFF"/>
          </a:solidFill>
          <a:ln w="12700">
            <a:solidFill>
              <a:srgbClr val="1A5FD6"/>
            </a:solidFill>
            <a:prstDash val="solid"/>
          </a:ln>
        </p:spPr>
      </p:sp>
      <p:sp>
        <p:nvSpPr>
          <p:cNvPr id="50" name="Text 47"/>
          <p:cNvSpPr txBox="1"/>
          <p:nvPr/>
        </p:nvSpPr>
        <p:spPr>
          <a:xfrm>
            <a:off x="822960" y="4480560"/>
            <a:ext cx="10515600" cy="1097280"/>
          </a:xfrm>
          <a:prstGeom prst="rect">
            <a:avLst/>
          </a:prstGeom>
          <a:noFill/>
          <a:ln/>
        </p:spPr>
        <p:txBody>
          <a:bodyPr wrap="square" lIns="635" tIns="635" rIns="635" bIns="635" rtlCol="0" anchor="ctr"/>
          <a:lstStyle/>
          <a:p>
            <a:pPr indent="0" marL="0">
              <a:buNone/>
            </a:pPr>
            <a:r>
              <a:rPr lang="en-US" sz="1500" b="1" dirty="0">
                <a:solidFill>
                  <a:srgbClr val="1A5FD6"/>
                </a:solidFill>
              </a:rPr>
              <a:t>Policy revalidated over time.  </a:t>
            </a:r>
            <a:pPr indent="0" marL="0">
              <a:buNone/>
            </a:pPr>
            <a:r>
              <a:rPr lang="en-US" sz="1500" dirty="0">
                <a:solidFill>
                  <a:srgbClr val="0B1F44"/>
                </a:solidFill>
              </a:rPr>
              <a:t>Each decision restarts the evidence cycle, building an institutional memory of why execution policies were kept, changed or retired.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A5FD6"/>
          </a:solidFill>
          <a:ln w="12700">
            <a:solidFill>
              <a:srgbClr val="1A5FD6"/>
            </a:solidFill>
            <a:prstDash val="solid"/>
          </a:ln>
        </p:spPr>
      </p:sp>
      <p:sp>
        <p:nvSpPr>
          <p:cNvPr id="3" name="Text 1"/>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A5FD6"/>
                </a:solidFill>
              </a:rPr>
              <a:t>WHERE AI FITS</a:t>
            </a:r>
            <a:endParaRPr lang="en-US" sz="1100" dirty="0"/>
          </a:p>
        </p:txBody>
      </p:sp>
      <p:sp>
        <p:nvSpPr>
          <p:cNvPr id="4" name="Text 2"/>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B1F44"/>
                </a:solidFill>
                <a:latin typeface="Georgia" pitchFamily="34" charset="0"/>
                <a:ea typeface="Georgia" pitchFamily="34" charset="-122"/>
                <a:cs typeface="Georgia" pitchFamily="34" charset="-120"/>
              </a:rPr>
              <a:t>Statistics determine. AI explains. Human decides.</a:t>
            </a:r>
            <a:endParaRPr lang="en-US" sz="2600" dirty="0"/>
          </a:p>
        </p:txBody>
      </p:sp>
      <p:sp>
        <p:nvSpPr>
          <p:cNvPr id="5" name="Text 3"/>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5B6577"/>
                </a:solidFill>
              </a:rPr>
              <a:t>LSEG | Execution Policy Intelligence — internal product proposal | Illustrative scenario data</a:t>
            </a:r>
            <a:endParaRPr lang="en-US" sz="900" dirty="0"/>
          </a:p>
        </p:txBody>
      </p:sp>
      <p:sp>
        <p:nvSpPr>
          <p:cNvPr id="6" name="Text 4"/>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7"/>
                </a:solidFill>
              </a:rPr>
              <a:t>7</a:t>
            </a:r>
            <a:endParaRPr lang="en-US" sz="900" dirty="0"/>
          </a:p>
        </p:txBody>
      </p:sp>
      <p:sp>
        <p:nvSpPr>
          <p:cNvPr id="8" name="Shape 5"/>
          <p:cNvSpPr/>
          <p:nvPr/>
        </p:nvSpPr>
        <p:spPr>
          <a:xfrm>
            <a:off x="548640" y="1691640"/>
            <a:ext cx="2331720" cy="2651760"/>
          </a:xfrm>
          <a:prstGeom prst="rect">
            <a:avLst>
              <a:gd name="adj" fmla="val 2353"/>
            </a:avLst>
          </a:prstGeom>
          <a:solidFill>
            <a:srgbClr val="F2F5FA"/>
          </a:solidFill>
          <a:ln w="12700">
            <a:solidFill>
              <a:srgbClr val="D5DCE8"/>
            </a:solidFill>
            <a:prstDash val="solid"/>
          </a:ln>
        </p:spPr>
      </p:sp>
      <p:sp>
        <p:nvSpPr>
          <p:cNvPr id="9" name="Shape 6"/>
          <p:cNvSpPr/>
          <p:nvPr/>
        </p:nvSpPr>
        <p:spPr>
          <a:xfrm>
            <a:off x="548640" y="1691640"/>
            <a:ext cx="2331720" cy="64008"/>
          </a:xfrm>
          <a:prstGeom prst="rect">
            <a:avLst/>
          </a:prstGeom>
          <a:solidFill>
            <a:srgbClr val="0B1F44"/>
          </a:solidFill>
          <a:ln w="12700">
            <a:solidFill>
              <a:srgbClr val="0B1F44"/>
            </a:solidFill>
            <a:prstDash val="solid"/>
          </a:ln>
        </p:spPr>
      </p:sp>
      <p:sp>
        <p:nvSpPr>
          <p:cNvPr id="10" name="Text 7"/>
          <p:cNvSpPr txBox="1"/>
          <p:nvPr/>
        </p:nvSpPr>
        <p:spPr>
          <a:xfrm>
            <a:off x="685800" y="1828800"/>
            <a:ext cx="2057400" cy="457200"/>
          </a:xfrm>
          <a:prstGeom prst="rect">
            <a:avLst/>
          </a:prstGeom>
          <a:noFill/>
          <a:ln/>
        </p:spPr>
        <p:txBody>
          <a:bodyPr wrap="square" lIns="635" tIns="635" rIns="635" bIns="635" rtlCol="0" anchor="ctr"/>
          <a:lstStyle/>
          <a:p>
            <a:pPr indent="0" marL="0">
              <a:buNone/>
            </a:pPr>
            <a:r>
              <a:rPr lang="en-US" sz="1500" b="1" dirty="0">
                <a:solidFill>
                  <a:srgbClr val="0B1F44"/>
                </a:solidFill>
              </a:rPr>
              <a:t>STATISTICS DETERMINE</a:t>
            </a:r>
            <a:endParaRPr lang="en-US" sz="1500" dirty="0"/>
          </a:p>
        </p:txBody>
      </p:sp>
      <p:sp>
        <p:nvSpPr>
          <p:cNvPr id="11" name="Text 8"/>
          <p:cNvSpPr txBox="1"/>
          <p:nvPr/>
        </p:nvSpPr>
        <p:spPr>
          <a:xfrm>
            <a:off x="685800" y="2331720"/>
            <a:ext cx="2057400" cy="1874520"/>
          </a:xfrm>
          <a:prstGeom prst="rect">
            <a:avLst/>
          </a:prstGeom>
          <a:noFill/>
          <a:ln/>
        </p:spPr>
        <p:txBody>
          <a:bodyPr wrap="square" lIns="635" tIns="635" rIns="635" bIns="635" rtlCol="0" anchor="t"/>
          <a:lstStyle/>
          <a:p>
            <a:pPr indent="0" marL="0">
              <a:buNone/>
            </a:pPr>
            <a:r>
              <a:rPr lang="en-US" sz="1250" dirty="0">
                <a:solidFill>
                  <a:srgbClr val="5B6577"/>
                </a:solidFill>
              </a:rPr>
              <a:t>Deterministic engine checks evidence against predefined policy thresholds and sets status.</a:t>
            </a:r>
            <a:endParaRPr lang="en-US" sz="1250" dirty="0"/>
          </a:p>
        </p:txBody>
      </p:sp>
      <p:sp>
        <p:nvSpPr>
          <p:cNvPr id="12" name="Shape 9"/>
          <p:cNvSpPr/>
          <p:nvPr/>
        </p:nvSpPr>
        <p:spPr>
          <a:xfrm>
            <a:off x="3063240" y="1691640"/>
            <a:ext cx="2331720" cy="2651760"/>
          </a:xfrm>
          <a:prstGeom prst="rect">
            <a:avLst>
              <a:gd name="adj" fmla="val 2353"/>
            </a:avLst>
          </a:prstGeom>
          <a:solidFill>
            <a:srgbClr val="F2F5FA"/>
          </a:solidFill>
          <a:ln w="12700">
            <a:solidFill>
              <a:srgbClr val="D5DCE8"/>
            </a:solidFill>
            <a:prstDash val="solid"/>
          </a:ln>
        </p:spPr>
      </p:sp>
      <p:sp>
        <p:nvSpPr>
          <p:cNvPr id="13" name="Shape 10"/>
          <p:cNvSpPr/>
          <p:nvPr/>
        </p:nvSpPr>
        <p:spPr>
          <a:xfrm>
            <a:off x="3063240" y="1691640"/>
            <a:ext cx="2331720" cy="64008"/>
          </a:xfrm>
          <a:prstGeom prst="rect">
            <a:avLst/>
          </a:prstGeom>
          <a:solidFill>
            <a:srgbClr val="1A5FD6"/>
          </a:solidFill>
          <a:ln w="12700">
            <a:solidFill>
              <a:srgbClr val="1A5FD6"/>
            </a:solidFill>
            <a:prstDash val="solid"/>
          </a:ln>
        </p:spPr>
      </p:sp>
      <p:sp>
        <p:nvSpPr>
          <p:cNvPr id="14" name="Text 11"/>
          <p:cNvSpPr txBox="1"/>
          <p:nvPr/>
        </p:nvSpPr>
        <p:spPr>
          <a:xfrm>
            <a:off x="3200400" y="1828800"/>
            <a:ext cx="2057400" cy="457200"/>
          </a:xfrm>
          <a:prstGeom prst="rect">
            <a:avLst/>
          </a:prstGeom>
          <a:noFill/>
          <a:ln/>
        </p:spPr>
        <p:txBody>
          <a:bodyPr wrap="square" lIns="635" tIns="635" rIns="635" bIns="635" rtlCol="0" anchor="ctr"/>
          <a:lstStyle/>
          <a:p>
            <a:pPr indent="0" marL="0">
              <a:buNone/>
            </a:pPr>
            <a:r>
              <a:rPr lang="en-US" sz="1500" b="1" dirty="0">
                <a:solidFill>
                  <a:srgbClr val="1A5FD6"/>
                </a:solidFill>
              </a:rPr>
              <a:t>AI EXPLAINS</a:t>
            </a:r>
            <a:endParaRPr lang="en-US" sz="1500" dirty="0"/>
          </a:p>
        </p:txBody>
      </p:sp>
      <p:sp>
        <p:nvSpPr>
          <p:cNvPr id="15" name="Text 12"/>
          <p:cNvSpPr txBox="1"/>
          <p:nvPr/>
        </p:nvSpPr>
        <p:spPr>
          <a:xfrm>
            <a:off x="3200400" y="2331720"/>
            <a:ext cx="2057400" cy="1874520"/>
          </a:xfrm>
          <a:prstGeom prst="rect">
            <a:avLst/>
          </a:prstGeom>
          <a:noFill/>
          <a:ln/>
        </p:spPr>
        <p:txBody>
          <a:bodyPr wrap="square" lIns="635" tIns="635" rIns="635" bIns="635" rtlCol="0" anchor="t"/>
          <a:lstStyle/>
          <a:p>
            <a:pPr indent="0" marL="0">
              <a:buNone/>
            </a:pPr>
            <a:r>
              <a:rPr lang="en-US" sz="1250" dirty="0">
                <a:solidFill>
                  <a:srgbClr val="5B6577"/>
                </a:solidFill>
              </a:rPr>
              <a:t>Explains validated results, supports natural-language investigation and governance notes.</a:t>
            </a:r>
            <a:endParaRPr lang="en-US" sz="1250" dirty="0"/>
          </a:p>
        </p:txBody>
      </p:sp>
      <p:sp>
        <p:nvSpPr>
          <p:cNvPr id="16" name="Shape 13"/>
          <p:cNvSpPr/>
          <p:nvPr/>
        </p:nvSpPr>
        <p:spPr>
          <a:xfrm>
            <a:off x="5577840" y="1691640"/>
            <a:ext cx="2331720" cy="2651760"/>
          </a:xfrm>
          <a:prstGeom prst="rect">
            <a:avLst>
              <a:gd name="adj" fmla="val 2353"/>
            </a:avLst>
          </a:prstGeom>
          <a:solidFill>
            <a:srgbClr val="F2F5FA"/>
          </a:solidFill>
          <a:ln w="12700">
            <a:solidFill>
              <a:srgbClr val="D5DCE8"/>
            </a:solidFill>
            <a:prstDash val="solid"/>
          </a:ln>
        </p:spPr>
      </p:sp>
      <p:sp>
        <p:nvSpPr>
          <p:cNvPr id="17" name="Shape 14"/>
          <p:cNvSpPr/>
          <p:nvPr/>
        </p:nvSpPr>
        <p:spPr>
          <a:xfrm>
            <a:off x="5577840" y="1691640"/>
            <a:ext cx="2331720" cy="64008"/>
          </a:xfrm>
          <a:prstGeom prst="rect">
            <a:avLst/>
          </a:prstGeom>
          <a:solidFill>
            <a:srgbClr val="1E8E5A"/>
          </a:solidFill>
          <a:ln w="12700">
            <a:solidFill>
              <a:srgbClr val="1E8E5A"/>
            </a:solidFill>
            <a:prstDash val="solid"/>
          </a:ln>
        </p:spPr>
      </p:sp>
      <p:sp>
        <p:nvSpPr>
          <p:cNvPr id="18" name="Text 15"/>
          <p:cNvSpPr txBox="1"/>
          <p:nvPr/>
        </p:nvSpPr>
        <p:spPr>
          <a:xfrm>
            <a:off x="5715000" y="1828800"/>
            <a:ext cx="2057400" cy="457200"/>
          </a:xfrm>
          <a:prstGeom prst="rect">
            <a:avLst/>
          </a:prstGeom>
          <a:noFill/>
          <a:ln/>
        </p:spPr>
        <p:txBody>
          <a:bodyPr wrap="square" lIns="635" tIns="635" rIns="635" bIns="635" rtlCol="0" anchor="ctr"/>
          <a:lstStyle/>
          <a:p>
            <a:pPr indent="0" marL="0">
              <a:buNone/>
            </a:pPr>
            <a:r>
              <a:rPr lang="en-US" sz="1500" b="1" dirty="0">
                <a:solidFill>
                  <a:srgbClr val="1E8E5A"/>
                </a:solidFill>
              </a:rPr>
              <a:t>HUMAN DECIDES</a:t>
            </a:r>
            <a:endParaRPr lang="en-US" sz="1500" dirty="0"/>
          </a:p>
        </p:txBody>
      </p:sp>
      <p:sp>
        <p:nvSpPr>
          <p:cNvPr id="19" name="Text 16"/>
          <p:cNvSpPr txBox="1"/>
          <p:nvPr/>
        </p:nvSpPr>
        <p:spPr>
          <a:xfrm>
            <a:off x="5715000" y="2331720"/>
            <a:ext cx="2057400" cy="1874520"/>
          </a:xfrm>
          <a:prstGeom prst="rect">
            <a:avLst/>
          </a:prstGeom>
          <a:noFill/>
          <a:ln/>
        </p:spPr>
        <p:txBody>
          <a:bodyPr wrap="square" lIns="635" tIns="635" rIns="635" bIns="635" rtlCol="0" anchor="t"/>
          <a:lstStyle/>
          <a:p>
            <a:pPr indent="0" marL="0">
              <a:buNone/>
            </a:pPr>
            <a:r>
              <a:rPr lang="en-US" sz="1250" dirty="0">
                <a:solidFill>
                  <a:srgbClr val="5B6577"/>
                </a:solidFill>
              </a:rPr>
              <a:t>Quant and best-ex choose Retain, Modify, Revalidate or Retire. Decision is recorded.</a:t>
            </a:r>
            <a:endParaRPr lang="en-US" sz="1250" dirty="0"/>
          </a:p>
        </p:txBody>
      </p:sp>
      <p:sp>
        <p:nvSpPr>
          <p:cNvPr id="20" name="Shape 17"/>
          <p:cNvSpPr/>
          <p:nvPr/>
        </p:nvSpPr>
        <p:spPr>
          <a:xfrm>
            <a:off x="8229600" y="1691640"/>
            <a:ext cx="3383280" cy="2651760"/>
          </a:xfrm>
          <a:prstGeom prst="rect">
            <a:avLst>
              <a:gd name="adj" fmla="val 2069"/>
            </a:avLst>
          </a:prstGeom>
          <a:solidFill>
            <a:srgbClr val="F2F5FA"/>
          </a:solidFill>
          <a:ln w="12700">
            <a:solidFill>
              <a:srgbClr val="C0392B"/>
            </a:solidFill>
            <a:prstDash val="solid"/>
          </a:ln>
        </p:spPr>
      </p:sp>
      <p:sp>
        <p:nvSpPr>
          <p:cNvPr id="21" name="Text 18"/>
          <p:cNvSpPr txBox="1"/>
          <p:nvPr/>
        </p:nvSpPr>
        <p:spPr>
          <a:xfrm>
            <a:off x="8412480" y="1783080"/>
            <a:ext cx="3017520" cy="365760"/>
          </a:xfrm>
          <a:prstGeom prst="rect">
            <a:avLst/>
          </a:prstGeom>
          <a:noFill/>
          <a:ln/>
        </p:spPr>
        <p:txBody>
          <a:bodyPr wrap="square" lIns="635" tIns="635" rIns="635" bIns="635" rtlCol="0" anchor="ctr"/>
          <a:lstStyle/>
          <a:p>
            <a:pPr indent="0" marL="0">
              <a:buNone/>
            </a:pPr>
            <a:r>
              <a:rPr lang="en-US" sz="1500" b="1" dirty="0">
                <a:solidFill>
                  <a:srgbClr val="C0392B"/>
                </a:solidFill>
              </a:rPr>
              <a:t>AI does NOT</a:t>
            </a:r>
            <a:endParaRPr lang="en-US" sz="1500" dirty="0"/>
          </a:p>
        </p:txBody>
      </p:sp>
      <p:sp>
        <p:nvSpPr>
          <p:cNvPr id="22" name="Text 19"/>
          <p:cNvSpPr txBox="1"/>
          <p:nvPr/>
        </p:nvSpPr>
        <p:spPr>
          <a:xfrm>
            <a:off x="8412480" y="2194560"/>
            <a:ext cx="3108960" cy="201168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0B1F44"/>
                </a:solidFill>
              </a:rPr>
              <a:t>Change policies autonomously</a:t>
            </a:r>
            <a:endParaRPr lang="en-US" sz="1300" dirty="0"/>
          </a:p>
          <a:p>
            <a:pPr marL="342900" indent="-342900">
              <a:spcAft>
                <a:spcPts val="600"/>
              </a:spcAft>
              <a:buSzPct val="100000"/>
              <a:buChar char="•"/>
            </a:pPr>
            <a:r>
              <a:rPr lang="en-US" sz="1300" dirty="0">
                <a:solidFill>
                  <a:srgbClr val="0B1F44"/>
                </a:solidFill>
              </a:rPr>
              <a:t>Reallocate algo flow</a:t>
            </a:r>
            <a:endParaRPr lang="en-US" sz="1300" dirty="0"/>
          </a:p>
          <a:p>
            <a:pPr marL="342900" indent="-342900">
              <a:spcAft>
                <a:spcPts val="600"/>
              </a:spcAft>
              <a:buSzPct val="100000"/>
              <a:buChar char="•"/>
            </a:pPr>
            <a:r>
              <a:rPr lang="en-US" sz="1300" dirty="0">
                <a:solidFill>
                  <a:srgbClr val="0B1F44"/>
                </a:solidFill>
              </a:rPr>
              <a:t>Override statistical status</a:t>
            </a:r>
            <a:endParaRPr lang="en-US" sz="1300" dirty="0"/>
          </a:p>
        </p:txBody>
      </p:sp>
      <p:sp>
        <p:nvSpPr>
          <p:cNvPr id="23" name="Shape 20"/>
          <p:cNvSpPr/>
          <p:nvPr/>
        </p:nvSpPr>
        <p:spPr>
          <a:xfrm>
            <a:off x="548640" y="4572000"/>
            <a:ext cx="11064240" cy="1691640"/>
          </a:xfrm>
          <a:prstGeom prst="rect">
            <a:avLst>
              <a:gd name="adj" fmla="val 3243"/>
            </a:avLst>
          </a:prstGeom>
          <a:solidFill>
            <a:srgbClr val="0B1F44"/>
          </a:solidFill>
          <a:ln w="12700">
            <a:solidFill>
              <a:srgbClr val="0B1F44"/>
            </a:solidFill>
            <a:prstDash val="solid"/>
          </a:ln>
        </p:spPr>
      </p:sp>
      <p:sp>
        <p:nvSpPr>
          <p:cNvPr id="24" name="Text 21"/>
          <p:cNvSpPr txBox="1"/>
          <p:nvPr/>
        </p:nvSpPr>
        <p:spPr>
          <a:xfrm>
            <a:off x="822960" y="4617720"/>
            <a:ext cx="4572000" cy="365760"/>
          </a:xfrm>
          <a:prstGeom prst="rect">
            <a:avLst/>
          </a:prstGeom>
          <a:noFill/>
          <a:ln/>
        </p:spPr>
        <p:txBody>
          <a:bodyPr wrap="square" lIns="635" tIns="635" rIns="635" bIns="635" rtlCol="0" anchor="ctr"/>
          <a:lstStyle/>
          <a:p>
            <a:pPr indent="0" marL="0">
              <a:buNone/>
            </a:pPr>
            <a:r>
              <a:rPr lang="en-US" sz="1200" b="1" dirty="0">
                <a:solidFill>
                  <a:srgbClr val="8FB4FF"/>
                </a:solidFill>
              </a:rPr>
              <a:t>EP-427  |  Explain with AI</a:t>
            </a:r>
            <a:endParaRPr lang="en-US" sz="1200" dirty="0"/>
          </a:p>
        </p:txBody>
      </p:sp>
      <p:sp>
        <p:nvSpPr>
          <p:cNvPr id="25" name="Text 22"/>
          <p:cNvSpPr txBox="1"/>
          <p:nvPr/>
        </p:nvSpPr>
        <p:spPr>
          <a:xfrm>
            <a:off x="822960" y="4983480"/>
            <a:ext cx="8595360" cy="1188720"/>
          </a:xfrm>
          <a:prstGeom prst="rect">
            <a:avLst/>
          </a:prstGeom>
          <a:noFill/>
          <a:ln/>
        </p:spPr>
        <p:txBody>
          <a:bodyPr wrap="square" lIns="635" tIns="635" rIns="635" bIns="635" rtlCol="0" anchor="t"/>
          <a:lstStyle/>
          <a:p>
            <a:pPr indent="0" marL="0">
              <a:buNone/>
            </a:pPr>
            <a:r>
              <a:rPr lang="en-US" sz="1350" i="1" dirty="0">
                <a:solidFill>
                  <a:srgbClr val="FFFFFF"/>
                </a:solidFill>
              </a:rPr>
              <a:t>"The policy has moved into review because its current observed execution improvement (+0.11 bps) is below the effectiveness threshold (+0.25 bps) defined when the policy was established. The evidence supports human review and possible revalidation rather than automatic policy modification."</a:t>
            </a:r>
            <a:endParaRPr lang="en-US" sz="1350" dirty="0"/>
          </a:p>
        </p:txBody>
      </p:sp>
      <p:sp>
        <p:nvSpPr>
          <p:cNvPr id="26" name="Shape 23"/>
          <p:cNvSpPr/>
          <p:nvPr/>
        </p:nvSpPr>
        <p:spPr>
          <a:xfrm>
            <a:off x="9601200" y="5212080"/>
            <a:ext cx="1783080" cy="731520"/>
          </a:xfrm>
          <a:prstGeom prst="roundRect">
            <a:avLst>
              <a:gd name="adj" fmla="val 7500"/>
            </a:avLst>
          </a:prstGeom>
          <a:solidFill>
            <a:srgbClr val="1A5FD6"/>
          </a:solidFill>
          <a:ln w="12700">
            <a:solidFill>
              <a:srgbClr val="1A5FD6"/>
            </a:solidFill>
            <a:prstDash val="solid"/>
          </a:ln>
        </p:spPr>
      </p:sp>
      <p:sp>
        <p:nvSpPr>
          <p:cNvPr id="27" name="Text 24"/>
          <p:cNvSpPr txBox="1"/>
          <p:nvPr/>
        </p:nvSpPr>
        <p:spPr>
          <a:xfrm>
            <a:off x="9601200" y="5212080"/>
            <a:ext cx="1783080" cy="731520"/>
          </a:xfrm>
          <a:prstGeom prst="rect">
            <a:avLst/>
          </a:prstGeom>
          <a:noFill/>
          <a:ln/>
        </p:spPr>
        <p:txBody>
          <a:bodyPr wrap="square" lIns="635" tIns="635" rIns="635" bIns="635" rtlCol="0" anchor="ctr"/>
          <a:lstStyle/>
          <a:p>
            <a:pPr algn="ctr" indent="0" marL="0">
              <a:buNone/>
            </a:pPr>
            <a:r>
              <a:rPr lang="en-US" sz="1400" b="1" dirty="0">
                <a:solidFill>
                  <a:srgbClr val="FFFFFF"/>
                </a:solidFill>
              </a:rPr>
              <a:t>Revalidate  ›</a:t>
            </a:r>
            <a:endParaRPr lang="en-US" sz="1400" dirty="0"/>
          </a:p>
        </p:txBody>
      </p:sp>
      <p:sp>
        <p:nvSpPr>
          <p:cNvPr id="28" name="Text 25"/>
          <p:cNvSpPr txBox="1"/>
          <p:nvPr/>
        </p:nvSpPr>
        <p:spPr>
          <a:xfrm>
            <a:off x="9418320" y="5943600"/>
            <a:ext cx="2194560" cy="274320"/>
          </a:xfrm>
          <a:prstGeom prst="rect">
            <a:avLst/>
          </a:prstGeom>
          <a:noFill/>
          <a:ln/>
        </p:spPr>
        <p:txBody>
          <a:bodyPr wrap="square" lIns="635" tIns="635" rIns="635" bIns="635" rtlCol="0" anchor="ctr"/>
          <a:lstStyle/>
          <a:p>
            <a:pPr algn="ctr" indent="0" marL="0">
              <a:buNone/>
            </a:pPr>
            <a:r>
              <a:rPr lang="en-US" sz="900" dirty="0">
                <a:solidFill>
                  <a:srgbClr val="C9D6EE"/>
                </a:solidFill>
              </a:rPr>
              <a:t>via existing experiment / algo-wheel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A5FD6"/>
          </a:solidFill>
          <a:ln w="12700">
            <a:solidFill>
              <a:srgbClr val="1A5FD6"/>
            </a:solidFill>
            <a:prstDash val="solid"/>
          </a:ln>
        </p:spPr>
      </p:sp>
      <p:sp>
        <p:nvSpPr>
          <p:cNvPr id="3" name="Text 1"/>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A5FD6"/>
                </a:solidFill>
              </a:rPr>
              <a:t>COMPETITION</a:t>
            </a:r>
            <a:endParaRPr lang="en-US" sz="1100" dirty="0"/>
          </a:p>
        </p:txBody>
      </p:sp>
      <p:sp>
        <p:nvSpPr>
          <p:cNvPr id="4" name="Text 2"/>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B1F44"/>
                </a:solidFill>
                <a:latin typeface="Georgia" pitchFamily="34" charset="0"/>
                <a:ea typeface="Georgia" pitchFamily="34" charset="-122"/>
                <a:cs typeface="Georgia" pitchFamily="34" charset="-120"/>
              </a:rPr>
              <a:t>Competitive landscape: strong analytics everywhere; the whitespace is persistent policy-level evidence</a:t>
            </a:r>
            <a:endParaRPr lang="en-US" sz="2600" dirty="0"/>
          </a:p>
        </p:txBody>
      </p:sp>
      <p:sp>
        <p:nvSpPr>
          <p:cNvPr id="5" name="Text 3"/>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5B6577"/>
                </a:solidFill>
              </a:rPr>
              <a:t>LSEG | Execution Policy Intelligence — internal product proposal | Illustrative scenario data</a:t>
            </a:r>
            <a:endParaRPr lang="en-US" sz="900" dirty="0"/>
          </a:p>
        </p:txBody>
      </p:sp>
      <p:sp>
        <p:nvSpPr>
          <p:cNvPr id="6" name="Text 4"/>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7"/>
                </a:solidFill>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2377440"/>
                <a:gridCol w="2560320"/>
                <a:gridCol w="3017520"/>
              </a:tblGrid>
              <a:tr h="56692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Provider</a:t>
                      </a:r>
                      <a:endParaRPr lang="en-US" sz="120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0B1F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Execution analytics / TCA</a:t>
                      </a:r>
                      <a:endParaRPr lang="en-US" sz="120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0B1F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Best-ex governance &amp; reporting</a:t>
                      </a:r>
                      <a:endParaRPr lang="en-US" sz="120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0B1F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Policy-level evidence, lifecycle &amp; provenance</a:t>
                      </a:r>
                      <a:endParaRPr lang="en-US" sz="120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0B1F44"/>
                    </a:solidFill>
                  </a:tcPr>
                </a:tc>
              </a:tr>
              <a:tr h="56692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LSEG Tradefeedr</a:t>
                      </a:r>
                      <a:endParaRPr lang="en-US" sz="120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1E8E5A"/>
                          </a:solidFill>
                          <a:latin typeface="Calibri" pitchFamily="34" charset="0"/>
                          <a:ea typeface="Calibri" pitchFamily="34" charset="-122"/>
                          <a:cs typeface="Calibri" pitchFamily="34" charset="-120"/>
                        </a:rPr>
                        <a:t>Core strength</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1E8E5A"/>
                          </a:solidFill>
                          <a:latin typeface="Calibri" pitchFamily="34" charset="0"/>
                          <a:ea typeface="Calibri" pitchFamily="34" charset="-122"/>
                          <a:cs typeface="Calibri" pitchFamily="34" charset="-120"/>
                        </a:rPr>
                        <a:t>Supported</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C77D00"/>
                          </a:solidFill>
                          <a:latin typeface="Calibri" pitchFamily="34" charset="0"/>
                          <a:ea typeface="Calibri" pitchFamily="34" charset="-122"/>
                          <a:cs typeface="Calibri" pitchFamily="34" charset="-120"/>
                        </a:rPr>
                        <a:t>Not the focus today</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r>
              <a:tr h="56692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Bloomberg BTCA</a:t>
                      </a:r>
                      <a:endParaRPr lang="en-US" sz="120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1E8E5A"/>
                          </a:solidFill>
                          <a:latin typeface="Calibri" pitchFamily="34" charset="0"/>
                          <a:ea typeface="Calibri" pitchFamily="34" charset="-122"/>
                          <a:cs typeface="Calibri" pitchFamily="34" charset="-120"/>
                        </a:rPr>
                        <a:t>Core strength</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1E8E5A"/>
                          </a:solidFill>
                          <a:latin typeface="Calibri" pitchFamily="34" charset="0"/>
                          <a:ea typeface="Calibri" pitchFamily="34" charset="-122"/>
                          <a:cs typeface="Calibri" pitchFamily="34" charset="-120"/>
                        </a:rPr>
                        <a:t>Core strength</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5B6577"/>
                          </a:solidFill>
                          <a:latin typeface="Calibri" pitchFamily="34" charset="0"/>
                          <a:ea typeface="Calibri" pitchFamily="34" charset="-122"/>
                          <a:cs typeface="Calibri" pitchFamily="34" charset="-120"/>
                        </a:rPr>
                        <a:t>To validate</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r>
              <a:tr h="56692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FairXchange / 360T</a:t>
                      </a:r>
                      <a:endParaRPr lang="en-US" sz="120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1E8E5A"/>
                          </a:solidFill>
                          <a:latin typeface="Calibri" pitchFamily="34" charset="0"/>
                          <a:ea typeface="Calibri" pitchFamily="34" charset="-122"/>
                          <a:cs typeface="Calibri" pitchFamily="34" charset="-120"/>
                        </a:rPr>
                        <a:t>Present</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5B6577"/>
                          </a:solidFill>
                          <a:latin typeface="Calibri" pitchFamily="34" charset="0"/>
                          <a:ea typeface="Calibri" pitchFamily="34" charset="-122"/>
                          <a:cs typeface="Calibri" pitchFamily="34" charset="-120"/>
                        </a:rPr>
                        <a:t>To validate</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5B6577"/>
                          </a:solidFill>
                          <a:latin typeface="Calibri" pitchFamily="34" charset="0"/>
                          <a:ea typeface="Calibri" pitchFamily="34" charset="-122"/>
                          <a:cs typeface="Calibri" pitchFamily="34" charset="-120"/>
                        </a:rPr>
                        <a:t>To validate</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r>
              <a:tr h="56692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Internal bank tooling</a:t>
                      </a:r>
                      <a:endParaRPr lang="en-US" sz="120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1E8E5A"/>
                          </a:solidFill>
                          <a:latin typeface="Calibri" pitchFamily="34" charset="0"/>
                          <a:ea typeface="Calibri" pitchFamily="34" charset="-122"/>
                          <a:cs typeface="Calibri" pitchFamily="34" charset="-120"/>
                        </a:rPr>
                        <a:t>Quant analysis, databases</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1E8E5A"/>
                          </a:solidFill>
                          <a:latin typeface="Calibri" pitchFamily="34" charset="0"/>
                          <a:ea typeface="Calibri" pitchFamily="34" charset="-122"/>
                          <a:cs typeface="Calibri" pitchFamily="34" charset="-120"/>
                        </a:rPr>
                        <a:t>Compliance workflows</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c>
                  <a:txBody>
                    <a:bodyPr/>
                    <a:lstStyle/>
                    <a:p>
                      <a:pPr algn="ctr" indent="0" marL="0">
                        <a:buNone/>
                      </a:pPr>
                      <a:r>
                        <a:rPr lang="en-US" sz="1150" dirty="0">
                          <a:solidFill>
                            <a:srgbClr val="C77D00"/>
                          </a:solidFill>
                          <a:latin typeface="Calibri" pitchFamily="34" charset="0"/>
                          <a:ea typeface="Calibri" pitchFamily="34" charset="-122"/>
                          <a:cs typeface="Calibri" pitchFamily="34" charset="-120"/>
                        </a:rPr>
                        <a:t>Varies; may be built in-house</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tcPr>
                </a:tc>
              </a:tr>
              <a:tr h="566928">
                <a:tc>
                  <a:txBody>
                    <a:bodyPr/>
                    <a:lstStyle/>
                    <a:p>
                      <a:pPr indent="0" marL="0">
                        <a:buNone/>
                      </a:pPr>
                      <a:r>
                        <a:rPr lang="en-US" sz="1200" b="1" dirty="0">
                          <a:solidFill>
                            <a:srgbClr val="1A5FD6"/>
                          </a:solidFill>
                          <a:latin typeface="Calibri" pitchFamily="34" charset="0"/>
                          <a:ea typeface="Calibri" pitchFamily="34" charset="-122"/>
                          <a:cs typeface="Calibri" pitchFamily="34" charset="-120"/>
                        </a:rPr>
                        <a:t>Proposed: Execution Policy Intelligence</a:t>
                      </a:r>
                      <a:endParaRPr lang="en-US" sz="120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E6EEFC"/>
                    </a:solidFill>
                  </a:tcPr>
                </a:tc>
                <a:tc>
                  <a:txBody>
                    <a:bodyPr/>
                    <a:lstStyle/>
                    <a:p>
                      <a:pPr algn="ctr" indent="0" marL="0">
                        <a:buNone/>
                      </a:pPr>
                      <a:r>
                        <a:rPr lang="en-US" sz="1150" dirty="0">
                          <a:solidFill>
                            <a:srgbClr val="1A5FD6"/>
                          </a:solidFill>
                          <a:latin typeface="Calibri" pitchFamily="34" charset="0"/>
                          <a:ea typeface="Calibri" pitchFamily="34" charset="-122"/>
                          <a:cs typeface="Calibri" pitchFamily="34" charset="-120"/>
                        </a:rPr>
                        <a:t>Builds on Tradefeedr</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E6EEFC"/>
                    </a:solidFill>
                  </a:tcPr>
                </a:tc>
                <a:tc>
                  <a:txBody>
                    <a:bodyPr/>
                    <a:lstStyle/>
                    <a:p>
                      <a:pPr algn="ctr" indent="0" marL="0">
                        <a:buNone/>
                      </a:pPr>
                      <a:r>
                        <a:rPr lang="en-US" sz="1150" dirty="0">
                          <a:solidFill>
                            <a:srgbClr val="1A5FD6"/>
                          </a:solidFill>
                          <a:latin typeface="Calibri" pitchFamily="34" charset="0"/>
                          <a:ea typeface="Calibri" pitchFamily="34" charset="-122"/>
                          <a:cs typeface="Calibri" pitchFamily="34" charset="-120"/>
                        </a:rPr>
                        <a:t>Supports</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E6EEFC"/>
                    </a:solidFill>
                  </a:tcPr>
                </a:tc>
                <a:tc>
                  <a:txBody>
                    <a:bodyPr/>
                    <a:lstStyle/>
                    <a:p>
                      <a:pPr algn="ctr" indent="0" marL="0">
                        <a:buNone/>
                      </a:pPr>
                      <a:r>
                        <a:rPr lang="en-US" sz="1150" b="1" dirty="0">
                          <a:solidFill>
                            <a:srgbClr val="1A5FD6"/>
                          </a:solidFill>
                          <a:latin typeface="Calibri" pitchFamily="34" charset="0"/>
                          <a:ea typeface="Calibri" pitchFamily="34" charset="-122"/>
                          <a:cs typeface="Calibri" pitchFamily="34" charset="-120"/>
                        </a:rPr>
                        <a:t>Intended focus</a:t>
                      </a:r>
                      <a:endParaRPr lang="en-US" sz="1150" dirty="0">
                        <a:latin typeface="Calibri" charset="0"/>
                        <a:ea typeface="Calibri" charset="0"/>
                        <a:cs typeface="Calibri" charset="0"/>
                      </a:endParaRPr>
                    </a:p>
                  </a:txBody>
                  <a:tcPr marL="91440" marR="91440" marT="45720" marB="45720" anchor="ctr">
                    <a:lnL w="12700" cap="flat" cmpd="sng" algn="ctr">
                      <a:solidFill>
                        <a:srgbClr val="D5DCE8"/>
                      </a:solidFill>
                      <a:prstDash val="solid"/>
                      <a:round/>
                      <a:headEnd type="none" w="med" len="med"/>
                      <a:tailEnd type="none" w="med" len="med"/>
                    </a:lnL>
                    <a:lnR w="12700" cap="flat" cmpd="sng" algn="ctr">
                      <a:solidFill>
                        <a:srgbClr val="D5DCE8"/>
                      </a:solidFill>
                      <a:prstDash val="solid"/>
                      <a:round/>
                      <a:headEnd type="none" w="med" len="med"/>
                      <a:tailEnd type="none" w="med" len="med"/>
                    </a:lnR>
                    <a:lnT w="12700" cap="flat" cmpd="sng" algn="ctr">
                      <a:solidFill>
                        <a:srgbClr val="D5DCE8"/>
                      </a:solidFill>
                      <a:prstDash val="solid"/>
                      <a:round/>
                      <a:headEnd type="none" w="med" len="med"/>
                      <a:tailEnd type="none" w="med" len="med"/>
                    </a:lnT>
                    <a:lnB w="12700" cap="flat" cmpd="sng" algn="ctr">
                      <a:solidFill>
                        <a:srgbClr val="D5DCE8"/>
                      </a:solidFill>
                      <a:prstDash val="solid"/>
                      <a:round/>
                      <a:headEnd type="none" w="med" len="med"/>
                      <a:tailEnd type="none" w="med" len="med"/>
                    </a:lnB>
                    <a:solidFill>
                      <a:srgbClr val="E6EEFC"/>
                    </a:solidFill>
                  </a:tcPr>
                </a:tc>
              </a:tr>
            </a:tbl>
          </a:graphicData>
        </a:graphic>
      </p:graphicFrame>
      <p:sp>
        <p:nvSpPr>
          <p:cNvPr id="9" name="Text 5"/>
          <p:cNvSpPr txBox="1"/>
          <p:nvPr/>
        </p:nvSpPr>
        <p:spPr>
          <a:xfrm>
            <a:off x="548640" y="5303520"/>
            <a:ext cx="11064240" cy="457200"/>
          </a:xfrm>
          <a:prstGeom prst="rect">
            <a:avLst/>
          </a:prstGeom>
          <a:noFill/>
          <a:ln/>
        </p:spPr>
        <p:txBody>
          <a:bodyPr wrap="square" lIns="635" tIns="635" rIns="635" bIns="635" rtlCol="0" anchor="ctr"/>
          <a:lstStyle/>
          <a:p>
            <a:pPr algn="l" indent="0" marL="0">
              <a:buNone/>
            </a:pPr>
            <a:r>
              <a:rPr lang="en-US" sz="1100" i="1" dirty="0">
                <a:solidFill>
                  <a:srgbClr val="5B6577"/>
                </a:solidFill>
              </a:rPr>
              <a:t>Assessment based on public positioning; competitor capabilities must be verified in discovery. Cells marked "To validate" are open questions, not claimed gaps.</a:t>
            </a:r>
            <a:endParaRPr lang="en-US" sz="1100" dirty="0"/>
          </a:p>
        </p:txBody>
      </p:sp>
      <p:sp>
        <p:nvSpPr>
          <p:cNvPr id="10" name="Shape 6"/>
          <p:cNvSpPr/>
          <p:nvPr/>
        </p:nvSpPr>
        <p:spPr>
          <a:xfrm>
            <a:off x="548640" y="5760720"/>
            <a:ext cx="11064240" cy="548640"/>
          </a:xfrm>
          <a:prstGeom prst="rect">
            <a:avLst>
              <a:gd name="adj" fmla="val 10000"/>
            </a:avLst>
          </a:prstGeom>
          <a:solidFill>
            <a:srgbClr val="E6EEFC"/>
          </a:solidFill>
          <a:ln w="12700">
            <a:solidFill>
              <a:srgbClr val="E6EEFC"/>
            </a:solidFill>
            <a:prstDash val="solid"/>
          </a:ln>
        </p:spPr>
      </p:sp>
      <p:sp>
        <p:nvSpPr>
          <p:cNvPr id="11" name="Text 7"/>
          <p:cNvSpPr txBox="1"/>
          <p:nvPr/>
        </p:nvSpPr>
        <p:spPr>
          <a:xfrm>
            <a:off x="731520" y="5760720"/>
            <a:ext cx="10698480" cy="548640"/>
          </a:xfrm>
          <a:prstGeom prst="rect">
            <a:avLst/>
          </a:prstGeom>
          <a:noFill/>
          <a:ln/>
        </p:spPr>
        <p:txBody>
          <a:bodyPr wrap="square" lIns="635" tIns="635" rIns="635" bIns="635" rtlCol="0" anchor="ctr"/>
          <a:lstStyle/>
          <a:p>
            <a:pPr indent="0" marL="0">
              <a:buNone/>
            </a:pPr>
            <a:r>
              <a:rPr lang="en-US" sz="1300" b="1" dirty="0">
                <a:solidFill>
                  <a:srgbClr val="1A5FD6"/>
                </a:solidFill>
              </a:rPr>
              <a:t>Key commercial question: will institutions build or extend this internally, or prefer a vendor-backed policy-evidence workflow?</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A5FD6"/>
          </a:solidFill>
          <a:ln w="12700">
            <a:solidFill>
              <a:srgbClr val="1A5FD6"/>
            </a:solidFill>
            <a:prstDash val="solid"/>
          </a:ln>
        </p:spPr>
      </p:sp>
      <p:sp>
        <p:nvSpPr>
          <p:cNvPr id="3" name="Text 1"/>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A5FD6"/>
                </a:solidFill>
              </a:rPr>
              <a:t>STRATEGIC FIT</a:t>
            </a:r>
            <a:endParaRPr lang="en-US" sz="1100" dirty="0"/>
          </a:p>
        </p:txBody>
      </p:sp>
      <p:sp>
        <p:nvSpPr>
          <p:cNvPr id="4" name="Text 2"/>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B1F44"/>
                </a:solidFill>
                <a:latin typeface="Georgia" pitchFamily="34" charset="0"/>
                <a:ea typeface="Georgia" pitchFamily="34" charset="-122"/>
                <a:cs typeface="Georgia" pitchFamily="34" charset="-120"/>
              </a:rPr>
              <a:t>Why LSEG is well positioned to build this</a:t>
            </a:r>
            <a:endParaRPr lang="en-US" sz="2600" dirty="0"/>
          </a:p>
        </p:txBody>
      </p:sp>
      <p:sp>
        <p:nvSpPr>
          <p:cNvPr id="5" name="Text 3"/>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5B6577"/>
                </a:solidFill>
              </a:rPr>
              <a:t>LSEG | Execution Policy Intelligence — internal product proposal | Illustrative scenario data</a:t>
            </a:r>
            <a:endParaRPr lang="en-US" sz="900" dirty="0"/>
          </a:p>
        </p:txBody>
      </p:sp>
      <p:sp>
        <p:nvSpPr>
          <p:cNvPr id="6" name="Text 4"/>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7"/>
                </a:solidFill>
              </a:rPr>
              <a:t>9</a:t>
            </a:r>
            <a:endParaRPr lang="en-US" sz="900" dirty="0"/>
          </a:p>
        </p:txBody>
      </p:sp>
      <p:sp>
        <p:nvSpPr>
          <p:cNvPr id="8" name="Shape 5"/>
          <p:cNvSpPr/>
          <p:nvPr/>
        </p:nvSpPr>
        <p:spPr>
          <a:xfrm>
            <a:off x="548640" y="1691640"/>
            <a:ext cx="11064240" cy="914400"/>
          </a:xfrm>
          <a:prstGeom prst="rect">
            <a:avLst>
              <a:gd name="adj" fmla="val 6000"/>
            </a:avLst>
          </a:prstGeom>
          <a:solidFill>
            <a:srgbClr val="0B1F44"/>
          </a:solidFill>
          <a:ln w="12700">
            <a:solidFill>
              <a:srgbClr val="0B1F44"/>
            </a:solidFill>
            <a:prstDash val="solid"/>
          </a:ln>
        </p:spPr>
      </p:sp>
      <p:sp>
        <p:nvSpPr>
          <p:cNvPr id="9" name="Text 6"/>
          <p:cNvSpPr txBox="1"/>
          <p:nvPr/>
        </p:nvSpPr>
        <p:spPr>
          <a:xfrm>
            <a:off x="548640" y="1691640"/>
            <a:ext cx="11064240" cy="914400"/>
          </a:xfrm>
          <a:prstGeom prst="rect">
            <a:avLst/>
          </a:prstGeom>
          <a:noFill/>
          <a:ln/>
        </p:spPr>
        <p:txBody>
          <a:bodyPr wrap="square" lIns="635" tIns="635" rIns="635" bIns="635" rtlCol="0" anchor="ctr"/>
          <a:lstStyle/>
          <a:p>
            <a:pPr algn="ctr" indent="0" marL="0">
              <a:buNone/>
            </a:pPr>
            <a:r>
              <a:rPr lang="en-US" sz="1500" b="1" dirty="0">
                <a:solidFill>
                  <a:srgbClr val="FFFFFF"/>
                </a:solidFill>
              </a:rPr>
              <a:t>EXECUTION POLICY INTELLIGENCE  |  Policy Register  |  Evidence  |  Review  |  History</a:t>
            </a:r>
            <a:endParaRPr lang="en-US" sz="1500" dirty="0"/>
          </a:p>
        </p:txBody>
      </p:sp>
      <p:sp>
        <p:nvSpPr>
          <p:cNvPr id="10" name="Shape 7"/>
          <p:cNvSpPr/>
          <p:nvPr/>
        </p:nvSpPr>
        <p:spPr>
          <a:xfrm>
            <a:off x="548640" y="2788920"/>
            <a:ext cx="2651760" cy="1325880"/>
          </a:xfrm>
          <a:prstGeom prst="rect">
            <a:avLst>
              <a:gd name="adj" fmla="val 4138"/>
            </a:avLst>
          </a:prstGeom>
          <a:solidFill>
            <a:srgbClr val="F2F5FA"/>
          </a:solidFill>
          <a:ln w="12700">
            <a:solidFill>
              <a:srgbClr val="D5DCE8"/>
            </a:solidFill>
            <a:prstDash val="solid"/>
          </a:ln>
        </p:spPr>
      </p:sp>
      <p:sp>
        <p:nvSpPr>
          <p:cNvPr id="11" name="Shape 8"/>
          <p:cNvSpPr/>
          <p:nvPr/>
        </p:nvSpPr>
        <p:spPr>
          <a:xfrm>
            <a:off x="548640" y="2788920"/>
            <a:ext cx="2651760" cy="64008"/>
          </a:xfrm>
          <a:prstGeom prst="rect">
            <a:avLst/>
          </a:prstGeom>
          <a:solidFill>
            <a:srgbClr val="1A5FD6"/>
          </a:solidFill>
          <a:ln w="12700">
            <a:solidFill>
              <a:srgbClr val="1A5FD6"/>
            </a:solidFill>
            <a:prstDash val="solid"/>
          </a:ln>
        </p:spPr>
      </p:sp>
      <p:sp>
        <p:nvSpPr>
          <p:cNvPr id="12" name="Text 9"/>
          <p:cNvSpPr txBox="1"/>
          <p:nvPr/>
        </p:nvSpPr>
        <p:spPr>
          <a:xfrm>
            <a:off x="685800" y="2926080"/>
            <a:ext cx="2377440" cy="457200"/>
          </a:xfrm>
          <a:prstGeom prst="rect">
            <a:avLst/>
          </a:prstGeom>
          <a:noFill/>
          <a:ln/>
        </p:spPr>
        <p:txBody>
          <a:bodyPr wrap="square" lIns="635" tIns="635" rIns="635" bIns="635" rtlCol="0" anchor="ctr"/>
          <a:lstStyle/>
          <a:p>
            <a:pPr indent="0" marL="0">
              <a:buNone/>
            </a:pPr>
            <a:r>
              <a:rPr lang="en-US" sz="1500" b="1" dirty="0">
                <a:solidFill>
                  <a:srgbClr val="1A5FD6"/>
                </a:solidFill>
              </a:rPr>
              <a:t>Tradefeedr</a:t>
            </a:r>
            <a:endParaRPr lang="en-US" sz="1500" dirty="0"/>
          </a:p>
        </p:txBody>
      </p:sp>
      <p:sp>
        <p:nvSpPr>
          <p:cNvPr id="13" name="Text 10"/>
          <p:cNvSpPr txBox="1"/>
          <p:nvPr/>
        </p:nvSpPr>
        <p:spPr>
          <a:xfrm>
            <a:off x="685800" y="3429000"/>
            <a:ext cx="2377440" cy="548640"/>
          </a:xfrm>
          <a:prstGeom prst="rect">
            <a:avLst/>
          </a:prstGeom>
          <a:noFill/>
          <a:ln/>
        </p:spPr>
        <p:txBody>
          <a:bodyPr wrap="square" lIns="635" tIns="635" rIns="635" bIns="635" rtlCol="0" anchor="t"/>
          <a:lstStyle/>
          <a:p>
            <a:pPr indent="0" marL="0">
              <a:buNone/>
            </a:pPr>
            <a:r>
              <a:rPr lang="en-US" sz="1250" dirty="0">
                <a:solidFill>
                  <a:srgbClr val="5B6577"/>
                </a:solidFill>
              </a:rPr>
              <a:t>Execution analytics, TCA, algo forecasting</a:t>
            </a:r>
            <a:endParaRPr lang="en-US" sz="1250" dirty="0"/>
          </a:p>
        </p:txBody>
      </p:sp>
      <p:sp>
        <p:nvSpPr>
          <p:cNvPr id="14" name="Shape 11"/>
          <p:cNvSpPr/>
          <p:nvPr/>
        </p:nvSpPr>
        <p:spPr>
          <a:xfrm>
            <a:off x="3337560" y="2788920"/>
            <a:ext cx="2651760" cy="1325880"/>
          </a:xfrm>
          <a:prstGeom prst="rect">
            <a:avLst>
              <a:gd name="adj" fmla="val 4138"/>
            </a:avLst>
          </a:prstGeom>
          <a:solidFill>
            <a:srgbClr val="F2F5FA"/>
          </a:solidFill>
          <a:ln w="12700">
            <a:solidFill>
              <a:srgbClr val="D5DCE8"/>
            </a:solidFill>
            <a:prstDash val="solid"/>
          </a:ln>
        </p:spPr>
      </p:sp>
      <p:sp>
        <p:nvSpPr>
          <p:cNvPr id="15" name="Shape 12"/>
          <p:cNvSpPr/>
          <p:nvPr/>
        </p:nvSpPr>
        <p:spPr>
          <a:xfrm>
            <a:off x="3337560" y="2788920"/>
            <a:ext cx="2651760" cy="64008"/>
          </a:xfrm>
          <a:prstGeom prst="rect">
            <a:avLst/>
          </a:prstGeom>
          <a:solidFill>
            <a:srgbClr val="1A5FD6"/>
          </a:solidFill>
          <a:ln w="12700">
            <a:solidFill>
              <a:srgbClr val="1A5FD6"/>
            </a:solidFill>
            <a:prstDash val="solid"/>
          </a:ln>
        </p:spPr>
      </p:sp>
      <p:sp>
        <p:nvSpPr>
          <p:cNvPr id="16" name="Text 13"/>
          <p:cNvSpPr txBox="1"/>
          <p:nvPr/>
        </p:nvSpPr>
        <p:spPr>
          <a:xfrm>
            <a:off x="3474720" y="2926080"/>
            <a:ext cx="2377440" cy="457200"/>
          </a:xfrm>
          <a:prstGeom prst="rect">
            <a:avLst/>
          </a:prstGeom>
          <a:noFill/>
          <a:ln/>
        </p:spPr>
        <p:txBody>
          <a:bodyPr wrap="square" lIns="635" tIns="635" rIns="635" bIns="635" rtlCol="0" anchor="ctr"/>
          <a:lstStyle/>
          <a:p>
            <a:pPr indent="0" marL="0">
              <a:buNone/>
            </a:pPr>
            <a:r>
              <a:rPr lang="en-US" sz="1500" b="1" dirty="0">
                <a:solidFill>
                  <a:srgbClr val="1A5FD6"/>
                </a:solidFill>
              </a:rPr>
              <a:t>FXall</a:t>
            </a:r>
            <a:endParaRPr lang="en-US" sz="1500" dirty="0"/>
          </a:p>
        </p:txBody>
      </p:sp>
      <p:sp>
        <p:nvSpPr>
          <p:cNvPr id="17" name="Text 14"/>
          <p:cNvSpPr txBox="1"/>
          <p:nvPr/>
        </p:nvSpPr>
        <p:spPr>
          <a:xfrm>
            <a:off x="3474720" y="3429000"/>
            <a:ext cx="2377440" cy="548640"/>
          </a:xfrm>
          <a:prstGeom prst="rect">
            <a:avLst/>
          </a:prstGeom>
          <a:noFill/>
          <a:ln/>
        </p:spPr>
        <p:txBody>
          <a:bodyPr wrap="square" lIns="635" tIns="635" rIns="635" bIns="635" rtlCol="0" anchor="t"/>
          <a:lstStyle/>
          <a:p>
            <a:pPr indent="0" marL="0">
              <a:buNone/>
            </a:pPr>
            <a:r>
              <a:rPr lang="en-US" sz="1250" dirty="0">
                <a:solidFill>
                  <a:srgbClr val="5B6577"/>
                </a:solidFill>
              </a:rPr>
              <a:t>Execution workflows</a:t>
            </a:r>
            <a:endParaRPr lang="en-US" sz="1250" dirty="0"/>
          </a:p>
        </p:txBody>
      </p:sp>
      <p:sp>
        <p:nvSpPr>
          <p:cNvPr id="18" name="Shape 15"/>
          <p:cNvSpPr/>
          <p:nvPr/>
        </p:nvSpPr>
        <p:spPr>
          <a:xfrm>
            <a:off x="6126480" y="2788920"/>
            <a:ext cx="2651760" cy="1325880"/>
          </a:xfrm>
          <a:prstGeom prst="rect">
            <a:avLst>
              <a:gd name="adj" fmla="val 4138"/>
            </a:avLst>
          </a:prstGeom>
          <a:solidFill>
            <a:srgbClr val="F2F5FA"/>
          </a:solidFill>
          <a:ln w="12700">
            <a:solidFill>
              <a:srgbClr val="D5DCE8"/>
            </a:solidFill>
            <a:prstDash val="solid"/>
          </a:ln>
        </p:spPr>
      </p:sp>
      <p:sp>
        <p:nvSpPr>
          <p:cNvPr id="19" name="Shape 16"/>
          <p:cNvSpPr/>
          <p:nvPr/>
        </p:nvSpPr>
        <p:spPr>
          <a:xfrm>
            <a:off x="6126480" y="2788920"/>
            <a:ext cx="2651760" cy="64008"/>
          </a:xfrm>
          <a:prstGeom prst="rect">
            <a:avLst/>
          </a:prstGeom>
          <a:solidFill>
            <a:srgbClr val="1A5FD6"/>
          </a:solidFill>
          <a:ln w="12700">
            <a:solidFill>
              <a:srgbClr val="1A5FD6"/>
            </a:solidFill>
            <a:prstDash val="solid"/>
          </a:ln>
        </p:spPr>
      </p:sp>
      <p:sp>
        <p:nvSpPr>
          <p:cNvPr id="20" name="Text 17"/>
          <p:cNvSpPr txBox="1"/>
          <p:nvPr/>
        </p:nvSpPr>
        <p:spPr>
          <a:xfrm>
            <a:off x="6263640" y="2926080"/>
            <a:ext cx="2377440" cy="457200"/>
          </a:xfrm>
          <a:prstGeom prst="rect">
            <a:avLst/>
          </a:prstGeom>
          <a:noFill/>
          <a:ln/>
        </p:spPr>
        <p:txBody>
          <a:bodyPr wrap="square" lIns="635" tIns="635" rIns="635" bIns="635" rtlCol="0" anchor="ctr"/>
          <a:lstStyle/>
          <a:p>
            <a:pPr indent="0" marL="0">
              <a:buNone/>
            </a:pPr>
            <a:r>
              <a:rPr lang="en-US" sz="1500" b="1" dirty="0">
                <a:solidFill>
                  <a:srgbClr val="1A5FD6"/>
                </a:solidFill>
              </a:rPr>
              <a:t>Workspace</a:t>
            </a:r>
            <a:endParaRPr lang="en-US" sz="1500" dirty="0"/>
          </a:p>
        </p:txBody>
      </p:sp>
      <p:sp>
        <p:nvSpPr>
          <p:cNvPr id="21" name="Text 18"/>
          <p:cNvSpPr txBox="1"/>
          <p:nvPr/>
        </p:nvSpPr>
        <p:spPr>
          <a:xfrm>
            <a:off x="6263640" y="3429000"/>
            <a:ext cx="2377440" cy="548640"/>
          </a:xfrm>
          <a:prstGeom prst="rect">
            <a:avLst/>
          </a:prstGeom>
          <a:noFill/>
          <a:ln/>
        </p:spPr>
        <p:txBody>
          <a:bodyPr wrap="square" lIns="635" tIns="635" rIns="635" bIns="635" rtlCol="0" anchor="t"/>
          <a:lstStyle/>
          <a:p>
            <a:pPr indent="0" marL="0">
              <a:buNone/>
            </a:pPr>
            <a:r>
              <a:rPr lang="en-US" sz="1250" dirty="0">
                <a:solidFill>
                  <a:srgbClr val="5B6577"/>
                </a:solidFill>
              </a:rPr>
              <a:t>Desk distribution and embedding</a:t>
            </a:r>
            <a:endParaRPr lang="en-US" sz="1250" dirty="0"/>
          </a:p>
        </p:txBody>
      </p:sp>
      <p:sp>
        <p:nvSpPr>
          <p:cNvPr id="22" name="Shape 19"/>
          <p:cNvSpPr/>
          <p:nvPr/>
        </p:nvSpPr>
        <p:spPr>
          <a:xfrm>
            <a:off x="8915400" y="2788920"/>
            <a:ext cx="2651760" cy="1325880"/>
          </a:xfrm>
          <a:prstGeom prst="rect">
            <a:avLst>
              <a:gd name="adj" fmla="val 4138"/>
            </a:avLst>
          </a:prstGeom>
          <a:solidFill>
            <a:srgbClr val="F2F5FA"/>
          </a:solidFill>
          <a:ln w="12700">
            <a:solidFill>
              <a:srgbClr val="D5DCE8"/>
            </a:solidFill>
            <a:prstDash val="solid"/>
          </a:ln>
        </p:spPr>
      </p:sp>
      <p:sp>
        <p:nvSpPr>
          <p:cNvPr id="23" name="Shape 20"/>
          <p:cNvSpPr/>
          <p:nvPr/>
        </p:nvSpPr>
        <p:spPr>
          <a:xfrm>
            <a:off x="8915400" y="2788920"/>
            <a:ext cx="2651760" cy="64008"/>
          </a:xfrm>
          <a:prstGeom prst="rect">
            <a:avLst/>
          </a:prstGeom>
          <a:solidFill>
            <a:srgbClr val="1A5FD6"/>
          </a:solidFill>
          <a:ln w="12700">
            <a:solidFill>
              <a:srgbClr val="1A5FD6"/>
            </a:solidFill>
            <a:prstDash val="solid"/>
          </a:ln>
        </p:spPr>
      </p:sp>
      <p:sp>
        <p:nvSpPr>
          <p:cNvPr id="24" name="Text 21"/>
          <p:cNvSpPr txBox="1"/>
          <p:nvPr/>
        </p:nvSpPr>
        <p:spPr>
          <a:xfrm>
            <a:off x="9052560" y="2926080"/>
            <a:ext cx="2377440" cy="457200"/>
          </a:xfrm>
          <a:prstGeom prst="rect">
            <a:avLst/>
          </a:prstGeom>
          <a:noFill/>
          <a:ln/>
        </p:spPr>
        <p:txBody>
          <a:bodyPr wrap="square" lIns="635" tIns="635" rIns="635" bIns="635" rtlCol="0" anchor="ctr"/>
          <a:lstStyle/>
          <a:p>
            <a:pPr indent="0" marL="0">
              <a:buNone/>
            </a:pPr>
            <a:r>
              <a:rPr lang="en-US" sz="1500" b="1" dirty="0">
                <a:solidFill>
                  <a:srgbClr val="1A5FD6"/>
                </a:solidFill>
              </a:rPr>
              <a:t>FX data</a:t>
            </a:r>
            <a:endParaRPr lang="en-US" sz="1500" dirty="0"/>
          </a:p>
        </p:txBody>
      </p:sp>
      <p:sp>
        <p:nvSpPr>
          <p:cNvPr id="25" name="Text 22"/>
          <p:cNvSpPr txBox="1"/>
          <p:nvPr/>
        </p:nvSpPr>
        <p:spPr>
          <a:xfrm>
            <a:off x="9052560" y="3429000"/>
            <a:ext cx="2377440" cy="548640"/>
          </a:xfrm>
          <a:prstGeom prst="rect">
            <a:avLst/>
          </a:prstGeom>
          <a:noFill/>
          <a:ln/>
        </p:spPr>
        <p:txBody>
          <a:bodyPr wrap="square" lIns="635" tIns="635" rIns="635" bIns="635" rtlCol="0" anchor="t"/>
          <a:lstStyle/>
          <a:p>
            <a:pPr indent="0" marL="0">
              <a:buNone/>
            </a:pPr>
            <a:r>
              <a:rPr lang="en-US" sz="1250" dirty="0">
                <a:solidFill>
                  <a:srgbClr val="5B6577"/>
                </a:solidFill>
              </a:rPr>
              <a:t>Market and execution data</a:t>
            </a:r>
            <a:endParaRPr lang="en-US" sz="1250" dirty="0"/>
          </a:p>
        </p:txBody>
      </p:sp>
      <p:sp>
        <p:nvSpPr>
          <p:cNvPr id="26" name="Text 23"/>
          <p:cNvSpPr txBox="1"/>
          <p:nvPr/>
        </p:nvSpPr>
        <p:spPr>
          <a:xfrm>
            <a:off x="548640" y="4343400"/>
            <a:ext cx="5486400" cy="365760"/>
          </a:xfrm>
          <a:prstGeom prst="rect">
            <a:avLst/>
          </a:prstGeom>
          <a:noFill/>
          <a:ln/>
        </p:spPr>
        <p:txBody>
          <a:bodyPr wrap="square" lIns="635" tIns="635" rIns="635" bIns="635" rtlCol="0" anchor="ctr"/>
          <a:lstStyle/>
          <a:p>
            <a:pPr indent="0" marL="0">
              <a:buNone/>
            </a:pPr>
            <a:r>
              <a:rPr lang="en-US" sz="1300" b="1" dirty="0">
                <a:solidFill>
                  <a:srgbClr val="5B6577"/>
                </a:solidFill>
              </a:rPr>
              <a:t>Moat is relatively modest. It would come from:</a:t>
            </a:r>
            <a:endParaRPr lang="en-US" sz="1300" dirty="0"/>
          </a:p>
        </p:txBody>
      </p:sp>
      <p:sp>
        <p:nvSpPr>
          <p:cNvPr id="27" name="Shape 24"/>
          <p:cNvSpPr/>
          <p:nvPr/>
        </p:nvSpPr>
        <p:spPr>
          <a:xfrm>
            <a:off x="548640" y="4800600"/>
            <a:ext cx="1737360" cy="731520"/>
          </a:xfrm>
          <a:prstGeom prst="roundRect">
            <a:avLst>
              <a:gd name="adj" fmla="val 7500"/>
            </a:avLst>
          </a:prstGeom>
          <a:solidFill>
            <a:srgbClr val="FFFFFF"/>
          </a:solidFill>
          <a:ln w="12700">
            <a:solidFill>
              <a:srgbClr val="1A5FD6"/>
            </a:solidFill>
            <a:prstDash val="solid"/>
          </a:ln>
        </p:spPr>
      </p:sp>
      <p:sp>
        <p:nvSpPr>
          <p:cNvPr id="28" name="Text 25"/>
          <p:cNvSpPr txBox="1"/>
          <p:nvPr/>
        </p:nvSpPr>
        <p:spPr>
          <a:xfrm>
            <a:off x="548640" y="4800600"/>
            <a:ext cx="1737360" cy="731520"/>
          </a:xfrm>
          <a:prstGeom prst="rect">
            <a:avLst/>
          </a:prstGeom>
          <a:noFill/>
          <a:ln/>
        </p:spPr>
        <p:txBody>
          <a:bodyPr wrap="square" lIns="635" tIns="635" rIns="635" bIns="635" rtlCol="0" anchor="ctr"/>
          <a:lstStyle/>
          <a:p>
            <a:pPr algn="ctr" indent="0" marL="0">
              <a:buNone/>
            </a:pPr>
            <a:r>
              <a:rPr lang="en-US" sz="1200" b="1" dirty="0">
                <a:solidFill>
                  <a:srgbClr val="1A5FD6"/>
                </a:solidFill>
              </a:rPr>
              <a:t>Data integration</a:t>
            </a:r>
            <a:endParaRPr lang="en-US" sz="1200" dirty="0"/>
          </a:p>
        </p:txBody>
      </p:sp>
      <p:sp>
        <p:nvSpPr>
          <p:cNvPr id="29" name="Shape 26"/>
          <p:cNvSpPr/>
          <p:nvPr/>
        </p:nvSpPr>
        <p:spPr>
          <a:xfrm>
            <a:off x="2404872" y="4800600"/>
            <a:ext cx="1737360" cy="731520"/>
          </a:xfrm>
          <a:prstGeom prst="roundRect">
            <a:avLst>
              <a:gd name="adj" fmla="val 7500"/>
            </a:avLst>
          </a:prstGeom>
          <a:solidFill>
            <a:srgbClr val="FFFFFF"/>
          </a:solidFill>
          <a:ln w="12700">
            <a:solidFill>
              <a:srgbClr val="1A5FD6"/>
            </a:solidFill>
            <a:prstDash val="solid"/>
          </a:ln>
        </p:spPr>
      </p:sp>
      <p:sp>
        <p:nvSpPr>
          <p:cNvPr id="30" name="Text 27"/>
          <p:cNvSpPr txBox="1"/>
          <p:nvPr/>
        </p:nvSpPr>
        <p:spPr>
          <a:xfrm>
            <a:off x="2404872" y="4800600"/>
            <a:ext cx="1737360" cy="731520"/>
          </a:xfrm>
          <a:prstGeom prst="rect">
            <a:avLst/>
          </a:prstGeom>
          <a:noFill/>
          <a:ln/>
        </p:spPr>
        <p:txBody>
          <a:bodyPr wrap="square" lIns="635" tIns="635" rIns="635" bIns="635" rtlCol="0" anchor="ctr"/>
          <a:lstStyle/>
          <a:p>
            <a:pPr algn="ctr" indent="0" marL="0">
              <a:buNone/>
            </a:pPr>
            <a:r>
              <a:rPr lang="en-US" sz="1200" b="1" dirty="0">
                <a:solidFill>
                  <a:srgbClr val="1A5FD6"/>
                </a:solidFill>
              </a:rPr>
              <a:t>Workflow integration</a:t>
            </a:r>
            <a:endParaRPr lang="en-US" sz="1200" dirty="0"/>
          </a:p>
        </p:txBody>
      </p:sp>
      <p:sp>
        <p:nvSpPr>
          <p:cNvPr id="31" name="Shape 28"/>
          <p:cNvSpPr/>
          <p:nvPr/>
        </p:nvSpPr>
        <p:spPr>
          <a:xfrm>
            <a:off x="4261104" y="4800600"/>
            <a:ext cx="1737360" cy="731520"/>
          </a:xfrm>
          <a:prstGeom prst="roundRect">
            <a:avLst>
              <a:gd name="adj" fmla="val 7500"/>
            </a:avLst>
          </a:prstGeom>
          <a:solidFill>
            <a:srgbClr val="FFFFFF"/>
          </a:solidFill>
          <a:ln w="12700">
            <a:solidFill>
              <a:srgbClr val="1A5FD6"/>
            </a:solidFill>
            <a:prstDash val="solid"/>
          </a:ln>
        </p:spPr>
      </p:sp>
      <p:sp>
        <p:nvSpPr>
          <p:cNvPr id="32" name="Text 29"/>
          <p:cNvSpPr txBox="1"/>
          <p:nvPr/>
        </p:nvSpPr>
        <p:spPr>
          <a:xfrm>
            <a:off x="4261104" y="4800600"/>
            <a:ext cx="1737360" cy="731520"/>
          </a:xfrm>
          <a:prstGeom prst="rect">
            <a:avLst/>
          </a:prstGeom>
          <a:noFill/>
          <a:ln/>
        </p:spPr>
        <p:txBody>
          <a:bodyPr wrap="square" lIns="635" tIns="635" rIns="635" bIns="635" rtlCol="0" anchor="ctr"/>
          <a:lstStyle/>
          <a:p>
            <a:pPr algn="ctr" indent="0" marL="0">
              <a:buNone/>
            </a:pPr>
            <a:r>
              <a:rPr lang="en-US" sz="1200" b="1" dirty="0">
                <a:solidFill>
                  <a:srgbClr val="1A5FD6"/>
                </a:solidFill>
              </a:rPr>
              <a:t>Policy history</a:t>
            </a:r>
            <a:endParaRPr lang="en-US" sz="1200" dirty="0"/>
          </a:p>
        </p:txBody>
      </p:sp>
      <p:sp>
        <p:nvSpPr>
          <p:cNvPr id="33" name="Shape 30"/>
          <p:cNvSpPr/>
          <p:nvPr/>
        </p:nvSpPr>
        <p:spPr>
          <a:xfrm>
            <a:off x="6117336" y="4800600"/>
            <a:ext cx="1737360" cy="731520"/>
          </a:xfrm>
          <a:prstGeom prst="roundRect">
            <a:avLst>
              <a:gd name="adj" fmla="val 7500"/>
            </a:avLst>
          </a:prstGeom>
          <a:solidFill>
            <a:srgbClr val="FFFFFF"/>
          </a:solidFill>
          <a:ln w="12700">
            <a:solidFill>
              <a:srgbClr val="1A5FD6"/>
            </a:solidFill>
            <a:prstDash val="solid"/>
          </a:ln>
        </p:spPr>
      </p:sp>
      <p:sp>
        <p:nvSpPr>
          <p:cNvPr id="34" name="Text 31"/>
          <p:cNvSpPr txBox="1"/>
          <p:nvPr/>
        </p:nvSpPr>
        <p:spPr>
          <a:xfrm>
            <a:off x="6117336" y="4800600"/>
            <a:ext cx="1737360" cy="731520"/>
          </a:xfrm>
          <a:prstGeom prst="rect">
            <a:avLst/>
          </a:prstGeom>
          <a:noFill/>
          <a:ln/>
        </p:spPr>
        <p:txBody>
          <a:bodyPr wrap="square" lIns="635" tIns="635" rIns="635" bIns="635" rtlCol="0" anchor="ctr"/>
          <a:lstStyle/>
          <a:p>
            <a:pPr algn="ctr" indent="0" marL="0">
              <a:buNone/>
            </a:pPr>
            <a:r>
              <a:rPr lang="en-US" sz="1200" b="1" dirty="0">
                <a:solidFill>
                  <a:srgbClr val="1A5FD6"/>
                </a:solidFill>
              </a:rPr>
              <a:t>Institutional adoption</a:t>
            </a:r>
            <a:endParaRPr lang="en-US" sz="1200" dirty="0"/>
          </a:p>
        </p:txBody>
      </p:sp>
      <p:sp>
        <p:nvSpPr>
          <p:cNvPr id="35" name="Shape 32"/>
          <p:cNvSpPr/>
          <p:nvPr/>
        </p:nvSpPr>
        <p:spPr>
          <a:xfrm>
            <a:off x="7973568" y="4800600"/>
            <a:ext cx="1737360" cy="731520"/>
          </a:xfrm>
          <a:prstGeom prst="roundRect">
            <a:avLst>
              <a:gd name="adj" fmla="val 7500"/>
            </a:avLst>
          </a:prstGeom>
          <a:solidFill>
            <a:srgbClr val="FFFFFF"/>
          </a:solidFill>
          <a:ln w="12700">
            <a:solidFill>
              <a:srgbClr val="1A5FD6"/>
            </a:solidFill>
            <a:prstDash val="solid"/>
          </a:ln>
        </p:spPr>
      </p:sp>
      <p:sp>
        <p:nvSpPr>
          <p:cNvPr id="36" name="Text 33"/>
          <p:cNvSpPr txBox="1"/>
          <p:nvPr/>
        </p:nvSpPr>
        <p:spPr>
          <a:xfrm>
            <a:off x="7973568" y="4800600"/>
            <a:ext cx="1737360" cy="731520"/>
          </a:xfrm>
          <a:prstGeom prst="rect">
            <a:avLst/>
          </a:prstGeom>
          <a:noFill/>
          <a:ln/>
        </p:spPr>
        <p:txBody>
          <a:bodyPr wrap="square" lIns="635" tIns="635" rIns="635" bIns="635" rtlCol="0" anchor="ctr"/>
          <a:lstStyle/>
          <a:p>
            <a:pPr algn="ctr" indent="0" marL="0">
              <a:buNone/>
            </a:pPr>
            <a:r>
              <a:rPr lang="en-US" sz="1200" b="1" dirty="0">
                <a:solidFill>
                  <a:srgbClr val="1A5FD6"/>
                </a:solidFill>
              </a:rPr>
              <a:t>Distribution</a:t>
            </a:r>
            <a:endParaRPr lang="en-US" sz="1200" dirty="0"/>
          </a:p>
        </p:txBody>
      </p:sp>
      <p:sp>
        <p:nvSpPr>
          <p:cNvPr id="37" name="Shape 34"/>
          <p:cNvSpPr/>
          <p:nvPr/>
        </p:nvSpPr>
        <p:spPr>
          <a:xfrm>
            <a:off x="9829800" y="4800600"/>
            <a:ext cx="1737360" cy="731520"/>
          </a:xfrm>
          <a:prstGeom prst="roundRect">
            <a:avLst>
              <a:gd name="adj" fmla="val 7500"/>
            </a:avLst>
          </a:prstGeom>
          <a:solidFill>
            <a:srgbClr val="FFFFFF"/>
          </a:solidFill>
          <a:ln w="12700">
            <a:solidFill>
              <a:srgbClr val="1A5FD6"/>
            </a:solidFill>
            <a:prstDash val="solid"/>
          </a:ln>
        </p:spPr>
      </p:sp>
      <p:sp>
        <p:nvSpPr>
          <p:cNvPr id="38" name="Text 35"/>
          <p:cNvSpPr txBox="1"/>
          <p:nvPr/>
        </p:nvSpPr>
        <p:spPr>
          <a:xfrm>
            <a:off x="9829800" y="4800600"/>
            <a:ext cx="1737360" cy="731520"/>
          </a:xfrm>
          <a:prstGeom prst="rect">
            <a:avLst/>
          </a:prstGeom>
          <a:noFill/>
          <a:ln/>
        </p:spPr>
        <p:txBody>
          <a:bodyPr wrap="square" lIns="635" tIns="635" rIns="635" bIns="635" rtlCol="0" anchor="ctr"/>
          <a:lstStyle/>
          <a:p>
            <a:pPr algn="ctr" indent="0" marL="0">
              <a:buNone/>
            </a:pPr>
            <a:r>
              <a:rPr lang="en-US" sz="1200" b="1" dirty="0">
                <a:solidFill>
                  <a:srgbClr val="1A5FD6"/>
                </a:solidFill>
              </a:rPr>
              <a:t>Time-to-market</a:t>
            </a:r>
            <a:endParaRPr lang="en-US" sz="1200" dirty="0"/>
          </a:p>
        </p:txBody>
      </p:sp>
      <p:sp>
        <p:nvSpPr>
          <p:cNvPr id="39" name="Text 36"/>
          <p:cNvSpPr txBox="1"/>
          <p:nvPr/>
        </p:nvSpPr>
        <p:spPr>
          <a:xfrm>
            <a:off x="548640" y="5760720"/>
            <a:ext cx="11064240" cy="457200"/>
          </a:xfrm>
          <a:prstGeom prst="rect">
            <a:avLst/>
          </a:prstGeom>
          <a:noFill/>
          <a:ln/>
        </p:spPr>
        <p:txBody>
          <a:bodyPr wrap="square" lIns="635" tIns="635" rIns="635" bIns="635" rtlCol="0" anchor="ctr"/>
          <a:lstStyle/>
          <a:p>
            <a:pPr algn="l" indent="0" marL="0">
              <a:buNone/>
            </a:pPr>
            <a:r>
              <a:rPr lang="en-US" sz="1200" i="1" dirty="0">
                <a:solidFill>
                  <a:srgbClr val="5B6577"/>
                </a:solidFill>
              </a:rPr>
              <a:t>No claim of an impenetrable moat.  AI is an enhancement, not the moat.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A5FD6"/>
          </a:solidFill>
          <a:ln w="12700">
            <a:solidFill>
              <a:srgbClr val="1A5FD6"/>
            </a:solidFill>
            <a:prstDash val="solid"/>
          </a:ln>
        </p:spPr>
      </p:sp>
      <p:sp>
        <p:nvSpPr>
          <p:cNvPr id="3" name="Text 1"/>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A5FD6"/>
                </a:solidFill>
              </a:rPr>
              <a:t>TIMING</a:t>
            </a:r>
            <a:endParaRPr lang="en-US" sz="1100" dirty="0"/>
          </a:p>
        </p:txBody>
      </p:sp>
      <p:sp>
        <p:nvSpPr>
          <p:cNvPr id="4" name="Text 2"/>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B1F44"/>
                </a:solidFill>
                <a:latin typeface="Georgia" pitchFamily="34" charset="0"/>
                <a:ea typeface="Georgia" pitchFamily="34" charset="-122"/>
                <a:cs typeface="Georgia" pitchFamily="34" charset="-120"/>
              </a:rPr>
              <a:t>Why now: regulatory timing gives a concrete beachhead; it does not guarantee demand</a:t>
            </a:r>
            <a:endParaRPr lang="en-US" sz="2600" dirty="0"/>
          </a:p>
        </p:txBody>
      </p:sp>
      <p:sp>
        <p:nvSpPr>
          <p:cNvPr id="5" name="Text 3"/>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5B6577"/>
                </a:solidFill>
              </a:rPr>
              <a:t>LSEG | Execution Policy Intelligence — internal product proposal | Illustrative scenario data</a:t>
            </a:r>
            <a:endParaRPr lang="en-US" sz="900" dirty="0"/>
          </a:p>
        </p:txBody>
      </p:sp>
      <p:sp>
        <p:nvSpPr>
          <p:cNvPr id="6" name="Text 4"/>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7"/>
                </a:solidFill>
              </a:rPr>
              <a:t>10</a:t>
            </a:r>
            <a:endParaRPr lang="en-US" sz="900" dirty="0"/>
          </a:p>
        </p:txBody>
      </p:sp>
      <p:sp>
        <p:nvSpPr>
          <p:cNvPr id="8" name="Shape 5"/>
          <p:cNvSpPr/>
          <p:nvPr/>
        </p:nvSpPr>
        <p:spPr>
          <a:xfrm>
            <a:off x="822960" y="2468880"/>
            <a:ext cx="10515600" cy="0"/>
          </a:xfrm>
          <a:prstGeom prst="line">
            <a:avLst/>
          </a:prstGeom>
          <a:noFill/>
          <a:ln w="38100">
            <a:solidFill>
              <a:srgbClr val="D5DCE8"/>
            </a:solidFill>
            <a:prstDash val="solid"/>
          </a:ln>
        </p:spPr>
      </p:sp>
      <p:sp>
        <p:nvSpPr>
          <p:cNvPr id="9" name="Shape 6"/>
          <p:cNvSpPr/>
          <p:nvPr/>
        </p:nvSpPr>
        <p:spPr>
          <a:xfrm>
            <a:off x="950976" y="2322576"/>
            <a:ext cx="292608" cy="292608"/>
          </a:xfrm>
          <a:prstGeom prst="ellipse">
            <a:avLst/>
          </a:prstGeom>
          <a:solidFill>
            <a:srgbClr val="1A5FD6"/>
          </a:solidFill>
          <a:ln w="25400">
            <a:solidFill>
              <a:srgbClr val="FFFFFF"/>
            </a:solidFill>
            <a:prstDash val="solid"/>
          </a:ln>
        </p:spPr>
      </p:sp>
      <p:sp>
        <p:nvSpPr>
          <p:cNvPr id="10" name="Text 7"/>
          <p:cNvSpPr txBox="1"/>
          <p:nvPr/>
        </p:nvSpPr>
        <p:spPr>
          <a:xfrm>
            <a:off x="182880" y="1783080"/>
            <a:ext cx="1828800" cy="365760"/>
          </a:xfrm>
          <a:prstGeom prst="rect">
            <a:avLst/>
          </a:prstGeom>
          <a:noFill/>
          <a:ln/>
        </p:spPr>
        <p:txBody>
          <a:bodyPr wrap="square" lIns="635" tIns="635" rIns="635" bIns="635" rtlCol="0" anchor="ctr"/>
          <a:lstStyle/>
          <a:p>
            <a:pPr algn="ctr" indent="0" marL="0">
              <a:buNone/>
            </a:pPr>
            <a:r>
              <a:rPr lang="en-US" sz="1500" b="1" dirty="0">
                <a:solidFill>
                  <a:srgbClr val="1A5FD6"/>
                </a:solidFill>
              </a:rPr>
              <a:t>Apr 2026</a:t>
            </a:r>
            <a:endParaRPr lang="en-US" sz="1500" dirty="0"/>
          </a:p>
        </p:txBody>
      </p:sp>
      <p:sp>
        <p:nvSpPr>
          <p:cNvPr id="11" name="Text 8"/>
          <p:cNvSpPr txBox="1"/>
          <p:nvPr/>
        </p:nvSpPr>
        <p:spPr>
          <a:xfrm>
            <a:off x="182880" y="2743200"/>
            <a:ext cx="1828800" cy="365760"/>
          </a:xfrm>
          <a:prstGeom prst="rect">
            <a:avLst/>
          </a:prstGeom>
          <a:noFill/>
          <a:ln/>
        </p:spPr>
        <p:txBody>
          <a:bodyPr wrap="square" lIns="635" tIns="635" rIns="635" bIns="635" rtlCol="0" anchor="ctr"/>
          <a:lstStyle/>
          <a:p>
            <a:pPr algn="ctr" indent="0" marL="0">
              <a:buNone/>
            </a:pPr>
            <a:r>
              <a:rPr lang="en-US" sz="1200" dirty="0">
                <a:solidFill>
                  <a:srgbClr val="5B6577"/>
                </a:solidFill>
              </a:rPr>
              <a:t>Regulation adopted</a:t>
            </a:r>
            <a:endParaRPr lang="en-US" sz="1200" dirty="0"/>
          </a:p>
        </p:txBody>
      </p:sp>
      <p:sp>
        <p:nvSpPr>
          <p:cNvPr id="12" name="Shape 9"/>
          <p:cNvSpPr/>
          <p:nvPr/>
        </p:nvSpPr>
        <p:spPr>
          <a:xfrm>
            <a:off x="4242816" y="2322576"/>
            <a:ext cx="292608" cy="292608"/>
          </a:xfrm>
          <a:prstGeom prst="ellipse">
            <a:avLst/>
          </a:prstGeom>
          <a:solidFill>
            <a:srgbClr val="1A5FD6"/>
          </a:solidFill>
          <a:ln w="25400">
            <a:solidFill>
              <a:srgbClr val="FFFFFF"/>
            </a:solidFill>
            <a:prstDash val="solid"/>
          </a:ln>
        </p:spPr>
      </p:sp>
      <p:sp>
        <p:nvSpPr>
          <p:cNvPr id="13" name="Text 10"/>
          <p:cNvSpPr txBox="1"/>
          <p:nvPr/>
        </p:nvSpPr>
        <p:spPr>
          <a:xfrm>
            <a:off x="3474720" y="1783080"/>
            <a:ext cx="1828800" cy="365760"/>
          </a:xfrm>
          <a:prstGeom prst="rect">
            <a:avLst/>
          </a:prstGeom>
          <a:noFill/>
          <a:ln/>
        </p:spPr>
        <p:txBody>
          <a:bodyPr wrap="square" lIns="635" tIns="635" rIns="635" bIns="635" rtlCol="0" anchor="ctr"/>
          <a:lstStyle/>
          <a:p>
            <a:pPr algn="ctr" indent="0" marL="0">
              <a:buNone/>
            </a:pPr>
            <a:r>
              <a:rPr lang="en-US" sz="1500" b="1" dirty="0">
                <a:solidFill>
                  <a:srgbClr val="1A5FD6"/>
                </a:solidFill>
              </a:rPr>
              <a:t>Jul 2026</a:t>
            </a:r>
            <a:endParaRPr lang="en-US" sz="1500" dirty="0"/>
          </a:p>
        </p:txBody>
      </p:sp>
      <p:sp>
        <p:nvSpPr>
          <p:cNvPr id="14" name="Text 11"/>
          <p:cNvSpPr txBox="1"/>
          <p:nvPr/>
        </p:nvSpPr>
        <p:spPr>
          <a:xfrm>
            <a:off x="3474720" y="2743200"/>
            <a:ext cx="1828800" cy="365760"/>
          </a:xfrm>
          <a:prstGeom prst="rect">
            <a:avLst/>
          </a:prstGeom>
          <a:noFill/>
          <a:ln/>
        </p:spPr>
        <p:txBody>
          <a:bodyPr wrap="square" lIns="635" tIns="635" rIns="635" bIns="635" rtlCol="0" anchor="ctr"/>
          <a:lstStyle/>
          <a:p>
            <a:pPr algn="ctr" indent="0" marL="0">
              <a:buNone/>
            </a:pPr>
            <a:r>
              <a:rPr lang="en-US" sz="1200" dirty="0">
                <a:solidFill>
                  <a:srgbClr val="5B6577"/>
                </a:solidFill>
              </a:rPr>
              <a:t>Published</a:t>
            </a:r>
            <a:endParaRPr lang="en-US" sz="1200" dirty="0"/>
          </a:p>
        </p:txBody>
      </p:sp>
      <p:sp>
        <p:nvSpPr>
          <p:cNvPr id="15" name="Shape 12"/>
          <p:cNvSpPr/>
          <p:nvPr/>
        </p:nvSpPr>
        <p:spPr>
          <a:xfrm>
            <a:off x="7534656" y="2322576"/>
            <a:ext cx="292608" cy="292608"/>
          </a:xfrm>
          <a:prstGeom prst="ellipse">
            <a:avLst/>
          </a:prstGeom>
          <a:solidFill>
            <a:srgbClr val="1A5FD6"/>
          </a:solidFill>
          <a:ln w="25400">
            <a:solidFill>
              <a:srgbClr val="FFFFFF"/>
            </a:solidFill>
            <a:prstDash val="solid"/>
          </a:ln>
        </p:spPr>
      </p:sp>
      <p:sp>
        <p:nvSpPr>
          <p:cNvPr id="16" name="Text 13"/>
          <p:cNvSpPr txBox="1"/>
          <p:nvPr/>
        </p:nvSpPr>
        <p:spPr>
          <a:xfrm>
            <a:off x="6766560" y="1783080"/>
            <a:ext cx="1828800" cy="365760"/>
          </a:xfrm>
          <a:prstGeom prst="rect">
            <a:avLst/>
          </a:prstGeom>
          <a:noFill/>
          <a:ln/>
        </p:spPr>
        <p:txBody>
          <a:bodyPr wrap="square" lIns="635" tIns="635" rIns="635" bIns="635" rtlCol="0" anchor="ctr"/>
          <a:lstStyle/>
          <a:p>
            <a:pPr algn="ctr" indent="0" marL="0">
              <a:buNone/>
            </a:pPr>
            <a:r>
              <a:rPr lang="en-US" sz="1500" b="1" dirty="0">
                <a:solidFill>
                  <a:srgbClr val="1A5FD6"/>
                </a:solidFill>
              </a:rPr>
              <a:t>2026-27</a:t>
            </a:r>
            <a:endParaRPr lang="en-US" sz="1500" dirty="0"/>
          </a:p>
        </p:txBody>
      </p:sp>
      <p:sp>
        <p:nvSpPr>
          <p:cNvPr id="17" name="Text 14"/>
          <p:cNvSpPr txBox="1"/>
          <p:nvPr/>
        </p:nvSpPr>
        <p:spPr>
          <a:xfrm>
            <a:off x="6766560" y="2743200"/>
            <a:ext cx="1828800" cy="365760"/>
          </a:xfrm>
          <a:prstGeom prst="rect">
            <a:avLst/>
          </a:prstGeom>
          <a:noFill/>
          <a:ln/>
        </p:spPr>
        <p:txBody>
          <a:bodyPr wrap="square" lIns="635" tIns="635" rIns="635" bIns="635" rtlCol="0" anchor="ctr"/>
          <a:lstStyle/>
          <a:p>
            <a:pPr algn="ctr" indent="0" marL="0">
              <a:buNone/>
            </a:pPr>
            <a:r>
              <a:rPr lang="en-US" sz="1200" dirty="0">
                <a:solidFill>
                  <a:srgbClr val="5B6577"/>
                </a:solidFill>
              </a:rPr>
              <a:t>Pilot window</a:t>
            </a:r>
            <a:endParaRPr lang="en-US" sz="1200" dirty="0"/>
          </a:p>
        </p:txBody>
      </p:sp>
      <p:sp>
        <p:nvSpPr>
          <p:cNvPr id="18" name="Shape 15"/>
          <p:cNvSpPr/>
          <p:nvPr/>
        </p:nvSpPr>
        <p:spPr>
          <a:xfrm>
            <a:off x="10826496" y="2322576"/>
            <a:ext cx="292608" cy="292608"/>
          </a:xfrm>
          <a:prstGeom prst="ellipse">
            <a:avLst/>
          </a:prstGeom>
          <a:solidFill>
            <a:srgbClr val="C0392B"/>
          </a:solidFill>
          <a:ln w="25400">
            <a:solidFill>
              <a:srgbClr val="FFFFFF"/>
            </a:solidFill>
            <a:prstDash val="solid"/>
          </a:ln>
        </p:spPr>
      </p:sp>
      <p:sp>
        <p:nvSpPr>
          <p:cNvPr id="19" name="Text 16"/>
          <p:cNvSpPr txBox="1"/>
          <p:nvPr/>
        </p:nvSpPr>
        <p:spPr>
          <a:xfrm>
            <a:off x="10058400" y="1783080"/>
            <a:ext cx="1828800" cy="365760"/>
          </a:xfrm>
          <a:prstGeom prst="rect">
            <a:avLst/>
          </a:prstGeom>
          <a:noFill/>
          <a:ln/>
        </p:spPr>
        <p:txBody>
          <a:bodyPr wrap="square" lIns="635" tIns="635" rIns="635" bIns="635" rtlCol="0" anchor="ctr"/>
          <a:lstStyle/>
          <a:p>
            <a:pPr algn="ctr" indent="0" marL="0">
              <a:buNone/>
            </a:pPr>
            <a:r>
              <a:rPr lang="en-US" sz="1500" b="1" dirty="0">
                <a:solidFill>
                  <a:srgbClr val="C0392B"/>
                </a:solidFill>
              </a:rPr>
              <a:t>12 Feb 2028</a:t>
            </a:r>
            <a:endParaRPr lang="en-US" sz="1500" dirty="0"/>
          </a:p>
        </p:txBody>
      </p:sp>
      <p:sp>
        <p:nvSpPr>
          <p:cNvPr id="20" name="Text 17"/>
          <p:cNvSpPr txBox="1"/>
          <p:nvPr/>
        </p:nvSpPr>
        <p:spPr>
          <a:xfrm>
            <a:off x="10058400" y="2743200"/>
            <a:ext cx="1828800" cy="365760"/>
          </a:xfrm>
          <a:prstGeom prst="rect">
            <a:avLst/>
          </a:prstGeom>
          <a:noFill/>
          <a:ln/>
        </p:spPr>
        <p:txBody>
          <a:bodyPr wrap="square" lIns="635" tIns="635" rIns="635" bIns="635" rtlCol="0" anchor="ctr"/>
          <a:lstStyle/>
          <a:p>
            <a:pPr algn="ctr" indent="0" marL="0">
              <a:buNone/>
            </a:pPr>
            <a:r>
              <a:rPr lang="en-US" sz="1200" dirty="0">
                <a:solidFill>
                  <a:srgbClr val="5B6577"/>
                </a:solidFill>
              </a:rPr>
              <a:t>Applies</a:t>
            </a:r>
            <a:endParaRPr lang="en-US" sz="1200" dirty="0"/>
          </a:p>
        </p:txBody>
      </p:sp>
      <p:sp>
        <p:nvSpPr>
          <p:cNvPr id="21" name="Shape 18"/>
          <p:cNvSpPr/>
          <p:nvPr/>
        </p:nvSpPr>
        <p:spPr>
          <a:xfrm>
            <a:off x="548640" y="3474720"/>
            <a:ext cx="5394960" cy="2651760"/>
          </a:xfrm>
          <a:prstGeom prst="rect">
            <a:avLst>
              <a:gd name="adj" fmla="val 2069"/>
            </a:avLst>
          </a:prstGeom>
          <a:solidFill>
            <a:srgbClr val="F2F5FA"/>
          </a:solidFill>
          <a:ln w="12700">
            <a:solidFill>
              <a:srgbClr val="D5DCE8"/>
            </a:solidFill>
            <a:prstDash val="solid"/>
          </a:ln>
        </p:spPr>
      </p:sp>
      <p:sp>
        <p:nvSpPr>
          <p:cNvPr id="22" name="Shape 19"/>
          <p:cNvSpPr/>
          <p:nvPr/>
        </p:nvSpPr>
        <p:spPr>
          <a:xfrm>
            <a:off x="548640" y="3474720"/>
            <a:ext cx="5394960" cy="64008"/>
          </a:xfrm>
          <a:prstGeom prst="rect">
            <a:avLst/>
          </a:prstGeom>
          <a:solidFill>
            <a:srgbClr val="1A5FD6"/>
          </a:solidFill>
          <a:ln w="12700">
            <a:solidFill>
              <a:srgbClr val="1A5FD6"/>
            </a:solidFill>
            <a:prstDash val="solid"/>
          </a:ln>
        </p:spPr>
      </p:sp>
      <p:sp>
        <p:nvSpPr>
          <p:cNvPr id="23" name="Text 20"/>
          <p:cNvSpPr txBox="1"/>
          <p:nvPr/>
        </p:nvSpPr>
        <p:spPr>
          <a:xfrm>
            <a:off x="685800" y="3611880"/>
            <a:ext cx="5120640" cy="457200"/>
          </a:xfrm>
          <a:prstGeom prst="rect">
            <a:avLst/>
          </a:prstGeom>
          <a:noFill/>
          <a:ln/>
        </p:spPr>
        <p:txBody>
          <a:bodyPr wrap="square" lIns="635" tIns="635" rIns="635" bIns="635" rtlCol="0" anchor="ctr"/>
          <a:lstStyle/>
          <a:p>
            <a:pPr indent="0" marL="0">
              <a:buNone/>
            </a:pPr>
            <a:r>
              <a:rPr lang="en-US" sz="1500" b="1" dirty="0">
                <a:solidFill>
                  <a:srgbClr val="1A5FD6"/>
                </a:solidFill>
              </a:rPr>
              <a:t>Initial beachhead (narrow)</a:t>
            </a:r>
            <a:endParaRPr lang="en-US" sz="1500" dirty="0"/>
          </a:p>
        </p:txBody>
      </p:sp>
      <p:sp>
        <p:nvSpPr>
          <p:cNvPr id="24" name="Text 21"/>
          <p:cNvSpPr txBox="1"/>
          <p:nvPr/>
        </p:nvSpPr>
        <p:spPr>
          <a:xfrm>
            <a:off x="685800" y="4114800"/>
            <a:ext cx="5120640" cy="1874520"/>
          </a:xfrm>
          <a:prstGeom prst="rect">
            <a:avLst/>
          </a:prstGeom>
          <a:noFill/>
          <a:ln/>
        </p:spPr>
        <p:txBody>
          <a:bodyPr wrap="square" lIns="635" tIns="635" rIns="635" bIns="635" rtlCol="0" anchor="t"/>
          <a:lstStyle/>
          <a:p>
            <a:pPr indent="0" marL="0">
              <a:buNone/>
            </a:pPr>
            <a:r>
              <a:rPr lang="en-US" sz="1250" dirty="0">
                <a:solidFill>
                  <a:srgbClr val="5B6577"/>
                </a:solidFill>
              </a:rPr>
              <a:t>EU-regulated investment firms trading in-scope FX derivatives such as forwards, NDFs and swaps.</a:t>
            </a:r>
            <a:endParaRPr lang="en-US" sz="1250" dirty="0"/>
          </a:p>
          <a:p>
            <a:pPr indent="0" marL="0">
              <a:buNone/>
            </a:pPr>
            <a:endParaRPr lang="en-US" sz="1250" dirty="0"/>
          </a:p>
          <a:p>
            <a:pPr indent="0" marL="0">
              <a:buNone/>
            </a:pPr>
            <a:r>
              <a:rPr lang="en-US" sz="1250" dirty="0">
                <a:solidFill>
                  <a:srgbClr val="5B6577"/>
                </a:solidFill>
              </a:rPr>
              <a:t>Not all institutional FX. Not spot FX under the same requirement.</a:t>
            </a:r>
            <a:endParaRPr lang="en-US" sz="1250" dirty="0"/>
          </a:p>
        </p:txBody>
      </p:sp>
      <p:sp>
        <p:nvSpPr>
          <p:cNvPr id="25" name="Shape 22"/>
          <p:cNvSpPr/>
          <p:nvPr/>
        </p:nvSpPr>
        <p:spPr>
          <a:xfrm>
            <a:off x="6217920" y="3474720"/>
            <a:ext cx="5394960" cy="2651760"/>
          </a:xfrm>
          <a:prstGeom prst="rect">
            <a:avLst>
              <a:gd name="adj" fmla="val 2069"/>
            </a:avLst>
          </a:prstGeom>
          <a:solidFill>
            <a:srgbClr val="F2F5FA"/>
          </a:solidFill>
          <a:ln w="12700">
            <a:solidFill>
              <a:srgbClr val="D5DCE8"/>
            </a:solidFill>
            <a:prstDash val="solid"/>
          </a:ln>
        </p:spPr>
      </p:sp>
      <p:sp>
        <p:nvSpPr>
          <p:cNvPr id="26" name="Text 23"/>
          <p:cNvSpPr txBox="1"/>
          <p:nvPr/>
        </p:nvSpPr>
        <p:spPr>
          <a:xfrm>
            <a:off x="6400800" y="3566160"/>
            <a:ext cx="4572000" cy="365760"/>
          </a:xfrm>
          <a:prstGeom prst="rect">
            <a:avLst/>
          </a:prstGeom>
          <a:noFill/>
          <a:ln/>
        </p:spPr>
        <p:txBody>
          <a:bodyPr wrap="square" lIns="635" tIns="635" rIns="635" bIns="635" rtlCol="0" anchor="ctr"/>
          <a:lstStyle/>
          <a:p>
            <a:pPr indent="0" marL="0">
              <a:buNone/>
            </a:pPr>
            <a:r>
              <a:rPr lang="en-US" sz="1500" b="1" dirty="0">
                <a:solidFill>
                  <a:srgbClr val="0B1F44"/>
                </a:solidFill>
              </a:rPr>
              <a:t>Market tailwinds</a:t>
            </a:r>
            <a:endParaRPr lang="en-US" sz="1500" dirty="0"/>
          </a:p>
        </p:txBody>
      </p:sp>
      <p:sp>
        <p:nvSpPr>
          <p:cNvPr id="27" name="Text 24"/>
          <p:cNvSpPr txBox="1"/>
          <p:nvPr/>
        </p:nvSpPr>
        <p:spPr>
          <a:xfrm>
            <a:off x="6400800" y="4023360"/>
            <a:ext cx="5029200" cy="2011680"/>
          </a:xfrm>
          <a:prstGeom prst="rect">
            <a:avLst/>
          </a:prstGeom>
          <a:noFill/>
          <a:ln/>
        </p:spPr>
        <p:txBody>
          <a:bodyPr wrap="square" lIns="635" tIns="635" rIns="635" bIns="635" rtlCol="0" anchor="t"/>
          <a:lstStyle/>
          <a:p>
            <a:pPr marL="342900" indent="-342900">
              <a:spcAft>
                <a:spcPts val="500"/>
              </a:spcAft>
              <a:buSzPct val="100000"/>
              <a:buChar char="•"/>
            </a:pPr>
            <a:r>
              <a:rPr lang="en-US" sz="1300" dirty="0">
                <a:solidFill>
                  <a:srgbClr val="5B6577"/>
                </a:solidFill>
              </a:rPr>
              <a:t>Increasing execution complexity</a:t>
            </a:r>
            <a:endParaRPr lang="en-US" sz="1300" dirty="0"/>
          </a:p>
          <a:p>
            <a:pPr marL="342900" indent="-342900">
              <a:spcAft>
                <a:spcPts val="500"/>
              </a:spcAft>
              <a:buSzPct val="100000"/>
              <a:buChar char="•"/>
            </a:pPr>
            <a:r>
              <a:rPr lang="en-US" sz="1300" dirty="0">
                <a:solidFill>
                  <a:srgbClr val="5B6577"/>
                </a:solidFill>
              </a:rPr>
              <a:t>Growth of algorithmic execution</a:t>
            </a:r>
            <a:endParaRPr lang="en-US" sz="1300" dirty="0"/>
          </a:p>
          <a:p>
            <a:pPr marL="342900" indent="-342900">
              <a:spcAft>
                <a:spcPts val="500"/>
              </a:spcAft>
              <a:buSzPct val="100000"/>
              <a:buChar char="•"/>
            </a:pPr>
            <a:r>
              <a:rPr lang="en-US" sz="1300" dirty="0">
                <a:solidFill>
                  <a:srgbClr val="5B6577"/>
                </a:solidFill>
              </a:rPr>
              <a:t>Fragmented FX liquidity</a:t>
            </a:r>
            <a:endParaRPr lang="en-US" sz="1300" dirty="0"/>
          </a:p>
          <a:p>
            <a:pPr marL="342900" indent="-342900">
              <a:spcAft>
                <a:spcPts val="500"/>
              </a:spcAft>
              <a:buSzPct val="100000"/>
              <a:buChar char="•"/>
            </a:pPr>
            <a:r>
              <a:rPr lang="en-US" sz="1300" dirty="0">
                <a:solidFill>
                  <a:srgbClr val="5B6577"/>
                </a:solidFill>
              </a:rPr>
              <a:t>Need for ongoing evidence</a:t>
            </a:r>
            <a:endParaRPr lang="en-US" sz="1300" dirty="0"/>
          </a:p>
          <a:p>
            <a:pPr marL="342900" indent="-342900">
              <a:spcAft>
                <a:spcPts val="500"/>
              </a:spcAft>
              <a:buSzPct val="100000"/>
              <a:buChar char="•"/>
            </a:pPr>
            <a:r>
              <a:rPr lang="en-US" sz="1300" dirty="0">
                <a:solidFill>
                  <a:srgbClr val="5B6577"/>
                </a:solidFill>
              </a:rPr>
              <a:t>Existing LSEG infrastructure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A5FD6"/>
          </a:solidFill>
          <a:ln w="12700">
            <a:solidFill>
              <a:srgbClr val="1A5FD6"/>
            </a:solidFill>
            <a:prstDash val="solid"/>
          </a:ln>
        </p:spPr>
      </p:sp>
      <p:sp>
        <p:nvSpPr>
          <p:cNvPr id="3" name="Text 1"/>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A5FD6"/>
                </a:solidFill>
              </a:rPr>
              <a:t>BUSINESS CASE</a:t>
            </a:r>
            <a:endParaRPr lang="en-US" sz="1100" dirty="0"/>
          </a:p>
        </p:txBody>
      </p:sp>
      <p:sp>
        <p:nvSpPr>
          <p:cNvPr id="4" name="Text 2"/>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B1F44"/>
                </a:solidFill>
                <a:latin typeface="Georgia" pitchFamily="34" charset="0"/>
                <a:ea typeface="Georgia" pitchFamily="34" charset="-122"/>
                <a:cs typeface="Georgia" pitchFamily="34" charset="-120"/>
              </a:rPr>
              <a:t>MVP and business case: a premium Tradefeedr / Workspace capability, to be validated</a:t>
            </a:r>
            <a:endParaRPr lang="en-US" sz="2600" dirty="0"/>
          </a:p>
        </p:txBody>
      </p:sp>
      <p:sp>
        <p:nvSpPr>
          <p:cNvPr id="5" name="Text 3"/>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5B6577"/>
                </a:solidFill>
              </a:rPr>
              <a:t>LSEG | Execution Policy Intelligence — internal product proposal | Illustrative scenario data</a:t>
            </a:r>
            <a:endParaRPr lang="en-US" sz="900" dirty="0"/>
          </a:p>
        </p:txBody>
      </p:sp>
      <p:sp>
        <p:nvSpPr>
          <p:cNvPr id="6" name="Text 4"/>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7"/>
                </a:solidFill>
              </a:rPr>
              <a:t>11</a:t>
            </a:r>
            <a:endParaRPr lang="en-US" sz="900" dirty="0"/>
          </a:p>
        </p:txBody>
      </p:sp>
      <p:sp>
        <p:nvSpPr>
          <p:cNvPr id="8" name="Shape 5"/>
          <p:cNvSpPr/>
          <p:nvPr/>
        </p:nvSpPr>
        <p:spPr>
          <a:xfrm>
            <a:off x="548640" y="1645920"/>
            <a:ext cx="3566160" cy="3200400"/>
          </a:xfrm>
          <a:prstGeom prst="rect">
            <a:avLst>
              <a:gd name="adj" fmla="val 1714"/>
            </a:avLst>
          </a:prstGeom>
          <a:solidFill>
            <a:srgbClr val="F2F5FA"/>
          </a:solidFill>
          <a:ln w="12700">
            <a:solidFill>
              <a:srgbClr val="D5DCE8"/>
            </a:solidFill>
            <a:prstDash val="solid"/>
          </a:ln>
        </p:spPr>
      </p:sp>
      <p:sp>
        <p:nvSpPr>
          <p:cNvPr id="9" name="Shape 6"/>
          <p:cNvSpPr/>
          <p:nvPr/>
        </p:nvSpPr>
        <p:spPr>
          <a:xfrm>
            <a:off x="548640" y="1645920"/>
            <a:ext cx="3566160" cy="64008"/>
          </a:xfrm>
          <a:prstGeom prst="rect">
            <a:avLst/>
          </a:prstGeom>
          <a:solidFill>
            <a:srgbClr val="1A5FD6"/>
          </a:solidFill>
          <a:ln w="12700">
            <a:solidFill>
              <a:srgbClr val="1A5FD6"/>
            </a:solidFill>
            <a:prstDash val="solid"/>
          </a:ln>
        </p:spPr>
      </p:sp>
      <p:sp>
        <p:nvSpPr>
          <p:cNvPr id="10" name="Text 7"/>
          <p:cNvSpPr txBox="1"/>
          <p:nvPr/>
        </p:nvSpPr>
        <p:spPr>
          <a:xfrm>
            <a:off x="685800" y="1783080"/>
            <a:ext cx="3291840" cy="457200"/>
          </a:xfrm>
          <a:prstGeom prst="rect">
            <a:avLst/>
          </a:prstGeom>
          <a:noFill/>
          <a:ln/>
        </p:spPr>
        <p:txBody>
          <a:bodyPr wrap="square" lIns="635" tIns="635" rIns="635" bIns="635" rtlCol="0" anchor="ctr"/>
          <a:lstStyle/>
          <a:p>
            <a:pPr indent="0" marL="0">
              <a:buNone/>
            </a:pPr>
            <a:r>
              <a:rPr lang="en-US" sz="1500" b="1" dirty="0">
                <a:solidFill>
                  <a:srgbClr val="1A5FD6"/>
                </a:solidFill>
              </a:rPr>
              <a:t>MVP</a:t>
            </a:r>
            <a:endParaRPr lang="en-US" sz="1500" dirty="0"/>
          </a:p>
        </p:txBody>
      </p:sp>
      <p:sp>
        <p:nvSpPr>
          <p:cNvPr id="11" name="Text 8"/>
          <p:cNvSpPr txBox="1"/>
          <p:nvPr/>
        </p:nvSpPr>
        <p:spPr>
          <a:xfrm>
            <a:off x="685800" y="2286000"/>
            <a:ext cx="3291840" cy="2423160"/>
          </a:xfrm>
          <a:prstGeom prst="rect">
            <a:avLst/>
          </a:prstGeom>
          <a:noFill/>
          <a:ln/>
        </p:spPr>
        <p:txBody>
          <a:bodyPr wrap="square" lIns="635" tIns="635" rIns="635" bIns="635" rtlCol="0" anchor="t"/>
          <a:lstStyle/>
          <a:p>
            <a:pPr indent="0" marL="0">
              <a:buNone/>
            </a:pPr>
            <a:r>
              <a:rPr lang="en-US" sz="1250" dirty="0">
                <a:solidFill>
                  <a:srgbClr val="5B6577"/>
                </a:solidFill>
              </a:rPr>
              <a:t>Policy Register</a:t>
            </a:r>
            <a:endParaRPr lang="en-US" sz="1250" dirty="0"/>
          </a:p>
          <a:p>
            <a:pPr indent="0" marL="0">
              <a:buNone/>
            </a:pPr>
            <a:r>
              <a:rPr lang="en-US" sz="1250" dirty="0">
                <a:solidFill>
                  <a:srgbClr val="5B6577"/>
                </a:solidFill>
              </a:rPr>
              <a:t>Tradefeedr / evidence integration</a:t>
            </a:r>
            <a:endParaRPr lang="en-US" sz="1250" dirty="0"/>
          </a:p>
          <a:p>
            <a:pPr indent="0" marL="0">
              <a:buNone/>
            </a:pPr>
            <a:r>
              <a:rPr lang="en-US" sz="1250" dirty="0">
                <a:solidFill>
                  <a:srgbClr val="5B6577"/>
                </a:solidFill>
              </a:rPr>
              <a:t>Statistical threshold monitoring</a:t>
            </a:r>
            <a:endParaRPr lang="en-US" sz="1250" dirty="0"/>
          </a:p>
          <a:p>
            <a:pPr indent="0" marL="0">
              <a:buNone/>
            </a:pPr>
            <a:r>
              <a:rPr lang="en-US" sz="1250" dirty="0">
                <a:solidFill>
                  <a:srgbClr val="5B6577"/>
                </a:solidFill>
              </a:rPr>
              <a:t>Policy Review Center and status</a:t>
            </a:r>
            <a:endParaRPr lang="en-US" sz="1250" dirty="0"/>
          </a:p>
          <a:p>
            <a:pPr indent="0" marL="0">
              <a:buNone/>
            </a:pPr>
            <a:r>
              <a:rPr lang="en-US" sz="1250" dirty="0">
                <a:solidFill>
                  <a:srgbClr val="5B6577"/>
                </a:solidFill>
              </a:rPr>
              <a:t>AI explanation + natural-language investigation</a:t>
            </a:r>
            <a:endParaRPr lang="en-US" sz="1250" dirty="0"/>
          </a:p>
          <a:p>
            <a:pPr indent="0" marL="0">
              <a:buNone/>
            </a:pPr>
            <a:r>
              <a:rPr lang="en-US" sz="1250" dirty="0">
                <a:solidFill>
                  <a:srgbClr val="5B6577"/>
                </a:solidFill>
              </a:rPr>
              <a:t>Human decision workflow</a:t>
            </a:r>
            <a:endParaRPr lang="en-US" sz="1250" dirty="0"/>
          </a:p>
          <a:p>
            <a:pPr indent="0" marL="0">
              <a:buNone/>
            </a:pPr>
            <a:r>
              <a:rPr lang="en-US" sz="1250" dirty="0">
                <a:solidFill>
                  <a:srgbClr val="5B6577"/>
                </a:solidFill>
              </a:rPr>
              <a:t>Policy history / provenance</a:t>
            </a:r>
            <a:endParaRPr lang="en-US" sz="1250" dirty="0"/>
          </a:p>
          <a:p>
            <a:pPr indent="0" marL="0">
              <a:buNone/>
            </a:pPr>
            <a:r>
              <a:rPr lang="en-US" sz="1250" dirty="0">
                <a:solidFill>
                  <a:srgbClr val="5B6577"/>
                </a:solidFill>
              </a:rPr>
              <a:t>Link to existing revalidation infrastructure</a:t>
            </a:r>
            <a:endParaRPr lang="en-US" sz="1250" dirty="0"/>
          </a:p>
        </p:txBody>
      </p:sp>
      <p:sp>
        <p:nvSpPr>
          <p:cNvPr id="12" name="Shape 9"/>
          <p:cNvSpPr/>
          <p:nvPr/>
        </p:nvSpPr>
        <p:spPr>
          <a:xfrm>
            <a:off x="4297680" y="1645920"/>
            <a:ext cx="3657600" cy="3200400"/>
          </a:xfrm>
          <a:prstGeom prst="rect">
            <a:avLst>
              <a:gd name="adj" fmla="val 1714"/>
            </a:avLst>
          </a:prstGeom>
          <a:solidFill>
            <a:srgbClr val="F2F5FA"/>
          </a:solidFill>
          <a:ln w="12700">
            <a:solidFill>
              <a:srgbClr val="D5DCE8"/>
            </a:solidFill>
            <a:prstDash val="solid"/>
          </a:ln>
        </p:spPr>
      </p:sp>
      <p:sp>
        <p:nvSpPr>
          <p:cNvPr id="13" name="Shape 10"/>
          <p:cNvSpPr/>
          <p:nvPr/>
        </p:nvSpPr>
        <p:spPr>
          <a:xfrm>
            <a:off x="4297680" y="1645920"/>
            <a:ext cx="3657600" cy="64008"/>
          </a:xfrm>
          <a:prstGeom prst="rect">
            <a:avLst/>
          </a:prstGeom>
          <a:solidFill>
            <a:srgbClr val="0B1F44"/>
          </a:solidFill>
          <a:ln w="12700">
            <a:solidFill>
              <a:srgbClr val="0B1F44"/>
            </a:solidFill>
            <a:prstDash val="solid"/>
          </a:ln>
        </p:spPr>
      </p:sp>
      <p:sp>
        <p:nvSpPr>
          <p:cNvPr id="14" name="Text 11"/>
          <p:cNvSpPr txBox="1"/>
          <p:nvPr/>
        </p:nvSpPr>
        <p:spPr>
          <a:xfrm>
            <a:off x="4434840" y="1783080"/>
            <a:ext cx="3383280" cy="457200"/>
          </a:xfrm>
          <a:prstGeom prst="rect">
            <a:avLst/>
          </a:prstGeom>
          <a:noFill/>
          <a:ln/>
        </p:spPr>
        <p:txBody>
          <a:bodyPr wrap="square" lIns="635" tIns="635" rIns="635" bIns="635" rtlCol="0" anchor="ctr"/>
          <a:lstStyle/>
          <a:p>
            <a:pPr indent="0" marL="0">
              <a:buNone/>
            </a:pPr>
            <a:r>
              <a:rPr lang="en-US" sz="1500" b="1" dirty="0">
                <a:solidFill>
                  <a:srgbClr val="0B1F44"/>
                </a:solidFill>
              </a:rPr>
              <a:t>Customer and model</a:t>
            </a:r>
            <a:endParaRPr lang="en-US" sz="1500" dirty="0"/>
          </a:p>
        </p:txBody>
      </p:sp>
      <p:sp>
        <p:nvSpPr>
          <p:cNvPr id="15" name="Text 12"/>
          <p:cNvSpPr txBox="1"/>
          <p:nvPr/>
        </p:nvSpPr>
        <p:spPr>
          <a:xfrm>
            <a:off x="4434840" y="2286000"/>
            <a:ext cx="3383280" cy="2423160"/>
          </a:xfrm>
          <a:prstGeom prst="rect">
            <a:avLst/>
          </a:prstGeom>
          <a:noFill/>
          <a:ln/>
        </p:spPr>
        <p:txBody>
          <a:bodyPr wrap="square" lIns="635" tIns="635" rIns="635" bIns="635" rtlCol="0" anchor="t"/>
          <a:lstStyle/>
          <a:p>
            <a:pPr indent="0" marL="0">
              <a:buNone/>
            </a:pPr>
            <a:r>
              <a:rPr lang="en-US" sz="1250" dirty="0">
                <a:solidFill>
                  <a:srgbClr val="5B6577"/>
                </a:solidFill>
              </a:rPr>
              <a:t>User: FX / eTrading Quant</a:t>
            </a:r>
            <a:endParaRPr lang="en-US" sz="1250" dirty="0"/>
          </a:p>
          <a:p>
            <a:pPr indent="0" marL="0">
              <a:buNone/>
            </a:pPr>
            <a:r>
              <a:rPr lang="en-US" sz="1250" dirty="0">
                <a:solidFill>
                  <a:srgbClr val="5B6577"/>
                </a:solidFill>
              </a:rPr>
              <a:t>Stakeholder: Best-Execution / Compliance</a:t>
            </a:r>
            <a:endParaRPr lang="en-US" sz="1250" dirty="0"/>
          </a:p>
          <a:p>
            <a:pPr indent="0" marL="0">
              <a:buNone/>
            </a:pPr>
            <a:r>
              <a:rPr lang="en-US" sz="1250" dirty="0">
                <a:solidFill>
                  <a:srgbClr val="5B6577"/>
                </a:solidFill>
              </a:rPr>
              <a:t>Sponsor: Head of FX Trading / eTrading</a:t>
            </a:r>
            <a:endParaRPr lang="en-US" sz="1250" dirty="0"/>
          </a:p>
          <a:p>
            <a:pPr indent="0" marL="0">
              <a:buNone/>
            </a:pPr>
            <a:r>
              <a:rPr lang="en-US" sz="1250" dirty="0">
                <a:solidFill>
                  <a:srgbClr val="5B6577"/>
                </a:solidFill>
              </a:rPr>
              <a:t>Segment: EU-regulated desks, in-scope derivatives</a:t>
            </a:r>
            <a:endParaRPr lang="en-US" sz="1250" dirty="0"/>
          </a:p>
          <a:p>
            <a:pPr indent="0" marL="0">
              <a:buNone/>
            </a:pPr>
            <a:r>
              <a:rPr lang="en-US" sz="1250" dirty="0">
                <a:solidFill>
                  <a:srgbClr val="5B6577"/>
                </a:solidFill>
              </a:rPr>
              <a:t>Model: premium Tradefeedr / Workspace capability</a:t>
            </a:r>
            <a:endParaRPr lang="en-US" sz="1250" dirty="0"/>
          </a:p>
          <a:p>
            <a:pPr indent="0" marL="0">
              <a:buNone/>
            </a:pPr>
            <a:r>
              <a:rPr lang="en-US" sz="1250" dirty="0">
                <a:solidFill>
                  <a:srgbClr val="5B6577"/>
                </a:solidFill>
              </a:rPr>
              <a:t>ROI: to be validated, not assumed</a:t>
            </a:r>
            <a:endParaRPr lang="en-US" sz="1250" dirty="0"/>
          </a:p>
        </p:txBody>
      </p:sp>
      <p:sp>
        <p:nvSpPr>
          <p:cNvPr id="16" name="Shape 13"/>
          <p:cNvSpPr/>
          <p:nvPr/>
        </p:nvSpPr>
        <p:spPr>
          <a:xfrm>
            <a:off x="8138160" y="1645920"/>
            <a:ext cx="3474720" cy="3200400"/>
          </a:xfrm>
          <a:prstGeom prst="rect">
            <a:avLst>
              <a:gd name="adj" fmla="val 1714"/>
            </a:avLst>
          </a:prstGeom>
          <a:solidFill>
            <a:srgbClr val="F2F5FA"/>
          </a:solidFill>
          <a:ln w="12700">
            <a:solidFill>
              <a:srgbClr val="D5DCE8"/>
            </a:solidFill>
            <a:prstDash val="solid"/>
          </a:ln>
        </p:spPr>
      </p:sp>
      <p:sp>
        <p:nvSpPr>
          <p:cNvPr id="17" name="Shape 14"/>
          <p:cNvSpPr/>
          <p:nvPr/>
        </p:nvSpPr>
        <p:spPr>
          <a:xfrm>
            <a:off x="8138160" y="1645920"/>
            <a:ext cx="3474720" cy="64008"/>
          </a:xfrm>
          <a:prstGeom prst="rect">
            <a:avLst/>
          </a:prstGeom>
          <a:solidFill>
            <a:srgbClr val="1E8E5A"/>
          </a:solidFill>
          <a:ln w="12700">
            <a:solidFill>
              <a:srgbClr val="1E8E5A"/>
            </a:solidFill>
            <a:prstDash val="solid"/>
          </a:ln>
        </p:spPr>
      </p:sp>
      <p:sp>
        <p:nvSpPr>
          <p:cNvPr id="18" name="Text 15"/>
          <p:cNvSpPr txBox="1"/>
          <p:nvPr/>
        </p:nvSpPr>
        <p:spPr>
          <a:xfrm>
            <a:off x="8275320" y="1783080"/>
            <a:ext cx="3200400" cy="457200"/>
          </a:xfrm>
          <a:prstGeom prst="rect">
            <a:avLst/>
          </a:prstGeom>
          <a:noFill/>
          <a:ln/>
        </p:spPr>
        <p:txBody>
          <a:bodyPr wrap="square" lIns="635" tIns="635" rIns="635" bIns="635" rtlCol="0" anchor="ctr"/>
          <a:lstStyle/>
          <a:p>
            <a:pPr indent="0" marL="0">
              <a:buNone/>
            </a:pPr>
            <a:r>
              <a:rPr lang="en-US" sz="1500" b="1" dirty="0">
                <a:solidFill>
                  <a:srgbClr val="1E8E5A"/>
                </a:solidFill>
              </a:rPr>
              <a:t>Success metrics</a:t>
            </a:r>
            <a:endParaRPr lang="en-US" sz="1500" dirty="0"/>
          </a:p>
        </p:txBody>
      </p:sp>
      <p:sp>
        <p:nvSpPr>
          <p:cNvPr id="19" name="Text 16"/>
          <p:cNvSpPr txBox="1"/>
          <p:nvPr/>
        </p:nvSpPr>
        <p:spPr>
          <a:xfrm>
            <a:off x="8275320" y="2286000"/>
            <a:ext cx="3200400" cy="2423160"/>
          </a:xfrm>
          <a:prstGeom prst="rect">
            <a:avLst/>
          </a:prstGeom>
          <a:noFill/>
          <a:ln/>
        </p:spPr>
        <p:txBody>
          <a:bodyPr wrap="square" lIns="635" tIns="635" rIns="635" bIns="635" rtlCol="0" anchor="t"/>
          <a:lstStyle/>
          <a:p>
            <a:pPr indent="0" marL="0">
              <a:buNone/>
            </a:pPr>
            <a:r>
              <a:rPr lang="en-US" sz="1250" dirty="0">
                <a:solidFill>
                  <a:srgbClr val="5B6577"/>
                </a:solidFill>
              </a:rPr>
              <a:t>PRIMARY: % of active policies with a current evidence-backed review</a:t>
            </a:r>
            <a:endParaRPr lang="en-US" sz="1250" dirty="0"/>
          </a:p>
          <a:p>
            <a:pPr indent="0" marL="0">
              <a:buNone/>
            </a:pPr>
            <a:endParaRPr lang="en-US" sz="1250" dirty="0"/>
          </a:p>
          <a:p>
            <a:pPr indent="0" marL="0">
              <a:buNone/>
            </a:pPr>
            <a:r>
              <a:rPr lang="en-US" sz="1250" dirty="0">
                <a:solidFill>
                  <a:srgbClr val="5B6577"/>
                </a:solidFill>
              </a:rPr>
              <a:t>Supporting: review completion rate; time to prepare a review; policies flagged for revalidation; quant hours on evidence prep; Tradefeedr retention/expansion; policies with full provenance</a:t>
            </a:r>
            <a:endParaRPr lang="en-US" sz="1250" dirty="0"/>
          </a:p>
        </p:txBody>
      </p:sp>
      <p:sp>
        <p:nvSpPr>
          <p:cNvPr id="20" name="Shape 17"/>
          <p:cNvSpPr/>
          <p:nvPr/>
        </p:nvSpPr>
        <p:spPr>
          <a:xfrm>
            <a:off x="548640" y="5074920"/>
            <a:ext cx="11064240" cy="1188720"/>
          </a:xfrm>
          <a:prstGeom prst="roundRect">
            <a:avLst>
              <a:gd name="adj" fmla="val 4615"/>
            </a:avLst>
          </a:prstGeom>
          <a:solidFill>
            <a:srgbClr val="FFF6E0"/>
          </a:solidFill>
          <a:ln w="12700">
            <a:solidFill>
              <a:srgbClr val="C77D00"/>
            </a:solidFill>
            <a:prstDash val="solid"/>
          </a:ln>
        </p:spPr>
      </p:sp>
      <p:sp>
        <p:nvSpPr>
          <p:cNvPr id="21" name="Text 18"/>
          <p:cNvSpPr txBox="1"/>
          <p:nvPr/>
        </p:nvSpPr>
        <p:spPr>
          <a:xfrm>
            <a:off x="822960" y="5074920"/>
            <a:ext cx="10515600" cy="1188720"/>
          </a:xfrm>
          <a:prstGeom prst="rect">
            <a:avLst/>
          </a:prstGeom>
          <a:noFill/>
          <a:ln/>
        </p:spPr>
        <p:txBody>
          <a:bodyPr wrap="square" lIns="635" tIns="635" rIns="635" bIns="635" rtlCol="0" anchor="ctr"/>
          <a:lstStyle/>
          <a:p>
            <a:pPr indent="0" marL="0">
              <a:buNone/>
            </a:pPr>
            <a:r>
              <a:rPr lang="en-US" sz="1100" b="1" dirty="0">
                <a:solidFill>
                  <a:srgbClr val="C77D00"/>
                </a:solidFill>
              </a:rPr>
              <a:t>KEY ASSUMPTION TO VALIDATE
</a:t>
            </a:r>
            <a:pPr indent="0" marL="0">
              <a:buNone/>
            </a:pPr>
            <a:r>
              <a:rPr lang="en-US" sz="1700" b="1" dirty="0">
                <a:solidFill>
                  <a:srgbClr val="0B1F44"/>
                </a:solidFill>
              </a:rPr>
              <a:t>"Will institutions prefer a vendor-backed policy evidence system over extending existing TCA/compliance tooling?"</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A5FD6"/>
          </a:solidFill>
          <a:ln w="12700">
            <a:solidFill>
              <a:srgbClr val="1A5FD6"/>
            </a:solidFill>
            <a:prstDash val="solid"/>
          </a:ln>
        </p:spPr>
      </p:sp>
      <p:sp>
        <p:nvSpPr>
          <p:cNvPr id="3" name="Text 1"/>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A5FD6"/>
                </a:solidFill>
              </a:rPr>
              <a:t>RECOMMENDATION</a:t>
            </a:r>
            <a:endParaRPr lang="en-US" sz="1100" dirty="0"/>
          </a:p>
        </p:txBody>
      </p:sp>
      <p:sp>
        <p:nvSpPr>
          <p:cNvPr id="4" name="Text 2"/>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B1F44"/>
                </a:solidFill>
                <a:latin typeface="Georgia" pitchFamily="34" charset="0"/>
                <a:ea typeface="Georgia" pitchFamily="34" charset="-122"/>
                <a:cs typeface="Georgia" pitchFamily="34" charset="-120"/>
              </a:rPr>
              <a:t>Recommendation: validate before scaling</a:t>
            </a:r>
            <a:endParaRPr lang="en-US" sz="2600" dirty="0"/>
          </a:p>
        </p:txBody>
      </p:sp>
      <p:sp>
        <p:nvSpPr>
          <p:cNvPr id="5" name="Text 3"/>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5B6577"/>
                </a:solidFill>
              </a:rPr>
              <a:t>LSEG | Execution Policy Intelligence — internal product proposal | Illustrative scenario data</a:t>
            </a:r>
            <a:endParaRPr lang="en-US" sz="900" dirty="0"/>
          </a:p>
        </p:txBody>
      </p:sp>
      <p:sp>
        <p:nvSpPr>
          <p:cNvPr id="6" name="Text 4"/>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7"/>
                </a:solidFill>
              </a:rPr>
              <a:t>12</a:t>
            </a:r>
            <a:endParaRPr lang="en-US" sz="900" dirty="0"/>
          </a:p>
        </p:txBody>
      </p:sp>
      <p:sp>
        <p:nvSpPr>
          <p:cNvPr id="8" name="Shape 5"/>
          <p:cNvSpPr/>
          <p:nvPr/>
        </p:nvSpPr>
        <p:spPr>
          <a:xfrm>
            <a:off x="548640" y="1554480"/>
            <a:ext cx="4754880" cy="3703320"/>
          </a:xfrm>
          <a:prstGeom prst="rect">
            <a:avLst>
              <a:gd name="adj" fmla="val 1481"/>
            </a:avLst>
          </a:prstGeom>
          <a:solidFill>
            <a:srgbClr val="F2F5FA"/>
          </a:solidFill>
          <a:ln w="12700">
            <a:solidFill>
              <a:srgbClr val="C0392B"/>
            </a:solidFill>
            <a:prstDash val="solid"/>
          </a:ln>
        </p:spPr>
      </p:sp>
      <p:sp>
        <p:nvSpPr>
          <p:cNvPr id="9" name="Text 6"/>
          <p:cNvSpPr txBox="1"/>
          <p:nvPr/>
        </p:nvSpPr>
        <p:spPr>
          <a:xfrm>
            <a:off x="731520" y="1645920"/>
            <a:ext cx="4389120" cy="365760"/>
          </a:xfrm>
          <a:prstGeom prst="rect">
            <a:avLst/>
          </a:prstGeom>
          <a:noFill/>
          <a:ln/>
        </p:spPr>
        <p:txBody>
          <a:bodyPr wrap="square" lIns="635" tIns="635" rIns="635" bIns="635" rtlCol="0" anchor="ctr"/>
          <a:lstStyle/>
          <a:p>
            <a:pPr indent="0" marL="0">
              <a:buNone/>
            </a:pPr>
            <a:r>
              <a:rPr lang="en-US" sz="1500" b="1" dirty="0">
                <a:solidFill>
                  <a:srgbClr val="C0392B"/>
                </a:solidFill>
              </a:rPr>
              <a:t>Risks we are not hiding</a:t>
            </a:r>
            <a:endParaRPr lang="en-US" sz="1500" dirty="0"/>
          </a:p>
        </p:txBody>
      </p:sp>
      <p:sp>
        <p:nvSpPr>
          <p:cNvPr id="10" name="Text 7"/>
          <p:cNvSpPr txBox="1"/>
          <p:nvPr/>
        </p:nvSpPr>
        <p:spPr>
          <a:xfrm>
            <a:off x="731520" y="2057400"/>
            <a:ext cx="4389120" cy="3108960"/>
          </a:xfrm>
          <a:prstGeom prst="rect">
            <a:avLst/>
          </a:prstGeom>
          <a:noFill/>
          <a:ln/>
        </p:spPr>
        <p:txBody>
          <a:bodyPr wrap="square" lIns="635" tIns="635" rIns="635" bIns="635" rtlCol="0" anchor="t"/>
          <a:lstStyle/>
          <a:p>
            <a:pPr marL="342900" indent="-342900">
              <a:spcAft>
                <a:spcPts val="500"/>
              </a:spcAft>
              <a:buSzPct val="100000"/>
              <a:buChar char="•"/>
            </a:pPr>
            <a:r>
              <a:rPr lang="en-US" sz="1250" dirty="0">
                <a:solidFill>
                  <a:srgbClr val="0B1F44"/>
                </a:solidFill>
              </a:rPr>
              <a:t>Existing TCA / compliance tooling may be enough</a:t>
            </a:r>
            <a:endParaRPr lang="en-US" sz="1250" dirty="0"/>
          </a:p>
          <a:p>
            <a:pPr marL="342900" indent="-342900">
              <a:spcAft>
                <a:spcPts val="500"/>
              </a:spcAft>
              <a:buSzPct val="100000"/>
              <a:buChar char="•"/>
            </a:pPr>
            <a:r>
              <a:rPr lang="en-US" sz="1250" dirty="0">
                <a:solidFill>
                  <a:srgbClr val="0B1F44"/>
                </a:solidFill>
              </a:rPr>
              <a:t>Customers may prefer internal tools</a:t>
            </a:r>
            <a:endParaRPr lang="en-US" sz="1250" dirty="0"/>
          </a:p>
          <a:p>
            <a:pPr marL="342900" indent="-342900">
              <a:spcAft>
                <a:spcPts val="500"/>
              </a:spcAft>
              <a:buSzPct val="100000"/>
              <a:buChar char="•"/>
            </a:pPr>
            <a:r>
              <a:rPr lang="en-US" sz="1250" dirty="0">
                <a:solidFill>
                  <a:srgbClr val="0B1F44"/>
                </a:solidFill>
              </a:rPr>
              <a:t>Regulatory scope is narrower than all FX</a:t>
            </a:r>
            <a:endParaRPr lang="en-US" sz="1250" dirty="0"/>
          </a:p>
          <a:p>
            <a:pPr marL="342900" indent="-342900">
              <a:spcAft>
                <a:spcPts val="500"/>
              </a:spcAft>
              <a:buSzPct val="100000"/>
              <a:buChar char="•"/>
            </a:pPr>
            <a:r>
              <a:rPr lang="en-US" sz="1250" dirty="0">
                <a:solidFill>
                  <a:srgbClr val="0B1F44"/>
                </a:solidFill>
              </a:rPr>
              <a:t>Bloomberg or others could add similar capability</a:t>
            </a:r>
            <a:endParaRPr lang="en-US" sz="1250" dirty="0"/>
          </a:p>
          <a:p>
            <a:pPr marL="342900" indent="-342900">
              <a:spcAft>
                <a:spcPts val="500"/>
              </a:spcAft>
              <a:buSzPct val="100000"/>
              <a:buChar char="•"/>
            </a:pPr>
            <a:r>
              <a:rPr lang="en-US" sz="1250" dirty="0">
                <a:solidFill>
                  <a:srgbClr val="0B1F44"/>
                </a:solidFill>
              </a:rPr>
              <a:t>ROI not yet quantified</a:t>
            </a:r>
            <a:endParaRPr lang="en-US" sz="1250" dirty="0"/>
          </a:p>
          <a:p>
            <a:pPr marL="342900" indent="-342900">
              <a:spcAft>
                <a:spcPts val="500"/>
              </a:spcAft>
              <a:buSzPct val="100000"/>
              <a:buChar char="•"/>
            </a:pPr>
            <a:r>
              <a:rPr lang="en-US" sz="1250" dirty="0">
                <a:solidFill>
                  <a:srgbClr val="0B1F44"/>
                </a:solidFill>
              </a:rPr>
              <a:t>Technology moat is modest</a:t>
            </a:r>
            <a:endParaRPr lang="en-US" sz="1250" dirty="0"/>
          </a:p>
          <a:p>
            <a:pPr marL="342900" indent="-342900">
              <a:spcAft>
                <a:spcPts val="500"/>
              </a:spcAft>
              <a:buSzPct val="100000"/>
              <a:buChar char="•"/>
            </a:pPr>
            <a:r>
              <a:rPr lang="en-US" sz="1250" dirty="0">
                <a:solidFill>
                  <a:srgbClr val="0B1F44"/>
                </a:solidFill>
              </a:rPr>
              <a:t>AI is an enhancement, not the moat</a:t>
            </a:r>
            <a:endParaRPr lang="en-US" sz="1250" dirty="0"/>
          </a:p>
        </p:txBody>
      </p:sp>
      <p:sp>
        <p:nvSpPr>
          <p:cNvPr id="11" name="Shape 8"/>
          <p:cNvSpPr/>
          <p:nvPr/>
        </p:nvSpPr>
        <p:spPr>
          <a:xfrm>
            <a:off x="5577840" y="1554480"/>
            <a:ext cx="6035040" cy="822960"/>
          </a:xfrm>
          <a:prstGeom prst="roundRect">
            <a:avLst>
              <a:gd name="adj" fmla="val 6667"/>
            </a:avLst>
          </a:prstGeom>
          <a:solidFill>
            <a:srgbClr val="FFFFFF"/>
          </a:solidFill>
          <a:ln w="12700">
            <a:solidFill>
              <a:srgbClr val="1A5FD6"/>
            </a:solidFill>
            <a:prstDash val="solid"/>
          </a:ln>
        </p:spPr>
      </p:sp>
      <p:sp>
        <p:nvSpPr>
          <p:cNvPr id="12" name="Shape 9"/>
          <p:cNvSpPr/>
          <p:nvPr/>
        </p:nvSpPr>
        <p:spPr>
          <a:xfrm>
            <a:off x="5715000" y="1709928"/>
            <a:ext cx="502920" cy="502920"/>
          </a:xfrm>
          <a:prstGeom prst="ellipse">
            <a:avLst/>
          </a:prstGeom>
          <a:solidFill>
            <a:srgbClr val="1A5FD6"/>
          </a:solidFill>
          <a:ln w="12700">
            <a:solidFill>
              <a:srgbClr val="1A5FD6"/>
            </a:solidFill>
            <a:prstDash val="solid"/>
          </a:ln>
        </p:spPr>
      </p:sp>
      <p:sp>
        <p:nvSpPr>
          <p:cNvPr id="13" name="Text 10"/>
          <p:cNvSpPr txBox="1"/>
          <p:nvPr/>
        </p:nvSpPr>
        <p:spPr>
          <a:xfrm>
            <a:off x="5715000" y="1709928"/>
            <a:ext cx="502920" cy="502920"/>
          </a:xfrm>
          <a:prstGeom prst="rect">
            <a:avLst/>
          </a:prstGeom>
          <a:noFill/>
          <a:ln/>
        </p:spPr>
        <p:txBody>
          <a:bodyPr wrap="square" lIns="635" tIns="635" rIns="635" bIns="635" rtlCol="0" anchor="ctr"/>
          <a:lstStyle/>
          <a:p>
            <a:pPr algn="ctr" indent="0" marL="0">
              <a:buNone/>
            </a:pPr>
            <a:r>
              <a:rPr lang="en-US" sz="1500" b="1" dirty="0">
                <a:solidFill>
                  <a:srgbClr val="FFFFFF"/>
                </a:solidFill>
              </a:rPr>
              <a:t>1</a:t>
            </a:r>
            <a:endParaRPr lang="en-US" sz="1500" dirty="0"/>
          </a:p>
        </p:txBody>
      </p:sp>
      <p:sp>
        <p:nvSpPr>
          <p:cNvPr id="14" name="Text 11"/>
          <p:cNvSpPr txBox="1"/>
          <p:nvPr/>
        </p:nvSpPr>
        <p:spPr>
          <a:xfrm>
            <a:off x="6355080" y="1554480"/>
            <a:ext cx="5120640" cy="822960"/>
          </a:xfrm>
          <a:prstGeom prst="rect">
            <a:avLst/>
          </a:prstGeom>
          <a:noFill/>
          <a:ln/>
        </p:spPr>
        <p:txBody>
          <a:bodyPr wrap="square" lIns="635" tIns="635" rIns="635" bIns="635" rtlCol="0" anchor="ctr"/>
          <a:lstStyle/>
          <a:p>
            <a:pPr indent="0" marL="0">
              <a:buNone/>
            </a:pPr>
            <a:r>
              <a:rPr lang="en-US" sz="1400" b="1" dirty="0">
                <a:solidFill>
                  <a:srgbClr val="0B1F44"/>
                </a:solidFill>
              </a:rPr>
              <a:t>Customer discovery
</a:t>
            </a:r>
            <a:pPr indent="0" marL="0">
              <a:buNone/>
            </a:pPr>
            <a:r>
              <a:rPr lang="en-US" sz="1200" dirty="0">
                <a:solidFill>
                  <a:srgbClr val="5B6577"/>
                </a:solidFill>
              </a:rPr>
              <a:t>3-5 target-customer interviews</a:t>
            </a:r>
            <a:endParaRPr lang="en-US" sz="1400" dirty="0"/>
          </a:p>
        </p:txBody>
      </p:sp>
      <p:sp>
        <p:nvSpPr>
          <p:cNvPr id="15" name="Shape 12"/>
          <p:cNvSpPr/>
          <p:nvPr/>
        </p:nvSpPr>
        <p:spPr>
          <a:xfrm>
            <a:off x="5577840" y="2496312"/>
            <a:ext cx="6035040" cy="822960"/>
          </a:xfrm>
          <a:prstGeom prst="roundRect">
            <a:avLst>
              <a:gd name="adj" fmla="val 6667"/>
            </a:avLst>
          </a:prstGeom>
          <a:solidFill>
            <a:srgbClr val="FFFFFF"/>
          </a:solidFill>
          <a:ln w="12700">
            <a:solidFill>
              <a:srgbClr val="1A5FD6"/>
            </a:solidFill>
            <a:prstDash val="solid"/>
          </a:ln>
        </p:spPr>
      </p:sp>
      <p:sp>
        <p:nvSpPr>
          <p:cNvPr id="16" name="Shape 13"/>
          <p:cNvSpPr/>
          <p:nvPr/>
        </p:nvSpPr>
        <p:spPr>
          <a:xfrm>
            <a:off x="5715000" y="2651760"/>
            <a:ext cx="502920" cy="502920"/>
          </a:xfrm>
          <a:prstGeom prst="ellipse">
            <a:avLst/>
          </a:prstGeom>
          <a:solidFill>
            <a:srgbClr val="1A5FD6"/>
          </a:solidFill>
          <a:ln w="12700">
            <a:solidFill>
              <a:srgbClr val="1A5FD6"/>
            </a:solidFill>
            <a:prstDash val="solid"/>
          </a:ln>
        </p:spPr>
      </p:sp>
      <p:sp>
        <p:nvSpPr>
          <p:cNvPr id="17" name="Text 14"/>
          <p:cNvSpPr txBox="1"/>
          <p:nvPr/>
        </p:nvSpPr>
        <p:spPr>
          <a:xfrm>
            <a:off x="5715000" y="2651760"/>
            <a:ext cx="502920" cy="502920"/>
          </a:xfrm>
          <a:prstGeom prst="rect">
            <a:avLst/>
          </a:prstGeom>
          <a:noFill/>
          <a:ln/>
        </p:spPr>
        <p:txBody>
          <a:bodyPr wrap="square" lIns="635" tIns="635" rIns="635" bIns="635" rtlCol="0" anchor="ctr"/>
          <a:lstStyle/>
          <a:p>
            <a:pPr algn="ctr" indent="0" marL="0">
              <a:buNone/>
            </a:pPr>
            <a:r>
              <a:rPr lang="en-US" sz="1500" b="1" dirty="0">
                <a:solidFill>
                  <a:srgbClr val="FFFFFF"/>
                </a:solidFill>
              </a:rPr>
              <a:t>2</a:t>
            </a:r>
            <a:endParaRPr lang="en-US" sz="1500" dirty="0"/>
          </a:p>
        </p:txBody>
      </p:sp>
      <p:sp>
        <p:nvSpPr>
          <p:cNvPr id="18" name="Text 15"/>
          <p:cNvSpPr txBox="1"/>
          <p:nvPr/>
        </p:nvSpPr>
        <p:spPr>
          <a:xfrm>
            <a:off x="6355080" y="2496312"/>
            <a:ext cx="5120640" cy="822960"/>
          </a:xfrm>
          <a:prstGeom prst="rect">
            <a:avLst/>
          </a:prstGeom>
          <a:noFill/>
          <a:ln/>
        </p:spPr>
        <p:txBody>
          <a:bodyPr wrap="square" lIns="635" tIns="635" rIns="635" bIns="635" rtlCol="0" anchor="ctr"/>
          <a:lstStyle/>
          <a:p>
            <a:pPr indent="0" marL="0">
              <a:buNone/>
            </a:pPr>
            <a:r>
              <a:rPr lang="en-US" sz="1400" b="1" dirty="0">
                <a:solidFill>
                  <a:srgbClr val="0B1F44"/>
                </a:solidFill>
              </a:rPr>
              <a:t>Prototype / pilot
</a:t>
            </a:r>
            <a:pPr indent="0" marL="0">
              <a:buNone/>
            </a:pPr>
            <a:r>
              <a:rPr lang="en-US" sz="1200" dirty="0">
                <a:solidFill>
                  <a:srgbClr val="5B6577"/>
                </a:solidFill>
              </a:rPr>
              <a:t>EP-427-style workflow on real policies</a:t>
            </a:r>
            <a:endParaRPr lang="en-US" sz="1400" dirty="0"/>
          </a:p>
        </p:txBody>
      </p:sp>
      <p:sp>
        <p:nvSpPr>
          <p:cNvPr id="19" name="Shape 16"/>
          <p:cNvSpPr/>
          <p:nvPr/>
        </p:nvSpPr>
        <p:spPr>
          <a:xfrm>
            <a:off x="5577840" y="3438144"/>
            <a:ext cx="6035040" cy="822960"/>
          </a:xfrm>
          <a:prstGeom prst="roundRect">
            <a:avLst>
              <a:gd name="adj" fmla="val 6667"/>
            </a:avLst>
          </a:prstGeom>
          <a:solidFill>
            <a:srgbClr val="FFFFFF"/>
          </a:solidFill>
          <a:ln w="12700">
            <a:solidFill>
              <a:srgbClr val="1A5FD6"/>
            </a:solidFill>
            <a:prstDash val="solid"/>
          </a:ln>
        </p:spPr>
      </p:sp>
      <p:sp>
        <p:nvSpPr>
          <p:cNvPr id="20" name="Shape 17"/>
          <p:cNvSpPr/>
          <p:nvPr/>
        </p:nvSpPr>
        <p:spPr>
          <a:xfrm>
            <a:off x="5715000" y="3593592"/>
            <a:ext cx="502920" cy="502920"/>
          </a:xfrm>
          <a:prstGeom prst="ellipse">
            <a:avLst/>
          </a:prstGeom>
          <a:solidFill>
            <a:srgbClr val="1A5FD6"/>
          </a:solidFill>
          <a:ln w="12700">
            <a:solidFill>
              <a:srgbClr val="1A5FD6"/>
            </a:solidFill>
            <a:prstDash val="solid"/>
          </a:ln>
        </p:spPr>
      </p:sp>
      <p:sp>
        <p:nvSpPr>
          <p:cNvPr id="21" name="Text 18"/>
          <p:cNvSpPr txBox="1"/>
          <p:nvPr/>
        </p:nvSpPr>
        <p:spPr>
          <a:xfrm>
            <a:off x="5715000" y="3593592"/>
            <a:ext cx="502920" cy="502920"/>
          </a:xfrm>
          <a:prstGeom prst="rect">
            <a:avLst/>
          </a:prstGeom>
          <a:noFill/>
          <a:ln/>
        </p:spPr>
        <p:txBody>
          <a:bodyPr wrap="square" lIns="635" tIns="635" rIns="635" bIns="635" rtlCol="0" anchor="ctr"/>
          <a:lstStyle/>
          <a:p>
            <a:pPr algn="ctr" indent="0" marL="0">
              <a:buNone/>
            </a:pPr>
            <a:r>
              <a:rPr lang="en-US" sz="1500" b="1" dirty="0">
                <a:solidFill>
                  <a:srgbClr val="FFFFFF"/>
                </a:solidFill>
              </a:rPr>
              <a:t>3</a:t>
            </a:r>
            <a:endParaRPr lang="en-US" sz="1500" dirty="0"/>
          </a:p>
        </p:txBody>
      </p:sp>
      <p:sp>
        <p:nvSpPr>
          <p:cNvPr id="22" name="Text 19"/>
          <p:cNvSpPr txBox="1"/>
          <p:nvPr/>
        </p:nvSpPr>
        <p:spPr>
          <a:xfrm>
            <a:off x="6355080" y="3438144"/>
            <a:ext cx="5120640" cy="822960"/>
          </a:xfrm>
          <a:prstGeom prst="rect">
            <a:avLst/>
          </a:prstGeom>
          <a:noFill/>
          <a:ln/>
        </p:spPr>
        <p:txBody>
          <a:bodyPr wrap="square" lIns="635" tIns="635" rIns="635" bIns="635" rtlCol="0" anchor="ctr"/>
          <a:lstStyle/>
          <a:p>
            <a:pPr indent="0" marL="0">
              <a:buNone/>
            </a:pPr>
            <a:r>
              <a:rPr lang="en-US" sz="1400" b="1" dirty="0">
                <a:solidFill>
                  <a:srgbClr val="0B1F44"/>
                </a:solidFill>
              </a:rPr>
              <a:t>Measure
</a:t>
            </a:r>
            <a:pPr indent="0" marL="0">
              <a:buNone/>
            </a:pPr>
            <a:r>
              <a:rPr lang="en-US" sz="1200" dirty="0">
                <a:solidFill>
                  <a:srgbClr val="5B6577"/>
                </a:solidFill>
              </a:rPr>
              <a:t>Workflow burden and willingness to pay</a:t>
            </a:r>
            <a:endParaRPr lang="en-US" sz="1400" dirty="0"/>
          </a:p>
        </p:txBody>
      </p:sp>
      <p:sp>
        <p:nvSpPr>
          <p:cNvPr id="23" name="Shape 20"/>
          <p:cNvSpPr/>
          <p:nvPr/>
        </p:nvSpPr>
        <p:spPr>
          <a:xfrm>
            <a:off x="5577840" y="4379976"/>
            <a:ext cx="6035040" cy="822960"/>
          </a:xfrm>
          <a:prstGeom prst="roundRect">
            <a:avLst>
              <a:gd name="adj" fmla="val 6667"/>
            </a:avLst>
          </a:prstGeom>
          <a:solidFill>
            <a:srgbClr val="FFFFFF"/>
          </a:solidFill>
          <a:ln w="12700">
            <a:solidFill>
              <a:srgbClr val="1A5FD6"/>
            </a:solidFill>
            <a:prstDash val="solid"/>
          </a:ln>
        </p:spPr>
      </p:sp>
      <p:sp>
        <p:nvSpPr>
          <p:cNvPr id="24" name="Shape 21"/>
          <p:cNvSpPr/>
          <p:nvPr/>
        </p:nvSpPr>
        <p:spPr>
          <a:xfrm>
            <a:off x="5715000" y="4535424"/>
            <a:ext cx="502920" cy="502920"/>
          </a:xfrm>
          <a:prstGeom prst="ellipse">
            <a:avLst/>
          </a:prstGeom>
          <a:solidFill>
            <a:srgbClr val="1A5FD6"/>
          </a:solidFill>
          <a:ln w="12700">
            <a:solidFill>
              <a:srgbClr val="1A5FD6"/>
            </a:solidFill>
            <a:prstDash val="solid"/>
          </a:ln>
        </p:spPr>
      </p:sp>
      <p:sp>
        <p:nvSpPr>
          <p:cNvPr id="25" name="Text 22"/>
          <p:cNvSpPr txBox="1"/>
          <p:nvPr/>
        </p:nvSpPr>
        <p:spPr>
          <a:xfrm>
            <a:off x="5715000" y="4535424"/>
            <a:ext cx="502920" cy="502920"/>
          </a:xfrm>
          <a:prstGeom prst="rect">
            <a:avLst/>
          </a:prstGeom>
          <a:noFill/>
          <a:ln/>
        </p:spPr>
        <p:txBody>
          <a:bodyPr wrap="square" lIns="635" tIns="635" rIns="635" bIns="635" rtlCol="0" anchor="ctr"/>
          <a:lstStyle/>
          <a:p>
            <a:pPr algn="ctr" indent="0" marL="0">
              <a:buNone/>
            </a:pPr>
            <a:r>
              <a:rPr lang="en-US" sz="1500" b="1" dirty="0">
                <a:solidFill>
                  <a:srgbClr val="FFFFFF"/>
                </a:solidFill>
              </a:rPr>
              <a:t>4</a:t>
            </a:r>
            <a:endParaRPr lang="en-US" sz="1500" dirty="0"/>
          </a:p>
        </p:txBody>
      </p:sp>
      <p:sp>
        <p:nvSpPr>
          <p:cNvPr id="26" name="Text 23"/>
          <p:cNvSpPr txBox="1"/>
          <p:nvPr/>
        </p:nvSpPr>
        <p:spPr>
          <a:xfrm>
            <a:off x="6355080" y="4379976"/>
            <a:ext cx="5120640" cy="822960"/>
          </a:xfrm>
          <a:prstGeom prst="rect">
            <a:avLst/>
          </a:prstGeom>
          <a:noFill/>
          <a:ln/>
        </p:spPr>
        <p:txBody>
          <a:bodyPr wrap="square" lIns="635" tIns="635" rIns="635" bIns="635" rtlCol="0" anchor="ctr"/>
          <a:lstStyle/>
          <a:p>
            <a:pPr indent="0" marL="0">
              <a:buNone/>
            </a:pPr>
            <a:r>
              <a:rPr lang="en-US" sz="1400" b="1" dirty="0">
                <a:solidFill>
                  <a:srgbClr val="0B1F44"/>
                </a:solidFill>
              </a:rPr>
              <a:t>Decide
</a:t>
            </a:r>
            <a:pPr indent="0" marL="0">
              <a:buNone/>
            </a:pPr>
            <a:r>
              <a:rPr lang="en-US" sz="1200" dirty="0">
                <a:solidFill>
                  <a:srgbClr val="5B6577"/>
                </a:solidFill>
              </a:rPr>
              <a:t>Scale, adjust or stop</a:t>
            </a:r>
            <a:endParaRPr lang="en-US" sz="1400" dirty="0"/>
          </a:p>
        </p:txBody>
      </p:sp>
      <p:sp>
        <p:nvSpPr>
          <p:cNvPr id="27" name="Shape 24"/>
          <p:cNvSpPr/>
          <p:nvPr/>
        </p:nvSpPr>
        <p:spPr>
          <a:xfrm>
            <a:off x="548640" y="5440680"/>
            <a:ext cx="11064240" cy="914400"/>
          </a:xfrm>
          <a:prstGeom prst="rect">
            <a:avLst>
              <a:gd name="adj" fmla="val 6000"/>
            </a:avLst>
          </a:prstGeom>
          <a:solidFill>
            <a:srgbClr val="0B1F44"/>
          </a:solidFill>
          <a:ln w="12700">
            <a:solidFill>
              <a:srgbClr val="0B1F44"/>
            </a:solidFill>
            <a:prstDash val="solid"/>
          </a:ln>
        </p:spPr>
      </p:sp>
      <p:sp>
        <p:nvSpPr>
          <p:cNvPr id="28" name="Text 25"/>
          <p:cNvSpPr txBox="1"/>
          <p:nvPr/>
        </p:nvSpPr>
        <p:spPr>
          <a:xfrm>
            <a:off x="822960" y="5440680"/>
            <a:ext cx="10515600" cy="914400"/>
          </a:xfrm>
          <a:prstGeom prst="rect">
            <a:avLst/>
          </a:prstGeom>
          <a:noFill/>
          <a:ln/>
        </p:spPr>
        <p:txBody>
          <a:bodyPr wrap="square" lIns="635" tIns="635" rIns="635" bIns="635"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Tradefeedr tells us what happened. Execution Policy Intelligence tells us whether the execution policies we rely on are still supported by evidence.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2026-10-05T16:48:15Z</dcterms:created>
  <dcterms:modified xsi:type="dcterms:W3CDTF">2026-10-05T16:48:15Z</dcterms:modified>
</cp:coreProperties>
</file>