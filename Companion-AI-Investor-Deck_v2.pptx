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3.png"/><Relationship Id="rId6" Type="http://schemas.openxmlformats.org/officeDocument/2006/relationships/image" Target="../media/image-7-6.png"/><Relationship Id="rId7" Type="http://schemas.openxmlformats.org/officeDocument/2006/relationships/image" Target="../media/image-7-3.png"/><Relationship Id="rId8" Type="http://schemas.openxmlformats.org/officeDocument/2006/relationships/image" Target="../media/image-7-8.png"/><Relationship Id="rId9" Type="http://schemas.openxmlformats.org/officeDocument/2006/relationships/image" Target="../media/image-7-3.png"/><Relationship Id="rId10" Type="http://schemas.openxmlformats.org/officeDocument/2006/relationships/image" Target="../media/image-7-10.png"/><Relationship Id="rId11" Type="http://schemas.openxmlformats.org/officeDocument/2006/relationships/image" Target="../media/image-7-3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image" Target="../media/image-9-3.png"/><Relationship Id="rId5" Type="http://schemas.openxmlformats.org/officeDocument/2006/relationships/image" Target="../media/image-9-5.png"/><Relationship Id="rId6" Type="http://schemas.openxmlformats.org/officeDocument/2006/relationships/image" Target="../media/image-9-5.png"/><Relationship Id="rId7" Type="http://schemas.openxmlformats.org/officeDocument/2006/relationships/image" Target="../media/image-9-7.png"/><Relationship Id="rId8" Type="http://schemas.openxmlformats.org/officeDocument/2006/relationships/image" Target="../media/image-9-7.png"/><Relationship Id="rId9" Type="http://schemas.openxmlformats.org/officeDocument/2006/relationships/image" Target="../media/image-9-9.png"/><Relationship Id="rId10" Type="http://schemas.openxmlformats.org/officeDocument/2006/relationships/image" Target="../media/image-9-9.png"/><Relationship Id="rId11" Type="http://schemas.openxmlformats.org/officeDocument/2006/relationships/image" Target="../media/image-9-11.png"/><Relationship Id="rId12" Type="http://schemas.openxmlformats.org/officeDocument/2006/relationships/image" Target="../media/image-9-11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4.png"/><Relationship Id="rId9" Type="http://schemas.openxmlformats.org/officeDocument/2006/relationships/image" Target="../media/image-10-3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2.png"/><Relationship Id="rId5" Type="http://schemas.openxmlformats.org/officeDocument/2006/relationships/image" Target="../media/image-11-5.png"/><Relationship Id="rId6" Type="http://schemas.openxmlformats.org/officeDocument/2006/relationships/image" Target="../media/image-11-2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ompanion-ai/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4173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9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AI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31520" y="182880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Companion AI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1645920" y="2880360"/>
            <a:ext cx="8899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B7A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emotionally intelligent AI that grows with you</a:t>
            </a:r>
            <a:endParaRPr lang="en-US" sz="1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B7A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every stage of life.</a:t>
            </a:r>
            <a:endParaRPr lang="en-US" sz="1900" dirty="0"/>
          </a:p>
        </p:txBody>
      </p:sp>
      <p:pic>
        <p:nvPicPr>
          <p:cNvPr id="6" name="Image 1" descr="/home/claude/companion-ai/assets/hero_journ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008" y="3611880"/>
            <a:ext cx="6583680" cy="25328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617220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FFFFF">
                    <a:alpha val="8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that doesn’t just answer your questions. It remembers your story.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CONCRETELY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Sarah.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937760" cy="4160520"/>
          </a:xfrm>
          <a:prstGeom prst="roundRect">
            <a:avLst>
              <a:gd name="adj" fmla="val 3077"/>
            </a:avLst>
          </a:prstGeom>
          <a:solidFill>
            <a:srgbClr val="241F47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286000"/>
            <a:ext cx="731520" cy="731520"/>
          </a:xfrm>
          <a:prstGeom prst="ellipse">
            <a:avLst/>
          </a:prstGeom>
          <a:solidFill>
            <a:srgbClr val="FF9466"/>
          </a:solidFill>
          <a:ln/>
        </p:spPr>
      </p:sp>
      <p:pic>
        <p:nvPicPr>
          <p:cNvPr id="6" name="Image 0" descr="/home/claude/companion-ai/assets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468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Sarah, 24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874520" y="2697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software designer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005840" y="3429000"/>
            <a:ext cx="457200" cy="457200"/>
          </a:xfrm>
          <a:prstGeom prst="ellipse">
            <a:avLst/>
          </a:prstGeom>
          <a:solidFill>
            <a:srgbClr val="3B2E7A"/>
          </a:solidFill>
          <a:ln/>
        </p:spPr>
      </p:sp>
      <p:pic>
        <p:nvPicPr>
          <p:cNvPr id="10" name="Image 1" descr="/home/claude/companion-ai/assets/icons/mapP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" y="35433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3374136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7A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to Bangalore. Her parents live 1,500 km away.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1005840" y="4297680"/>
            <a:ext cx="457200" cy="457200"/>
          </a:xfrm>
          <a:prstGeom prst="ellipse">
            <a:avLst/>
          </a:prstGeom>
          <a:solidFill>
            <a:srgbClr val="3B2E7A"/>
          </a:solidFill>
          <a:ln/>
        </p:spPr>
      </p:sp>
      <p:pic>
        <p:nvPicPr>
          <p:cNvPr id="13" name="Image 2" descr="/home/claude/companion-ai/assets/icons/wif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441198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4242816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7A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remotely, mostly alone, most of the day.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1005840" y="5166360"/>
            <a:ext cx="457200" cy="457200"/>
          </a:xfrm>
          <a:prstGeom prst="ellipse">
            <a:avLst/>
          </a:prstGeom>
          <a:solidFill>
            <a:srgbClr val="3B2E7A"/>
          </a:solidFill>
          <a:ln/>
        </p:spPr>
      </p:sp>
      <p:pic>
        <p:nvPicPr>
          <p:cNvPr id="16" name="Image 3" descr="/home/claude/companion-ai/assets/icons/mess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" y="5280660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5111496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7A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ChatGPT every evening — because she has no one else to talk to.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5943600" y="1920240"/>
            <a:ext cx="5608015" cy="4160520"/>
          </a:xfrm>
          <a:prstGeom prst="roundRect">
            <a:avLst>
              <a:gd name="adj" fmla="val 3077"/>
            </a:avLst>
          </a:prstGeom>
          <a:solidFill>
            <a:srgbClr val="EDEBFA"/>
          </a:solidFill>
          <a:ln/>
        </p:spPr>
      </p:sp>
      <p:sp>
        <p:nvSpPr>
          <p:cNvPr id="19" name="Text 13"/>
          <p:cNvSpPr/>
          <p:nvPr/>
        </p:nvSpPr>
        <p:spPr>
          <a:xfrm>
            <a:off x="6263640" y="20574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7A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20" name="Text 14"/>
          <p:cNvSpPr/>
          <p:nvPr/>
        </p:nvSpPr>
        <p:spPr>
          <a:xfrm>
            <a:off x="6400800" y="2926080"/>
            <a:ext cx="46936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i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 isn’t looking for answers.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i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She’s looking for someone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i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remembers her.</a:t>
            </a:r>
            <a:endParaRPr lang="en-US" sz="2400" dirty="0"/>
          </a:p>
        </p:txBody>
      </p:sp>
      <p:sp>
        <p:nvSpPr>
          <p:cNvPr id="21" name="Text 15"/>
          <p:cNvSpPr/>
          <p:nvPr/>
        </p:nvSpPr>
        <p:spPr>
          <a:xfrm>
            <a:off x="6400800" y="4846320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B3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don’t just need information.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B3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 understanding.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40080" y="6263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isn’t rare. She’s typical — and she has nowhere else to turn.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SYSTEMICALLY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today’s AI can’t give her that.</a:t>
            </a:r>
            <a:endParaRPr lang="en-US" sz="2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only remembers conversations.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074920" cy="3520440"/>
          </a:xfrm>
          <a:prstGeom prst="roundRect">
            <a:avLst>
              <a:gd name="adj" fmla="val 3636"/>
            </a:avLst>
          </a:prstGeom>
          <a:solidFill>
            <a:srgbClr val="F1F0F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6060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AI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" y="3108960"/>
            <a:ext cx="43434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1089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50" dirty="0"/>
          </a:p>
        </p:txBody>
      </p:sp>
      <p:pic>
        <p:nvPicPr>
          <p:cNvPr id="8" name="Image 0" descr="/home/claude/companion-ai/assets/icons/arrowDow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6956" y="3662172"/>
            <a:ext cx="201168" cy="1188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05840" y="3785616"/>
            <a:ext cx="43434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378561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450" dirty="0"/>
          </a:p>
        </p:txBody>
      </p:sp>
      <p:pic>
        <p:nvPicPr>
          <p:cNvPr id="11" name="Image 1" descr="/home/claude/companion-ai/assets/icons/arrowDown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956" y="4338828"/>
            <a:ext cx="201168" cy="1188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05840" y="4462272"/>
            <a:ext cx="43434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05840" y="446227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50" dirty="0"/>
          </a:p>
        </p:txBody>
      </p:sp>
      <p:pic>
        <p:nvPicPr>
          <p:cNvPr id="14" name="Image 2" descr="/home/claude/companion-ai/assets/icons/arrowDown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956" y="5015484"/>
            <a:ext cx="201168" cy="11887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005840" y="5138928"/>
            <a:ext cx="43434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005840" y="513892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9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ends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476695" y="2331720"/>
            <a:ext cx="5074920" cy="3520440"/>
          </a:xfrm>
          <a:prstGeom prst="roundRect">
            <a:avLst>
              <a:gd name="adj" fmla="val 3636"/>
            </a:avLst>
          </a:prstGeom>
          <a:solidFill>
            <a:srgbClr val="241F47"/>
          </a:solidFill>
          <a:ln/>
        </p:spPr>
      </p:sp>
      <p:sp>
        <p:nvSpPr>
          <p:cNvPr id="18" name="Text 13"/>
          <p:cNvSpPr/>
          <p:nvPr/>
        </p:nvSpPr>
        <p:spPr>
          <a:xfrm>
            <a:off x="6842455" y="26060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RELATIONSHIPS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842455" y="3108960"/>
            <a:ext cx="457200" cy="457200"/>
          </a:xfrm>
          <a:prstGeom prst="ellipse">
            <a:avLst/>
          </a:prstGeom>
          <a:solidFill>
            <a:srgbClr val="FF9466"/>
          </a:solidFill>
          <a:ln/>
        </p:spPr>
      </p:sp>
      <p:pic>
        <p:nvPicPr>
          <p:cNvPr id="20" name="Image 3" descr="/home/claude/companion-ai/assets/icons/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6755" y="322326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36815" y="3090672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6842455" y="3749040"/>
            <a:ext cx="457200" cy="457200"/>
          </a:xfrm>
          <a:prstGeom prst="ellipse">
            <a:avLst/>
          </a:prstGeom>
          <a:solidFill>
            <a:srgbClr val="FF9466"/>
          </a:solidFill>
          <a:ln/>
        </p:spPr>
      </p:sp>
      <p:pic>
        <p:nvPicPr>
          <p:cNvPr id="23" name="Image 4" descr="/home/claude/companion-ai/assets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6755" y="3863340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36815" y="3730752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6842455" y="4389120"/>
            <a:ext cx="457200" cy="457200"/>
          </a:xfrm>
          <a:prstGeom prst="ellipse">
            <a:avLst/>
          </a:prstGeom>
          <a:solidFill>
            <a:srgbClr val="FF9466"/>
          </a:solidFill>
          <a:ln/>
        </p:spPr>
      </p:sp>
      <p:pic>
        <p:nvPicPr>
          <p:cNvPr id="26" name="Image 5" descr="/home/claude/companion-ai/assets/icons/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6755" y="4503420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436815" y="4370832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experiences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6842455" y="5029200"/>
            <a:ext cx="457200" cy="457200"/>
          </a:xfrm>
          <a:prstGeom prst="ellipse">
            <a:avLst/>
          </a:prstGeom>
          <a:solidFill>
            <a:srgbClr val="FF9466"/>
          </a:solidFill>
          <a:ln/>
        </p:spPr>
      </p:sp>
      <p:pic>
        <p:nvPicPr>
          <p:cNvPr id="29" name="Image 6" descr="/home/claude/companion-ai/assets/icons/repea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6755" y="5143500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436815" y="5010912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continuity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ompanion-ai/assets/blob_la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5615" y="-146304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couldn’t this be built five years ago?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764896" y="2148840"/>
            <a:ext cx="1993392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  <a:effectLst>
            <a:outerShdw sx="100000" sy="100000" kx="0" ky="0" algn="bl" rotWithShape="0" blurRad="101600" dist="38100" dir="5400000">
              <a:srgbClr val="241F47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478128" y="2404872"/>
            <a:ext cx="566928" cy="566928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7" name="Image 1" descr="/home/claude/companion-ai/assets/icons/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190" y="2540935"/>
            <a:ext cx="294803" cy="2948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6336" y="310896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2932024" y="2148840"/>
            <a:ext cx="1993392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  <a:effectLst>
            <a:outerShdw sx="100000" sy="100000" kx="0" ky="0" algn="bl" rotWithShape="0" blurRad="101600" dist="38100" dir="5400000">
              <a:srgbClr val="241F47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645256" y="2404872"/>
            <a:ext cx="566928" cy="566928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11" name="Image 2" descr="/home/claude/companion-ai/assets/icons/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318" y="2540935"/>
            <a:ext cx="294803" cy="29480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023464" y="310896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099152" y="2148840"/>
            <a:ext cx="1993392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  <a:effectLst>
            <a:outerShdw sx="100000" sy="100000" kx="0" ky="0" algn="bl" rotWithShape="0" blurRad="101600" dist="38100" dir="5400000">
              <a:srgbClr val="241F47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5812384" y="2404872"/>
            <a:ext cx="566928" cy="566928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15" name="Image 3" descr="/home/claude/companion-ai/assets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446" y="2540935"/>
            <a:ext cx="294803" cy="29480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90592" y="310896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Long-context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7266280" y="2148840"/>
            <a:ext cx="1993392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  <a:effectLst>
            <a:outerShdw sx="100000" sy="100000" kx="0" ky="0" algn="bl" rotWithShape="0" blurRad="101600" dist="38100" dir="5400000">
              <a:srgbClr val="241F47">
                <a:alpha val="8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979512" y="2404872"/>
            <a:ext cx="566928" cy="566928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19" name="Image 4" descr="/home/claude/companion-ai/assets/icons/dollarSig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574" y="2540935"/>
            <a:ext cx="294803" cy="29480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57720" y="310896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9433408" y="2148840"/>
            <a:ext cx="1993392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  <a:effectLst>
            <a:outerShdw sx="100000" sy="100000" kx="0" ky="0" algn="bl" rotWithShape="0" blurRad="101600" dist="38100" dir="5400000">
              <a:srgbClr val="241F47">
                <a:alpha val="8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10146640" y="2404872"/>
            <a:ext cx="566928" cy="566928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23" name="Image 5" descr="/home/claude/companion-ai/assets/icons/volum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2702" y="2540935"/>
            <a:ext cx="294803" cy="29480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524848" y="310896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speech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640080" y="4434840"/>
            <a:ext cx="10911535" cy="1371600"/>
          </a:xfrm>
          <a:prstGeom prst="roundRect">
            <a:avLst>
              <a:gd name="adj" fmla="val 9333"/>
            </a:avLst>
          </a:prstGeom>
          <a:solidFill>
            <a:srgbClr val="241F47"/>
          </a:solidFill>
          <a:ln/>
        </p:spPr>
      </p:sp>
      <p:sp>
        <p:nvSpPr>
          <p:cNvPr id="26" name="Text 18"/>
          <p:cNvSpPr/>
          <p:nvPr/>
        </p:nvSpPr>
        <p:spPr>
          <a:xfrm>
            <a:off x="1097280" y="4434840"/>
            <a:ext cx="99971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1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first time, </a:t>
            </a:r>
            <a:pPr algn="ctr" indent="0" marL="0">
              <a:lnSpc>
                <a:spcPct val="120000"/>
              </a:lnSpc>
              <a:buNone/>
            </a:pPr>
            <a:r>
              <a:rPr lang="en-US" sz="2100" b="1" i="1" dirty="0">
                <a:solidFill>
                  <a:srgbClr val="FF9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lifelong AI companion is technologically feasible.</a:t>
            </a:r>
            <a:endParaRPr lang="en-US" sz="2100" dirty="0"/>
          </a:p>
        </p:txBody>
      </p:sp>
      <p:sp>
        <p:nvSpPr>
          <p:cNvPr id="27" name="Text 1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INSIGHTS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people are really asking for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64896" y="1965960"/>
            <a:ext cx="1993392" cy="233172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  <a:effectLst>
            <a:outerShdw sx="100000" sy="100000" kx="0" ky="0" algn="bl" rotWithShape="0" blurRad="101600" dist="38100" dir="5400000">
              <a:srgbClr val="241F47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02056" y="205740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A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487272" y="2743200"/>
            <a:ext cx="548640" cy="548640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7" name="Image 0" descr="/home/claude/companion-ai/assets/icons/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945" y="287487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4624" y="342900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who listens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932024" y="1965960"/>
            <a:ext cx="1993392" cy="233172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  <a:effectLst>
            <a:outerShdw sx="100000" sy="100000" kx="0" ky="0" algn="bl" rotWithShape="0" blurRad="101600" dist="38100" dir="5400000">
              <a:srgbClr val="241F47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069184" y="205740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A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3400" dirty="0"/>
          </a:p>
        </p:txBody>
      </p:sp>
      <p:sp>
        <p:nvSpPr>
          <p:cNvPr id="11" name="Shape 8"/>
          <p:cNvSpPr/>
          <p:nvPr/>
        </p:nvSpPr>
        <p:spPr>
          <a:xfrm>
            <a:off x="3654400" y="2743200"/>
            <a:ext cx="548640" cy="548640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12" name="Image 1" descr="/home/claude/companion-ai/assets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073" y="287487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41752" y="342900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who remembers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99152" y="1965960"/>
            <a:ext cx="1993392" cy="233172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  <a:effectLst>
            <a:outerShdw sx="100000" sy="100000" kx="0" ky="0" algn="bl" rotWithShape="0" blurRad="101600" dist="38100" dir="5400000">
              <a:srgbClr val="241F47">
                <a:alpha val="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236312" y="205740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A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3400" dirty="0"/>
          </a:p>
        </p:txBody>
      </p:sp>
      <p:sp>
        <p:nvSpPr>
          <p:cNvPr id="16" name="Shape 12"/>
          <p:cNvSpPr/>
          <p:nvPr/>
        </p:nvSpPr>
        <p:spPr>
          <a:xfrm>
            <a:off x="5821528" y="2743200"/>
            <a:ext cx="548640" cy="548640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17" name="Image 2" descr="/home/claude/companion-ai/assets/icons/sm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201" y="287487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08880" y="342900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who understands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266280" y="1965960"/>
            <a:ext cx="1993392" cy="233172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  <a:effectLst>
            <a:outerShdw sx="100000" sy="100000" kx="0" ky="0" algn="bl" rotWithShape="0" blurRad="101600" dist="38100" dir="5400000">
              <a:srgbClr val="241F47">
                <a:alpha val="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403440" y="205740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A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3400" dirty="0"/>
          </a:p>
        </p:txBody>
      </p:sp>
      <p:sp>
        <p:nvSpPr>
          <p:cNvPr id="21" name="Shape 16"/>
          <p:cNvSpPr/>
          <p:nvPr/>
        </p:nvSpPr>
        <p:spPr>
          <a:xfrm>
            <a:off x="7988656" y="2743200"/>
            <a:ext cx="548640" cy="548640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22" name="Image 3" descr="/home/claude/companion-ai/assets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0329" y="2874874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76008" y="342900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who doesn’t judge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9433408" y="1965960"/>
            <a:ext cx="1993392" cy="233172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  <a:effectLst>
            <a:outerShdw sx="100000" sy="100000" kx="0" ky="0" algn="bl" rotWithShape="0" blurRad="101600" dist="38100" dir="5400000">
              <a:srgbClr val="241F47">
                <a:alpha val="8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9570568" y="205740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A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3400" dirty="0"/>
          </a:p>
        </p:txBody>
      </p:sp>
      <p:sp>
        <p:nvSpPr>
          <p:cNvPr id="26" name="Shape 20"/>
          <p:cNvSpPr/>
          <p:nvPr/>
        </p:nvSpPr>
        <p:spPr>
          <a:xfrm>
            <a:off x="10155784" y="2743200"/>
            <a:ext cx="548640" cy="548640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27" name="Image 4" descr="/home/claude/companion-ai/assets/icons/trend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457" y="2874874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543136" y="342900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who grows with them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40080" y="4709160"/>
            <a:ext cx="10911535" cy="1234440"/>
          </a:xfrm>
          <a:prstGeom prst="roundRect">
            <a:avLst>
              <a:gd name="adj" fmla="val 10370"/>
            </a:avLst>
          </a:prstGeom>
          <a:solidFill>
            <a:srgbClr val="FFE9DE"/>
          </a:solidFill>
          <a:ln/>
        </p:spPr>
      </p:sp>
      <p:sp>
        <p:nvSpPr>
          <p:cNvPr id="30" name="Text 23"/>
          <p:cNvSpPr/>
          <p:nvPr/>
        </p:nvSpPr>
        <p:spPr>
          <a:xfrm>
            <a:off x="1097280" y="4709160"/>
            <a:ext cx="99971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emotional need isn’t conversation. </a:t>
            </a:r>
            <a:pPr algn="ctr" indent="0" marL="0">
              <a:buNone/>
            </a:pPr>
            <a:r>
              <a:rPr lang="en-US" sz="2100" b="1" i="1" dirty="0">
                <a:solidFill>
                  <a:srgbClr val="FF9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It’s feeling understood.</a:t>
            </a:r>
            <a:endParaRPr lang="en-US" sz="2100" dirty="0"/>
          </a:p>
        </p:txBody>
      </p:sp>
      <p:sp>
        <p:nvSpPr>
          <p:cNvPr id="31" name="Text 2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ompanion-ai/assets/blob_wa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45920" y="448056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AI designed not to maximize </a:t>
            </a:r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9E9A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</a:t>
            </a:r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to maximize 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9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growth.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2514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Companion AI — a lifelong companion. Not another chatbot, assistant, or therapist.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3017520"/>
            <a:ext cx="348477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  <a:effectLst>
            <a:outerShdw sx="100000" sy="100000" kx="0" ky="0" algn="bl" rotWithShape="0" blurRad="101600" dist="38100" dir="5400000">
              <a:srgbClr val="241F47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77824" y="3236976"/>
            <a:ext cx="457200" cy="457200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8" name="Image 1" descr="/home/claude/companion-ai/assets/icons/m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346704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7824" y="3749040"/>
            <a:ext cx="30092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77824" y="4023360"/>
            <a:ext cx="30092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Natural, spoken conversation that feels human.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353458" y="3017520"/>
            <a:ext cx="348477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  <a:effectLst>
            <a:outerShdw sx="100000" sy="100000" kx="0" ky="0" algn="bl" rotWithShape="0" blurRad="101600" dist="38100" dir="5400000">
              <a:srgbClr val="241F47">
                <a:alpha val="7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91202" y="3236976"/>
            <a:ext cx="457200" cy="457200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13" name="Image 2" descr="/home/claude/companion-ai/assets/icons/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930" y="3346704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91202" y="3749040"/>
            <a:ext cx="30092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591202" y="4023360"/>
            <a:ext cx="30092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your story, not just your last message.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8066837" y="3017520"/>
            <a:ext cx="348477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  <a:effectLst>
            <a:outerShdw sx="100000" sy="100000" kx="0" ky="0" algn="bl" rotWithShape="0" blurRad="101600" dist="38100" dir="5400000">
              <a:srgbClr val="241F47">
                <a:alpha val="7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04581" y="3236976"/>
            <a:ext cx="457200" cy="457200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18" name="Image 3" descr="/home/claude/companion-ai/assets/icons/he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4309" y="3346704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04581" y="3749040"/>
            <a:ext cx="30092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Intelligence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304581" y="4023360"/>
            <a:ext cx="30092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feelings, not just words.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40080" y="4572000"/>
            <a:ext cx="348477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  <a:effectLst>
            <a:outerShdw sx="100000" sy="100000" kx="0" ky="0" algn="bl" rotWithShape="0" blurRad="101600" dist="38100" dir="5400000">
              <a:srgbClr val="241F47">
                <a:alpha val="7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77824" y="4791456"/>
            <a:ext cx="457200" cy="457200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23" name="Image 4" descr="/home/claude/companion-ai/assets/icons/repea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901184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77824" y="5303520"/>
            <a:ext cx="30092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Personality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877824" y="5577840"/>
            <a:ext cx="30092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Personalizes tone and style to fit you.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353458" y="4572000"/>
            <a:ext cx="348477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  <a:effectLst>
            <a:outerShdw sx="100000" sy="100000" kx="0" ky="0" algn="bl" rotWithShape="0" blurRad="101600" dist="38100" dir="5400000">
              <a:srgbClr val="241F47">
                <a:alpha val="7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591202" y="4791456"/>
            <a:ext cx="457200" cy="457200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28" name="Image 5" descr="/home/claude/companion-ai/assets/icons/trend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930" y="4901184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591202" y="5303520"/>
            <a:ext cx="30092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Growth-Oriented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4591202" y="5577840"/>
            <a:ext cx="30092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you become your best self.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8066837" y="4572000"/>
            <a:ext cx="348477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  <a:effectLst>
            <a:outerShdw sx="100000" sy="100000" kx="0" ky="0" algn="bl" rotWithShape="0" blurRad="101600" dist="38100" dir="5400000">
              <a:srgbClr val="241F47">
                <a:alpha val="7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304581" y="4791456"/>
            <a:ext cx="457200" cy="457200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33" name="Image 6" descr="/home/claude/companion-ai/assets/icons/use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4309" y="4901184"/>
            <a:ext cx="237744" cy="23774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304581" y="5303520"/>
            <a:ext cx="30092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Relationship-Driven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8304581" y="5577840"/>
            <a:ext cx="30092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connection, not just answers.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ompanion-ai/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system built for relationship — not just response.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985495" y="2286000"/>
            <a:ext cx="960120" cy="960120"/>
          </a:xfrm>
          <a:prstGeom prst="ellipse">
            <a:avLst/>
          </a:prstGeom>
          <a:solidFill>
            <a:srgbClr val="3B2E7A"/>
          </a:solidFill>
          <a:ln/>
        </p:spPr>
      </p:sp>
      <p:pic>
        <p:nvPicPr>
          <p:cNvPr id="6" name="Image 1" descr="/home/claude/companion-ai/assets/icons/m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727" y="2545232"/>
            <a:ext cx="441655" cy="44165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85495" y="2286000"/>
            <a:ext cx="960120" cy="960120"/>
          </a:xfrm>
          <a:prstGeom prst="ellipse">
            <a:avLst/>
          </a:prstGeom>
          <a:ln w="19050">
            <a:solidFill>
              <a:srgbClr val="B7AE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" y="3355848"/>
            <a:ext cx="16509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250" dirty="0"/>
          </a:p>
        </p:txBody>
      </p:sp>
      <p:pic>
        <p:nvPicPr>
          <p:cNvPr id="9" name="Image 2" descr="/home/claude/companion-ai/assets/icons/arrowRight.png">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2089861" y="2665476"/>
            <a:ext cx="201168" cy="20116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837612" y="2286000"/>
            <a:ext cx="960120" cy="960120"/>
          </a:xfrm>
          <a:prstGeom prst="ellipse">
            <a:avLst/>
          </a:prstGeom>
          <a:solidFill>
            <a:srgbClr val="3B2E7A"/>
          </a:solidFill>
          <a:ln/>
        </p:spPr>
      </p:sp>
      <p:pic>
        <p:nvPicPr>
          <p:cNvPr id="11" name="Image 3" descr="/home/claude/companion-ai/assets/icons/he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6844" y="2545232"/>
            <a:ext cx="441655" cy="44165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2837612" y="2286000"/>
            <a:ext cx="960120" cy="960120"/>
          </a:xfrm>
          <a:prstGeom prst="ellipse">
            <a:avLst/>
          </a:prstGeom>
          <a:ln w="19050">
            <a:solidFill>
              <a:srgbClr val="B7AEEA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2492197" y="3355848"/>
            <a:ext cx="16509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</a:t>
            </a:r>
            <a:endParaRPr lang="en-US" sz="1250" dirty="0"/>
          </a:p>
        </p:txBody>
      </p:sp>
      <p:pic>
        <p:nvPicPr>
          <p:cNvPr id="14" name="Image 4" descr="/home/claude/companion-ai/assets/icons/arrowRight.png">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3941978" y="2665476"/>
            <a:ext cx="201168" cy="201168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4689729" y="2286000"/>
            <a:ext cx="960120" cy="960120"/>
          </a:xfrm>
          <a:prstGeom prst="ellipse">
            <a:avLst/>
          </a:prstGeom>
          <a:solidFill>
            <a:srgbClr val="3B2E7A"/>
          </a:solidFill>
          <a:ln/>
        </p:spPr>
      </p:sp>
      <p:pic>
        <p:nvPicPr>
          <p:cNvPr id="16" name="Image 5" descr="/home/claude/companion-ai/assets/icons/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8961" y="2545232"/>
            <a:ext cx="441655" cy="441655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4689729" y="2286000"/>
            <a:ext cx="960120" cy="960120"/>
          </a:xfrm>
          <a:prstGeom prst="ellipse">
            <a:avLst/>
          </a:prstGeom>
          <a:ln w="19050">
            <a:solidFill>
              <a:srgbClr val="B7AEEA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4344314" y="3355848"/>
            <a:ext cx="16509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50" dirty="0"/>
          </a:p>
        </p:txBody>
      </p:sp>
      <p:pic>
        <p:nvPicPr>
          <p:cNvPr id="19" name="Image 6" descr="/home/claude/companion-ai/assets/icons/arrowRight.png">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5794096" y="2665476"/>
            <a:ext cx="201168" cy="201168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6541846" y="2286000"/>
            <a:ext cx="960120" cy="960120"/>
          </a:xfrm>
          <a:prstGeom prst="ellipse">
            <a:avLst/>
          </a:prstGeom>
          <a:solidFill>
            <a:srgbClr val="3B2E7A"/>
          </a:solidFill>
          <a:ln/>
        </p:spPr>
      </p:sp>
      <p:pic>
        <p:nvPicPr>
          <p:cNvPr id="21" name="Image 7" descr="/home/claude/companion-ai/assets/icons/boo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1079" y="2545232"/>
            <a:ext cx="441655" cy="441655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6541846" y="2286000"/>
            <a:ext cx="960120" cy="960120"/>
          </a:xfrm>
          <a:prstGeom prst="ellipse">
            <a:avLst/>
          </a:prstGeom>
          <a:ln w="19050">
            <a:solidFill>
              <a:srgbClr val="B7AEEA"/>
            </a:solidFill>
            <a:prstDash val="solid"/>
          </a:ln>
        </p:spPr>
      </p:sp>
      <p:sp>
        <p:nvSpPr>
          <p:cNvPr id="23" name="Text 13"/>
          <p:cNvSpPr/>
          <p:nvPr/>
        </p:nvSpPr>
        <p:spPr>
          <a:xfrm>
            <a:off x="6196432" y="3355848"/>
            <a:ext cx="16509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50" dirty="0"/>
          </a:p>
        </p:txBody>
      </p:sp>
      <p:pic>
        <p:nvPicPr>
          <p:cNvPr id="24" name="Image 8" descr="/home/claude/companion-ai/assets/icons/arrowRight.png">    </p:cNvPr>
          <p:cNvPicPr>
            <a:picLocks noChangeAspect="1"/>
          </p:cNvPicPr>
          <p:nvPr/>
        </p:nvPicPr>
        <p:blipFill>
          <a:blip r:embed="rId9">
            <a:alphaModFix amt="85000"/>
          </a:blip>
          <a:stretch>
            <a:fillRect/>
          </a:stretch>
        </p:blipFill>
        <p:spPr>
          <a:xfrm>
            <a:off x="7646213" y="2665476"/>
            <a:ext cx="201168" cy="201168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8393963" y="2286000"/>
            <a:ext cx="960120" cy="960120"/>
          </a:xfrm>
          <a:prstGeom prst="ellipse">
            <a:avLst/>
          </a:prstGeom>
          <a:solidFill>
            <a:srgbClr val="3B2E7A"/>
          </a:solidFill>
          <a:ln/>
        </p:spPr>
      </p:sp>
      <p:pic>
        <p:nvPicPr>
          <p:cNvPr id="26" name="Image 9" descr="/home/claude/companion-ai/assets/icons/compas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53196" y="2545232"/>
            <a:ext cx="441655" cy="44165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8393963" y="2286000"/>
            <a:ext cx="960120" cy="960120"/>
          </a:xfrm>
          <a:prstGeom prst="ellipse">
            <a:avLst/>
          </a:prstGeom>
          <a:ln w="19050">
            <a:solidFill>
              <a:srgbClr val="B7AEEA"/>
            </a:solidFill>
            <a:prstDash val="solid"/>
          </a:ln>
        </p:spPr>
      </p:sp>
      <p:sp>
        <p:nvSpPr>
          <p:cNvPr id="28" name="Text 16"/>
          <p:cNvSpPr/>
          <p:nvPr/>
        </p:nvSpPr>
        <p:spPr>
          <a:xfrm>
            <a:off x="8048549" y="3355848"/>
            <a:ext cx="16509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50" dirty="0"/>
          </a:p>
        </p:txBody>
      </p:sp>
      <p:pic>
        <p:nvPicPr>
          <p:cNvPr id="29" name="Image 10" descr="/home/claude/companion-ai/assets/icons/arrowRight.png">    </p:cNvPr>
          <p:cNvPicPr>
            <a:picLocks noChangeAspect="1"/>
          </p:cNvPicPr>
          <p:nvPr/>
        </p:nvPicPr>
        <p:blipFill>
          <a:blip r:embed="rId11">
            <a:alphaModFix amt="85000"/>
          </a:blip>
          <a:stretch>
            <a:fillRect/>
          </a:stretch>
        </p:blipFill>
        <p:spPr>
          <a:xfrm>
            <a:off x="9498330" y="2665476"/>
            <a:ext cx="201168" cy="201168"/>
          </a:xfrm>
          <a:prstGeom prst="rect">
            <a:avLst/>
          </a:prstGeom>
        </p:spPr>
      </p:pic>
      <p:sp>
        <p:nvSpPr>
          <p:cNvPr id="30" name="Shape 17"/>
          <p:cNvSpPr/>
          <p:nvPr/>
        </p:nvSpPr>
        <p:spPr>
          <a:xfrm>
            <a:off x="10246081" y="2286000"/>
            <a:ext cx="960120" cy="960120"/>
          </a:xfrm>
          <a:prstGeom prst="ellipse">
            <a:avLst/>
          </a:prstGeom>
          <a:solidFill>
            <a:srgbClr val="FF9466"/>
          </a:solidFill>
          <a:ln/>
        </p:spPr>
      </p:sp>
      <p:pic>
        <p:nvPicPr>
          <p:cNvPr id="31" name="Image 11" descr="/home/claude/companion-ai/assets/icons/cpu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05313" y="2545232"/>
            <a:ext cx="441655" cy="441655"/>
          </a:xfrm>
          <a:prstGeom prst="rect">
            <a:avLst/>
          </a:prstGeom>
        </p:spPr>
      </p:pic>
      <p:sp>
        <p:nvSpPr>
          <p:cNvPr id="32" name="Shape 18"/>
          <p:cNvSpPr/>
          <p:nvPr/>
        </p:nvSpPr>
        <p:spPr>
          <a:xfrm>
            <a:off x="10246081" y="2286000"/>
            <a:ext cx="960120" cy="960120"/>
          </a:xfrm>
          <a:prstGeom prst="ellipse">
            <a:avLst/>
          </a:prstGeom>
          <a:ln w="19050">
            <a:solidFill>
              <a:srgbClr val="B7AEEA"/>
            </a:solidFill>
            <a:prstDash val="solid"/>
          </a:ln>
        </p:spPr>
      </p:sp>
      <p:sp>
        <p:nvSpPr>
          <p:cNvPr id="33" name="Text 19"/>
          <p:cNvSpPr/>
          <p:nvPr/>
        </p:nvSpPr>
        <p:spPr>
          <a:xfrm>
            <a:off x="9900666" y="3355848"/>
            <a:ext cx="16509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50" dirty="0"/>
          </a:p>
        </p:txBody>
      </p:sp>
      <p:sp>
        <p:nvSpPr>
          <p:cNvPr id="34" name="Text 20"/>
          <p:cNvSpPr/>
          <p:nvPr/>
        </p:nvSpPr>
        <p:spPr>
          <a:xfrm>
            <a:off x="640080" y="41148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7A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repeats — continuously feeding back into Voice, deepening with every conversation.</a:t>
            </a:r>
            <a:endParaRPr lang="en-US" sz="1250" dirty="0"/>
          </a:p>
        </p:txBody>
      </p:sp>
      <p:sp>
        <p:nvSpPr>
          <p:cNvPr id="35" name="Shape 21"/>
          <p:cNvSpPr/>
          <p:nvPr/>
        </p:nvSpPr>
        <p:spPr>
          <a:xfrm>
            <a:off x="640080" y="5257800"/>
            <a:ext cx="10911535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6" name="Text 22"/>
          <p:cNvSpPr/>
          <p:nvPr/>
        </p:nvSpPr>
        <p:spPr>
          <a:xfrm>
            <a:off x="1005840" y="525780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systems, working as one relationship.</a:t>
            </a:r>
            <a:endParaRPr lang="en-US" sz="1800" dirty="0"/>
          </a:p>
        </p:txBody>
      </p:sp>
      <p:sp>
        <p:nvSpPr>
          <p:cNvPr id="37" name="Text 2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ompanion-ai/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companion grows because you grow.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603218" y="2606040"/>
            <a:ext cx="8985260" cy="0"/>
          </a:xfrm>
          <a:prstGeom prst="line">
            <a:avLst/>
          </a:prstGeom>
          <a:noFill/>
          <a:ln w="19050">
            <a:solidFill>
              <a:srgbClr val="B7AEEA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77438" y="2080260"/>
            <a:ext cx="1051560" cy="1051560"/>
          </a:xfrm>
          <a:prstGeom prst="ellipse">
            <a:avLst/>
          </a:prstGeom>
          <a:solidFill>
            <a:srgbClr val="3B2E7A"/>
          </a:solidFill>
          <a:ln/>
        </p:spPr>
      </p:sp>
      <p:pic>
        <p:nvPicPr>
          <p:cNvPr id="7" name="Image 1" descr="/home/claude/companion-ai/assets/icons/gi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874" y="2374697"/>
            <a:ext cx="462686" cy="46268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77438" y="2080260"/>
            <a:ext cx="1051560" cy="1051560"/>
          </a:xfrm>
          <a:prstGeom prst="ellipse">
            <a:avLst/>
          </a:prstGeom>
          <a:ln w="25400">
            <a:solidFill>
              <a:srgbClr val="FF946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3296412"/>
            <a:ext cx="19262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94944" y="3698748"/>
            <a:ext cx="1816547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86384" y="3845052"/>
            <a:ext cx="16336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7A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Storyteller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786384" y="4375404"/>
            <a:ext cx="16336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7A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buddy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323753" y="2080260"/>
            <a:ext cx="1051560" cy="1051560"/>
          </a:xfrm>
          <a:prstGeom prst="ellipse">
            <a:avLst/>
          </a:prstGeom>
          <a:solidFill>
            <a:srgbClr val="3B2E7A"/>
          </a:solidFill>
          <a:ln/>
        </p:spPr>
      </p:sp>
      <p:pic>
        <p:nvPicPr>
          <p:cNvPr id="14" name="Image 2" descr="/home/claude/companion-ai/assets/icons/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189" y="2374697"/>
            <a:ext cx="462686" cy="46268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323753" y="2080260"/>
            <a:ext cx="1051560" cy="1051560"/>
          </a:xfrm>
          <a:prstGeom prst="ellipse">
            <a:avLst/>
          </a:prstGeom>
          <a:ln w="25400">
            <a:solidFill>
              <a:srgbClr val="FF946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886395" y="3296412"/>
            <a:ext cx="19262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2941259" y="3698748"/>
            <a:ext cx="1816547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032699" y="3845052"/>
            <a:ext cx="16336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7A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3032699" y="4375404"/>
            <a:ext cx="16336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7A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partner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570068" y="2080260"/>
            <a:ext cx="1051560" cy="1051560"/>
          </a:xfrm>
          <a:prstGeom prst="ellipse">
            <a:avLst/>
          </a:prstGeom>
          <a:solidFill>
            <a:srgbClr val="3B2E7A"/>
          </a:solidFill>
          <a:ln/>
        </p:spPr>
      </p:sp>
      <p:pic>
        <p:nvPicPr>
          <p:cNvPr id="21" name="Image 3" descr="/home/claude/companion-ai/assets/icons/briefc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504" y="2374697"/>
            <a:ext cx="462686" cy="46268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570068" y="2080260"/>
            <a:ext cx="1051560" cy="1051560"/>
          </a:xfrm>
          <a:prstGeom prst="ellipse">
            <a:avLst/>
          </a:prstGeom>
          <a:ln w="25400">
            <a:solidFill>
              <a:srgbClr val="FF9466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132710" y="3296412"/>
            <a:ext cx="19262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450" dirty="0"/>
          </a:p>
        </p:txBody>
      </p:sp>
      <p:sp>
        <p:nvSpPr>
          <p:cNvPr id="24" name="Shape 18"/>
          <p:cNvSpPr/>
          <p:nvPr/>
        </p:nvSpPr>
        <p:spPr>
          <a:xfrm>
            <a:off x="5187574" y="3698748"/>
            <a:ext cx="1816547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279014" y="3845052"/>
            <a:ext cx="16336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7A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5279014" y="4375404"/>
            <a:ext cx="16336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7A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7816383" y="2080260"/>
            <a:ext cx="1051560" cy="1051560"/>
          </a:xfrm>
          <a:prstGeom prst="ellipse">
            <a:avLst/>
          </a:prstGeom>
          <a:solidFill>
            <a:srgbClr val="3B2E7A"/>
          </a:solidFill>
          <a:ln/>
        </p:spPr>
      </p:sp>
      <p:pic>
        <p:nvPicPr>
          <p:cNvPr id="28" name="Image 4" descr="/home/claude/companion-ai/assets/icons/hom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0819" y="2374697"/>
            <a:ext cx="462686" cy="462686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7816383" y="2080260"/>
            <a:ext cx="1051560" cy="1051560"/>
          </a:xfrm>
          <a:prstGeom prst="ellipse">
            <a:avLst/>
          </a:prstGeom>
          <a:ln w="25400">
            <a:solidFill>
              <a:srgbClr val="FF9466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7379025" y="3296412"/>
            <a:ext cx="19262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450" dirty="0"/>
          </a:p>
        </p:txBody>
      </p:sp>
      <p:sp>
        <p:nvSpPr>
          <p:cNvPr id="31" name="Shape 24"/>
          <p:cNvSpPr/>
          <p:nvPr/>
        </p:nvSpPr>
        <p:spPr>
          <a:xfrm>
            <a:off x="7433889" y="3698748"/>
            <a:ext cx="1816547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7525329" y="3845052"/>
            <a:ext cx="16336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7A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system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7525329" y="4375404"/>
            <a:ext cx="16336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7A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partner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10062698" y="2080260"/>
            <a:ext cx="1051560" cy="1051560"/>
          </a:xfrm>
          <a:prstGeom prst="ellipse">
            <a:avLst/>
          </a:prstGeom>
          <a:solidFill>
            <a:srgbClr val="3B2E7A"/>
          </a:solidFill>
          <a:ln/>
        </p:spPr>
      </p:sp>
      <p:pic>
        <p:nvPicPr>
          <p:cNvPr id="35" name="Image 5" descr="/home/claude/companion-ai/assets/icons/sunri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7134" y="2374697"/>
            <a:ext cx="462686" cy="462686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10062698" y="2080260"/>
            <a:ext cx="1051560" cy="1051560"/>
          </a:xfrm>
          <a:prstGeom prst="ellipse">
            <a:avLst/>
          </a:prstGeom>
          <a:ln w="25400">
            <a:solidFill>
              <a:srgbClr val="FF9466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9625340" y="3296412"/>
            <a:ext cx="19262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Adult</a:t>
            </a:r>
            <a:endParaRPr lang="en-US" sz="1450" dirty="0"/>
          </a:p>
        </p:txBody>
      </p:sp>
      <p:sp>
        <p:nvSpPr>
          <p:cNvPr id="38" name="Shape 30"/>
          <p:cNvSpPr/>
          <p:nvPr/>
        </p:nvSpPr>
        <p:spPr>
          <a:xfrm>
            <a:off x="9680204" y="3698748"/>
            <a:ext cx="1816547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9771644" y="3845052"/>
            <a:ext cx="16336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7A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companion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9771644" y="4375404"/>
            <a:ext cx="16336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7A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companion</a:t>
            </a:r>
            <a:endParaRPr lang="en-US" sz="1150" dirty="0"/>
          </a:p>
        </p:txBody>
      </p:sp>
      <p:sp>
        <p:nvSpPr>
          <p:cNvPr id="41" name="Text 3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moat isn’t the model. </a:t>
            </a:r>
            <a:pPr indent="0" marL="0">
              <a:buNone/>
            </a:pPr>
            <a:r>
              <a:rPr lang="en-US" sz="3000" b="1" dirty="0">
                <a:solidFill>
                  <a:srgbClr val="FF9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It’s Relationship Intelligence.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ship a better model next month. No one can copy years of remembered relationship.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80160" y="2148840"/>
            <a:ext cx="9631375" cy="530352"/>
          </a:xfrm>
          <a:prstGeom prst="roundRect">
            <a:avLst>
              <a:gd name="adj" fmla="val 15517"/>
            </a:avLst>
          </a:prstGeom>
          <a:solidFill>
            <a:srgbClr val="4B3F91"/>
          </a:solidFill>
          <a:ln/>
        </p:spPr>
      </p:sp>
      <p:sp>
        <p:nvSpPr>
          <p:cNvPr id="6" name="Shape 4"/>
          <p:cNvSpPr/>
          <p:nvPr/>
        </p:nvSpPr>
        <p:spPr>
          <a:xfrm>
            <a:off x="1426464" y="2231136"/>
            <a:ext cx="365760" cy="36576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7" name="Image 0" descr="/home/claude/companion-ai/assets/icons/mes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1562" y="2326234"/>
            <a:ext cx="175565" cy="175565"/>
          </a:xfrm>
          <a:prstGeom prst="rect">
            <a:avLst/>
          </a:prstGeom>
        </p:spPr>
      </p:pic>
      <p:pic>
        <p:nvPicPr>
          <p:cNvPr id="8" name="Image 1" descr="/home/claude/companion-ai/assets/icons/mes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6" y="2304288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20240" y="21488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663440" y="2148840"/>
            <a:ext cx="59737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exchange, captured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1152144" y="2770632"/>
            <a:ext cx="9887407" cy="530352"/>
          </a:xfrm>
          <a:prstGeom prst="roundRect">
            <a:avLst>
              <a:gd name="adj" fmla="val 15517"/>
            </a:avLst>
          </a:prstGeom>
          <a:solidFill>
            <a:srgbClr val="4B3F91">
              <a:alpha val="97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1298448" y="2852928"/>
            <a:ext cx="365760" cy="36576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13" name="Image 2" descr="/home/claude/companion-ai/assets/icons/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546" y="2948026"/>
            <a:ext cx="175565" cy="175565"/>
          </a:xfrm>
          <a:prstGeom prst="rect">
            <a:avLst/>
          </a:prstGeom>
        </p:spPr>
      </p:pic>
      <p:pic>
        <p:nvPicPr>
          <p:cNvPr id="14" name="Image 3" descr="/home/claude/companion-ai/assets/icons/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926080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792224" y="277063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4535424" y="2770632"/>
            <a:ext cx="622980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matters, retained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1024128" y="3392424"/>
            <a:ext cx="10143439" cy="530352"/>
          </a:xfrm>
          <a:prstGeom prst="roundRect">
            <a:avLst>
              <a:gd name="adj" fmla="val 15517"/>
            </a:avLst>
          </a:prstGeom>
          <a:solidFill>
            <a:srgbClr val="4B3F91">
              <a:alpha val="94000"/>
            </a:srgbClr>
          </a:solidFill>
          <a:ln/>
        </p:spPr>
      </p:sp>
      <p:sp>
        <p:nvSpPr>
          <p:cNvPr id="18" name="Shape 12"/>
          <p:cNvSpPr/>
          <p:nvPr/>
        </p:nvSpPr>
        <p:spPr>
          <a:xfrm>
            <a:off x="1170432" y="3474720"/>
            <a:ext cx="365760" cy="36576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19" name="Image 4" descr="/home/claude/companion-ai/assets/icons/sh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5530" y="3569818"/>
            <a:ext cx="175565" cy="175565"/>
          </a:xfrm>
          <a:prstGeom prst="rect">
            <a:avLst/>
          </a:prstGeom>
        </p:spPr>
      </p:pic>
      <p:pic>
        <p:nvPicPr>
          <p:cNvPr id="20" name="Image 5" descr="/home/claude/companion-ai/assets/icons/sha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3584" y="3547872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664208" y="339242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Graph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4407408" y="3392424"/>
            <a:ext cx="648583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people &amp; moments connect</a:t>
            </a:r>
            <a:endParaRPr lang="en-US" sz="1150" dirty="0"/>
          </a:p>
        </p:txBody>
      </p:sp>
      <p:sp>
        <p:nvSpPr>
          <p:cNvPr id="23" name="Shape 15"/>
          <p:cNvSpPr/>
          <p:nvPr/>
        </p:nvSpPr>
        <p:spPr>
          <a:xfrm>
            <a:off x="896112" y="4014216"/>
            <a:ext cx="10399471" cy="530352"/>
          </a:xfrm>
          <a:prstGeom prst="roundRect">
            <a:avLst>
              <a:gd name="adj" fmla="val 15517"/>
            </a:avLst>
          </a:prstGeom>
          <a:solidFill>
            <a:srgbClr val="4B3F91">
              <a:alpha val="91000"/>
            </a:srgbClr>
          </a:solidFill>
          <a:ln/>
        </p:spPr>
      </p:sp>
      <p:sp>
        <p:nvSpPr>
          <p:cNvPr id="24" name="Shape 16"/>
          <p:cNvSpPr/>
          <p:nvPr/>
        </p:nvSpPr>
        <p:spPr>
          <a:xfrm>
            <a:off x="1042416" y="4096512"/>
            <a:ext cx="365760" cy="36576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25" name="Image 6" descr="/home/claude/companion-ai/assets/icons/calend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7514" y="4191610"/>
            <a:ext cx="175565" cy="175565"/>
          </a:xfrm>
          <a:prstGeom prst="rect">
            <a:avLst/>
          </a:prstGeom>
        </p:spPr>
      </p:pic>
      <p:pic>
        <p:nvPicPr>
          <p:cNvPr id="26" name="Image 7" descr="/home/claude/companion-ai/assets/icons/calend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568" y="4169664"/>
            <a:ext cx="219456" cy="21945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536192" y="401421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Timeline</a:t>
            </a:r>
            <a:endParaRPr lang="en-US" sz="1400" dirty="0"/>
          </a:p>
        </p:txBody>
      </p:sp>
      <p:sp>
        <p:nvSpPr>
          <p:cNvPr id="28" name="Text 18"/>
          <p:cNvSpPr/>
          <p:nvPr/>
        </p:nvSpPr>
        <p:spPr>
          <a:xfrm>
            <a:off x="4279392" y="4014216"/>
            <a:ext cx="674187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story, in sequence</a:t>
            </a:r>
            <a:endParaRPr lang="en-US" sz="1150" dirty="0"/>
          </a:p>
        </p:txBody>
      </p:sp>
      <p:sp>
        <p:nvSpPr>
          <p:cNvPr id="29" name="Shape 19"/>
          <p:cNvSpPr/>
          <p:nvPr/>
        </p:nvSpPr>
        <p:spPr>
          <a:xfrm>
            <a:off x="768096" y="4636008"/>
            <a:ext cx="10655503" cy="530352"/>
          </a:xfrm>
          <a:prstGeom prst="roundRect">
            <a:avLst>
              <a:gd name="adj" fmla="val 15517"/>
            </a:avLst>
          </a:prstGeom>
          <a:solidFill>
            <a:srgbClr val="4B3F91">
              <a:alpha val="88000"/>
            </a:srgbClr>
          </a:solidFill>
          <a:ln/>
        </p:spPr>
      </p:sp>
      <p:sp>
        <p:nvSpPr>
          <p:cNvPr id="30" name="Shape 20"/>
          <p:cNvSpPr/>
          <p:nvPr/>
        </p:nvSpPr>
        <p:spPr>
          <a:xfrm>
            <a:off x="914400" y="4718304"/>
            <a:ext cx="365760" cy="36576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31" name="Image 8" descr="/home/claude/companion-ai/assets/icons/targe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498" y="4813402"/>
            <a:ext cx="175565" cy="175565"/>
          </a:xfrm>
          <a:prstGeom prst="rect">
            <a:avLst/>
          </a:prstGeom>
        </p:spPr>
      </p:pic>
      <p:pic>
        <p:nvPicPr>
          <p:cNvPr id="32" name="Image 9" descr="/home/claude/companion-ai/assets/icons/targe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7552" y="4791456"/>
            <a:ext cx="219456" cy="219456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1408176" y="463600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400" dirty="0"/>
          </a:p>
        </p:txBody>
      </p:sp>
      <p:sp>
        <p:nvSpPr>
          <p:cNvPr id="34" name="Text 22"/>
          <p:cNvSpPr/>
          <p:nvPr/>
        </p:nvSpPr>
        <p:spPr>
          <a:xfrm>
            <a:off x="4151376" y="4636008"/>
            <a:ext cx="699790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Tone, pace, and style — tuned to you</a:t>
            </a:r>
            <a:endParaRPr lang="en-US" sz="1150" dirty="0"/>
          </a:p>
        </p:txBody>
      </p:sp>
      <p:sp>
        <p:nvSpPr>
          <p:cNvPr id="35" name="Shape 23"/>
          <p:cNvSpPr/>
          <p:nvPr/>
        </p:nvSpPr>
        <p:spPr>
          <a:xfrm>
            <a:off x="640080" y="5257800"/>
            <a:ext cx="10911535" cy="530352"/>
          </a:xfrm>
          <a:prstGeom prst="roundRect">
            <a:avLst>
              <a:gd name="adj" fmla="val 15517"/>
            </a:avLst>
          </a:prstGeom>
          <a:solidFill>
            <a:srgbClr val="FF9466"/>
          </a:solidFill>
          <a:ln/>
        </p:spPr>
      </p:sp>
      <p:sp>
        <p:nvSpPr>
          <p:cNvPr id="36" name="Shape 24"/>
          <p:cNvSpPr/>
          <p:nvPr/>
        </p:nvSpPr>
        <p:spPr>
          <a:xfrm>
            <a:off x="786384" y="5340096"/>
            <a:ext cx="365760" cy="36576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37" name="Image 10" descr="/home/claude/companion-ai/assets/icons/trendin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1482" y="5435194"/>
            <a:ext cx="175565" cy="175565"/>
          </a:xfrm>
          <a:prstGeom prst="rect">
            <a:avLst/>
          </a:prstGeom>
        </p:spPr>
      </p:pic>
      <p:pic>
        <p:nvPicPr>
          <p:cNvPr id="38" name="Image 11" descr="/home/claude/companion-ai/assets/icons/trending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9536" y="5413248"/>
            <a:ext cx="219456" cy="219456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1280160" y="52578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Engine</a:t>
            </a:r>
            <a:endParaRPr lang="en-US" sz="1400" dirty="0"/>
          </a:p>
        </p:txBody>
      </p:sp>
      <p:sp>
        <p:nvSpPr>
          <p:cNvPr id="40" name="Text 26"/>
          <p:cNvSpPr/>
          <p:nvPr/>
        </p:nvSpPr>
        <p:spPr>
          <a:xfrm>
            <a:off x="4023360" y="5257800"/>
            <a:ext cx="72539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memory into momentum</a:t>
            </a:r>
            <a:endParaRPr lang="en-US" sz="1150" dirty="0"/>
          </a:p>
        </p:txBody>
      </p:sp>
      <p:sp>
        <p:nvSpPr>
          <p:cNvPr id="41" name="Text 27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compounds with time — that’s what makes it hard to copy.</a:t>
            </a:r>
            <a:endParaRPr lang="en-US" sz="1250" dirty="0"/>
          </a:p>
        </p:txBody>
      </p:sp>
      <p:sp>
        <p:nvSpPr>
          <p:cNvPr id="42" name="Text 28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STRATEGY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user. One problem. One job to be done.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528255" y="2148840"/>
            <a:ext cx="4023360" cy="3794760"/>
          </a:xfrm>
          <a:prstGeom prst="roundRect">
            <a:avLst>
              <a:gd name="adj" fmla="val 3373"/>
            </a:avLst>
          </a:prstGeom>
          <a:solidFill>
            <a:srgbClr val="241F47"/>
          </a:solidFill>
          <a:ln/>
        </p:spPr>
      </p:sp>
      <p:sp>
        <p:nvSpPr>
          <p:cNvPr id="5" name="Shape 3"/>
          <p:cNvSpPr/>
          <p:nvPr/>
        </p:nvSpPr>
        <p:spPr>
          <a:xfrm>
            <a:off x="7894015" y="2514600"/>
            <a:ext cx="640080" cy="640080"/>
          </a:xfrm>
          <a:prstGeom prst="ellipse">
            <a:avLst/>
          </a:prstGeom>
          <a:solidFill>
            <a:srgbClr val="FF9466"/>
          </a:solidFill>
          <a:ln/>
        </p:spPr>
      </p:sp>
      <p:pic>
        <p:nvPicPr>
          <p:cNvPr id="6" name="Image 0" descr="/home/claude/companion-ai/assets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4035" y="26746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94015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Rahul, 26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894015" y="3630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9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· Lives alone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894015" y="4114800"/>
            <a:ext cx="384048" cy="384048"/>
          </a:xfrm>
          <a:prstGeom prst="ellipse">
            <a:avLst/>
          </a:prstGeom>
          <a:solidFill>
            <a:srgbClr val="3B2E7A"/>
          </a:solidFill>
          <a:ln/>
        </p:spPr>
      </p:sp>
      <p:pic>
        <p:nvPicPr>
          <p:cNvPr id="10" name="Image 1" descr="/home/claude/companion-ai/assets/icons/activ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0027" y="4210812"/>
            <a:ext cx="192024" cy="1920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396935" y="405993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7A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overwhelmed most evenings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894015" y="4736592"/>
            <a:ext cx="384048" cy="384048"/>
          </a:xfrm>
          <a:prstGeom prst="ellipse">
            <a:avLst/>
          </a:prstGeom>
          <a:solidFill>
            <a:srgbClr val="3B2E7A"/>
          </a:solidFill>
          <a:ln/>
        </p:spPr>
      </p:sp>
      <p:pic>
        <p:nvPicPr>
          <p:cNvPr id="13" name="Image 2" descr="/home/claude/companion-ai/assets/icons/mess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0027" y="4832604"/>
            <a:ext cx="192024" cy="1920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96935" y="468172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7A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ChatGPT nightly — but it forgets everything the next day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7894015" y="5358384"/>
            <a:ext cx="384048" cy="384048"/>
          </a:xfrm>
          <a:prstGeom prst="ellipse">
            <a:avLst/>
          </a:prstGeom>
          <a:solidFill>
            <a:srgbClr val="3B2E7A"/>
          </a:solidFill>
          <a:ln/>
        </p:spPr>
      </p:sp>
      <p:pic>
        <p:nvPicPr>
          <p:cNvPr id="16" name="Image 3" descr="/home/claude/companion-ai/assets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0027" y="5454396"/>
            <a:ext cx="192024" cy="1920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96935" y="530352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7A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someone who remembers his goals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640080" y="2148840"/>
            <a:ext cx="6522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MVP FEATURES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40080" y="2560320"/>
            <a:ext cx="31469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  <a:effectLst>
            <a:outerShdw sx="100000" sy="100000" kx="0" ky="0" algn="bl" rotWithShape="0" blurRad="76200" dist="25400" dir="5400000">
              <a:srgbClr val="241F47">
                <a:alpha val="7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822960" y="2788920"/>
            <a:ext cx="457200" cy="457200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21" name="Image 4" descr="/home/claude/companion-ai/assets/icons/mi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29032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2560320"/>
            <a:ext cx="22325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conversations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015588" y="2560320"/>
            <a:ext cx="31469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  <a:effectLst>
            <a:outerShdw sx="100000" sy="100000" kx="0" ky="0" algn="bl" rotWithShape="0" blurRad="76200" dist="25400" dir="5400000">
              <a:srgbClr val="241F47">
                <a:alpha val="7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4198468" y="2788920"/>
            <a:ext cx="457200" cy="457200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25" name="Image 5" descr="/home/claude/companion-ai/assets/icons/boo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2768" y="2903220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792828" y="2560320"/>
            <a:ext cx="22325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640080" y="3657600"/>
            <a:ext cx="31469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  <a:effectLst>
            <a:outerShdw sx="100000" sy="100000" kx="0" ky="0" algn="bl" rotWithShape="0" blurRad="76200" dist="25400" dir="5400000">
              <a:srgbClr val="241F47">
                <a:alpha val="7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29" name="Image 6" descr="/home/claude/companion-ai/assets/icons/sunri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4000500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417320" y="3657600"/>
            <a:ext cx="22325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reflections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4015588" y="3657600"/>
            <a:ext cx="31469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  <a:effectLst>
            <a:outerShdw sx="100000" sy="100000" kx="0" ky="0" algn="bl" rotWithShape="0" blurRad="76200" dist="25400" dir="5400000">
              <a:srgbClr val="241F47">
                <a:alpha val="7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4198468" y="3886200"/>
            <a:ext cx="457200" cy="457200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33" name="Image 7" descr="/home/claude/companion-ai/assets/icons/targe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2768" y="4000500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792828" y="3657600"/>
            <a:ext cx="22325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tracking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640080" y="4754880"/>
            <a:ext cx="31469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  <a:effectLst>
            <a:outerShdw sx="100000" sy="100000" kx="0" ky="0" algn="bl" rotWithShape="0" blurRad="76200" dist="25400" dir="5400000">
              <a:srgbClr val="241F47">
                <a:alpha val="7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822960" y="4983480"/>
            <a:ext cx="457200" cy="457200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37" name="Image 8" descr="/home/claude/companion-ai/assets/icons/messa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260" y="5097780"/>
            <a:ext cx="228600" cy="2286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1417320" y="4754880"/>
            <a:ext cx="22325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check-ins</a:t>
            </a:r>
            <a:endParaRPr lang="en-US" sz="1300" dirty="0"/>
          </a:p>
        </p:txBody>
      </p:sp>
      <p:sp>
        <p:nvSpPr>
          <p:cNvPr id="39" name="Shape 28"/>
          <p:cNvSpPr/>
          <p:nvPr/>
        </p:nvSpPr>
        <p:spPr>
          <a:xfrm>
            <a:off x="4015588" y="4754880"/>
            <a:ext cx="31469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  <a:effectLst>
            <a:outerShdw sx="100000" sy="100000" kx="0" ky="0" algn="bl" rotWithShape="0" blurRad="76200" dist="25400" dir="5400000">
              <a:srgbClr val="241F47">
                <a:alpha val="7000"/>
              </a:srgbClr>
            </a:outerShdw>
          </a:effectLst>
        </p:spPr>
      </p:sp>
      <p:sp>
        <p:nvSpPr>
          <p:cNvPr id="40" name="Shape 29"/>
          <p:cNvSpPr/>
          <p:nvPr/>
        </p:nvSpPr>
        <p:spPr>
          <a:xfrm>
            <a:off x="4198468" y="4983480"/>
            <a:ext cx="457200" cy="457200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41" name="Image 9" descr="/home/claude/companion-ai/assets/icons/smil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2768" y="5097780"/>
            <a:ext cx="228600" cy="22860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4792828" y="4754880"/>
            <a:ext cx="22325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avatar</a:t>
            </a:r>
            <a:endParaRPr lang="en-US" sz="1300" dirty="0"/>
          </a:p>
        </p:txBody>
      </p:sp>
      <p:sp>
        <p:nvSpPr>
          <p:cNvPr id="43" name="Text 31"/>
          <p:cNvSpPr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is our first user. If Companion AI matters to him, it will matter to millions like him.</a:t>
            </a:r>
            <a:endParaRPr lang="en-US" sz="1250" dirty="0"/>
          </a:p>
        </p:txBody>
      </p:sp>
      <p:sp>
        <p:nvSpPr>
          <p:cNvPr id="44" name="Text 3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path to scale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363942" y="2286000"/>
            <a:ext cx="1005840" cy="1005840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5" name="Image 0" descr="/home/claude/companion-ai/assets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5519" y="2557577"/>
            <a:ext cx="462686" cy="462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429000"/>
            <a:ext cx="24535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User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3767328"/>
            <a:ext cx="24535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relationship, deeply valued</a:t>
            </a:r>
            <a:endParaRPr lang="en-US" sz="1100" dirty="0"/>
          </a:p>
        </p:txBody>
      </p:sp>
      <p:pic>
        <p:nvPicPr>
          <p:cNvPr id="8" name="Image 1" descr="/home/claude/companion-ai/assets/icons/arrowRight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940" y="2688336"/>
            <a:ext cx="201168" cy="2011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183266" y="2286000"/>
            <a:ext cx="1005840" cy="1005840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10" name="Image 2" descr="/home/claude/companion-ai/assets/icons/credit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842" y="2557577"/>
            <a:ext cx="462686" cy="46268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59404" y="3429000"/>
            <a:ext cx="24535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3459404" y="3767328"/>
            <a:ext cx="24535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for daily habitual use</a:t>
            </a:r>
            <a:endParaRPr lang="en-US" sz="1100" dirty="0"/>
          </a:p>
        </p:txBody>
      </p:sp>
      <p:pic>
        <p:nvPicPr>
          <p:cNvPr id="13" name="Image 3" descr="/home/claude/companion-ai/assets/icons/arrowRight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264" y="2688336"/>
            <a:ext cx="201168" cy="20116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7002590" y="2286000"/>
            <a:ext cx="1005840" cy="1005840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15" name="Image 4" descr="/home/claude/companion-ai/assets/icons/sh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4166" y="2557577"/>
            <a:ext cx="462686" cy="46268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78728" y="3429000"/>
            <a:ext cx="24535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Effects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6278728" y="3767328"/>
            <a:ext cx="24535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spreads through word of mouth</a:t>
            </a:r>
            <a:endParaRPr lang="en-US" sz="1100" dirty="0"/>
          </a:p>
        </p:txBody>
      </p:sp>
      <p:pic>
        <p:nvPicPr>
          <p:cNvPr id="18" name="Image 5" descr="/home/claude/companion-ai/assets/icons/arrowRight_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4587" y="2688336"/>
            <a:ext cx="201168" cy="201168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9821913" y="2286000"/>
            <a:ext cx="1005840" cy="1005840"/>
          </a:xfrm>
          <a:prstGeom prst="ellipse">
            <a:avLst/>
          </a:prstGeom>
          <a:solidFill>
            <a:srgbClr val="FF9466"/>
          </a:solidFill>
          <a:ln/>
        </p:spPr>
      </p:sp>
      <p:pic>
        <p:nvPicPr>
          <p:cNvPr id="20" name="Image 6" descr="/home/claude/companion-ai/assets/icons/trendin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3490" y="2557577"/>
            <a:ext cx="462686" cy="462686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9098051" y="3429000"/>
            <a:ext cx="24535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500" dirty="0"/>
          </a:p>
        </p:txBody>
      </p:sp>
      <p:sp>
        <p:nvSpPr>
          <p:cNvPr id="22" name="Text 13"/>
          <p:cNvSpPr/>
          <p:nvPr/>
        </p:nvSpPr>
        <p:spPr>
          <a:xfrm>
            <a:off x="9098051" y="3767328"/>
            <a:ext cx="24535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personas, new relationships</a:t>
            </a:r>
            <a:endParaRPr lang="en-US" sz="1100" dirty="0"/>
          </a:p>
        </p:txBody>
      </p:sp>
      <p:sp>
        <p:nvSpPr>
          <p:cNvPr id="23" name="Shape 14"/>
          <p:cNvSpPr/>
          <p:nvPr/>
        </p:nvSpPr>
        <p:spPr>
          <a:xfrm>
            <a:off x="640080" y="4709160"/>
            <a:ext cx="5074920" cy="1463040"/>
          </a:xfrm>
          <a:prstGeom prst="roundRect">
            <a:avLst>
              <a:gd name="adj" fmla="val 7500"/>
            </a:avLst>
          </a:prstGeom>
          <a:solidFill>
            <a:srgbClr val="F1F0F8"/>
          </a:solidFill>
          <a:ln/>
        </p:spPr>
      </p:sp>
      <p:sp>
        <p:nvSpPr>
          <p:cNvPr id="24" name="Text 15"/>
          <p:cNvSpPr/>
          <p:nvPr/>
        </p:nvSpPr>
        <p:spPr>
          <a:xfrm>
            <a:off x="960120" y="48920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B3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50" dirty="0"/>
          </a:p>
        </p:txBody>
      </p:sp>
      <p:sp>
        <p:nvSpPr>
          <p:cNvPr id="25" name="Text 16"/>
          <p:cNvSpPr/>
          <p:nvPr/>
        </p:nvSpPr>
        <p:spPr>
          <a:xfrm>
            <a:off x="960120" y="521208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entry → premium subscription, priced for a daily habit — not a one-off task.</a:t>
            </a:r>
            <a:endParaRPr lang="en-US" sz="1250" dirty="0"/>
          </a:p>
        </p:txBody>
      </p:sp>
      <p:sp>
        <p:nvSpPr>
          <p:cNvPr id="26" name="Shape 17"/>
          <p:cNvSpPr/>
          <p:nvPr/>
        </p:nvSpPr>
        <p:spPr>
          <a:xfrm>
            <a:off x="6080760" y="4709160"/>
            <a:ext cx="5074920" cy="1463040"/>
          </a:xfrm>
          <a:prstGeom prst="roundRect">
            <a:avLst>
              <a:gd name="adj" fmla="val 7500"/>
            </a:avLst>
          </a:prstGeom>
          <a:solidFill>
            <a:srgbClr val="F1F0F8"/>
          </a:solidFill>
          <a:ln/>
        </p:spPr>
      </p:sp>
      <p:sp>
        <p:nvSpPr>
          <p:cNvPr id="27" name="Text 18"/>
          <p:cNvSpPr/>
          <p:nvPr/>
        </p:nvSpPr>
        <p:spPr>
          <a:xfrm>
            <a:off x="6400800" y="48920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B3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50" dirty="0"/>
          </a:p>
        </p:txBody>
      </p:sp>
      <p:sp>
        <p:nvSpPr>
          <p:cNvPr id="28" name="Text 19"/>
          <p:cNvSpPr/>
          <p:nvPr/>
        </p:nvSpPr>
        <p:spPr>
          <a:xfrm>
            <a:off x="6400800" y="521208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young professionals → expand through emotional trust and word of mouth into every relationship.</a:t>
            </a:r>
            <a:endParaRPr lang="en-US" sz="1250" dirty="0"/>
          </a:p>
        </p:txBody>
      </p:sp>
      <p:sp>
        <p:nvSpPr>
          <p:cNvPr id="29" name="Text 2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VISION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companion to a life companion platform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3566160"/>
            <a:ext cx="1962851" cy="365760"/>
          </a:xfrm>
          <a:prstGeom prst="roundRect">
            <a:avLst>
              <a:gd name="adj" fmla="val 20000"/>
            </a:avLst>
          </a:prstGeom>
          <a:solidFill>
            <a:srgbClr val="4B3F91">
              <a:alpha val="7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99232"/>
            <a:ext cx="196285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</a:t>
            </a:r>
            <a:endParaRPr lang="en-US" sz="1200" dirty="0"/>
          </a:p>
        </p:txBody>
      </p:sp>
      <p:pic>
        <p:nvPicPr>
          <p:cNvPr id="6" name="Image 0" descr="/home/claude/companion-ai/assets/icons/arrowRight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8651" y="3657600"/>
            <a:ext cx="182880" cy="182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877251" y="3310128"/>
            <a:ext cx="1962851" cy="621792"/>
          </a:xfrm>
          <a:prstGeom prst="roundRect">
            <a:avLst>
              <a:gd name="adj" fmla="val 11765"/>
            </a:avLst>
          </a:prstGeom>
          <a:solidFill>
            <a:srgbClr val="4B3F91">
              <a:alpha val="79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877251" y="2743200"/>
            <a:ext cx="196285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200" dirty="0"/>
          </a:p>
        </p:txBody>
      </p:sp>
      <p:pic>
        <p:nvPicPr>
          <p:cNvPr id="9" name="Image 1" descr="/home/claude/companion-ai/assets/icons/arrowRight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822" y="3657600"/>
            <a:ext cx="182880" cy="1828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114422" y="3054096"/>
            <a:ext cx="1962851" cy="877824"/>
          </a:xfrm>
          <a:prstGeom prst="roundRect">
            <a:avLst>
              <a:gd name="adj" fmla="val 8333"/>
            </a:avLst>
          </a:prstGeom>
          <a:solidFill>
            <a:srgbClr val="4B3F91">
              <a:alpha val="86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5114422" y="2487168"/>
            <a:ext cx="196285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200" dirty="0"/>
          </a:p>
        </p:txBody>
      </p:sp>
      <p:pic>
        <p:nvPicPr>
          <p:cNvPr id="12" name="Image 2" descr="/home/claude/companion-ai/assets/icons/arrowRight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993" y="3657600"/>
            <a:ext cx="182880" cy="1828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351593" y="2798064"/>
            <a:ext cx="1962851" cy="1133856"/>
          </a:xfrm>
          <a:prstGeom prst="roundRect">
            <a:avLst>
              <a:gd name="adj" fmla="val 6452"/>
            </a:avLst>
          </a:prstGeom>
          <a:solidFill>
            <a:srgbClr val="4B3F91">
              <a:alpha val="93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7351593" y="2231136"/>
            <a:ext cx="196285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1200" dirty="0"/>
          </a:p>
        </p:txBody>
      </p:sp>
      <p:pic>
        <p:nvPicPr>
          <p:cNvPr id="15" name="Image 3" descr="/home/claude/companion-ai/assets/icons/arrowRight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0164" y="3657600"/>
            <a:ext cx="182880" cy="18288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9588764" y="2542032"/>
            <a:ext cx="1962851" cy="1389888"/>
          </a:xfrm>
          <a:prstGeom prst="roundRect">
            <a:avLst>
              <a:gd name="adj" fmla="val 5263"/>
            </a:avLst>
          </a:prstGeom>
          <a:solidFill>
            <a:srgbClr val="FF9466"/>
          </a:solidFill>
          <a:ln/>
        </p:spPr>
      </p:sp>
      <p:sp>
        <p:nvSpPr>
          <p:cNvPr id="17" name="Text 11"/>
          <p:cNvSpPr/>
          <p:nvPr/>
        </p:nvSpPr>
        <p:spPr>
          <a:xfrm>
            <a:off x="9588764" y="1975104"/>
            <a:ext cx="196285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Companion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40080" y="42519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TO EVERY RELATIONSHIP THAT MATTERS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1172947" y="4800600"/>
            <a:ext cx="585216" cy="585216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20" name="Image 4" descr="/home/claude/companion-ai/assets/icons/gif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9251" y="4946904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0080" y="5532120"/>
            <a:ext cx="16509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3025064" y="4800600"/>
            <a:ext cx="585216" cy="585216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23" name="Image 5" descr="/home/claude/companion-ai/assets/icons/boo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1368" y="4946904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2492197" y="5532120"/>
            <a:ext cx="16509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4877181" y="4800600"/>
            <a:ext cx="585216" cy="585216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26" name="Image 6" descr="/home/claude/companion-ai/assets/icons/briefca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3485" y="4946904"/>
            <a:ext cx="292608" cy="29260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344314" y="5532120"/>
            <a:ext cx="16509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6729298" y="4800600"/>
            <a:ext cx="585216" cy="585216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29" name="Image 7" descr="/home/claude/companion-ai/assets/icons/hear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5602" y="4946904"/>
            <a:ext cx="292608" cy="29260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196432" y="5532120"/>
            <a:ext cx="16509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Couples</a:t>
            </a:r>
            <a:endParaRPr lang="en-US" sz="1100" dirty="0"/>
          </a:p>
        </p:txBody>
      </p:sp>
      <p:sp>
        <p:nvSpPr>
          <p:cNvPr id="31" name="Shape 21"/>
          <p:cNvSpPr/>
          <p:nvPr/>
        </p:nvSpPr>
        <p:spPr>
          <a:xfrm>
            <a:off x="8581415" y="4800600"/>
            <a:ext cx="585216" cy="585216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32" name="Image 8" descr="/home/claude/companion-ai/assets/icons/hom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27719" y="4946904"/>
            <a:ext cx="292608" cy="29260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8048549" y="5532120"/>
            <a:ext cx="16509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100" dirty="0"/>
          </a:p>
        </p:txBody>
      </p:sp>
      <p:sp>
        <p:nvSpPr>
          <p:cNvPr id="34" name="Shape 23"/>
          <p:cNvSpPr/>
          <p:nvPr/>
        </p:nvSpPr>
        <p:spPr>
          <a:xfrm>
            <a:off x="10433533" y="4800600"/>
            <a:ext cx="585216" cy="585216"/>
          </a:xfrm>
          <a:prstGeom prst="ellipse">
            <a:avLst/>
          </a:prstGeom>
          <a:solidFill>
            <a:srgbClr val="4B3F91"/>
          </a:solidFill>
          <a:ln/>
        </p:spPr>
      </p:sp>
      <p:pic>
        <p:nvPicPr>
          <p:cNvPr id="35" name="Image 9" descr="/home/claude/companion-ai/assets/icons/user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9837" y="4946904"/>
            <a:ext cx="292608" cy="292608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9900666" y="5532120"/>
            <a:ext cx="16509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1100" dirty="0"/>
          </a:p>
        </p:txBody>
      </p:sp>
      <p:sp>
        <p:nvSpPr>
          <p:cNvPr id="37" name="Text 25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24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is the foundation of the product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5429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  <a:effectLst>
            <a:outerShdw sx="100000" sy="100000" kx="0" ky="0" algn="bl" rotWithShape="0" blurRad="101600" dist="38100" dir="5400000">
              <a:srgbClr val="241F47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542032"/>
            <a:ext cx="512064" cy="512064"/>
          </a:xfrm>
          <a:prstGeom prst="ellipse">
            <a:avLst/>
          </a:prstGeom>
          <a:solidFill>
            <a:srgbClr val="FF9466"/>
          </a:solidFill>
          <a:ln/>
        </p:spPr>
      </p:sp>
      <p:pic>
        <p:nvPicPr>
          <p:cNvPr id="6" name="Image 0" descr="/home/claude/companion-ai/assets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67004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3154680"/>
            <a:ext cx="29422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68698" y="2286000"/>
            <a:ext cx="345429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  <a:effectLst>
            <a:outerShdw sx="100000" sy="100000" kx="0" ky="0" algn="bl" rotWithShape="0" blurRad="101600" dist="38100" dir="5400000">
              <a:srgbClr val="241F47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24730" y="2542032"/>
            <a:ext cx="512064" cy="512064"/>
          </a:xfrm>
          <a:prstGeom prst="ellipse">
            <a:avLst/>
          </a:prstGeom>
          <a:solidFill>
            <a:srgbClr val="FF9466"/>
          </a:solidFill>
          <a:ln/>
        </p:spPr>
      </p:sp>
      <p:pic>
        <p:nvPicPr>
          <p:cNvPr id="10" name="Image 1" descr="/home/claude/companion-ai/assets/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746" y="267004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24730" y="3154680"/>
            <a:ext cx="29422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memory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097317" y="2286000"/>
            <a:ext cx="345429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  <a:effectLst>
            <a:outerShdw sx="100000" sy="100000" kx="0" ky="0" algn="bl" rotWithShape="0" blurRad="101600" dist="38100" dir="5400000">
              <a:srgbClr val="241F47">
                <a:alpha val="7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353349" y="2542032"/>
            <a:ext cx="512064" cy="512064"/>
          </a:xfrm>
          <a:prstGeom prst="ellipse">
            <a:avLst/>
          </a:prstGeom>
          <a:solidFill>
            <a:srgbClr val="FF9466"/>
          </a:solidFill>
          <a:ln/>
        </p:spPr>
      </p:sp>
      <p:pic>
        <p:nvPicPr>
          <p:cNvPr id="14" name="Image 2" descr="/home/claude/companion-ai/assets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365" y="2670048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53349" y="3154680"/>
            <a:ext cx="29422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controls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0080" y="4023360"/>
            <a:ext cx="345429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  <a:effectLst>
            <a:outerShdw sx="100000" sy="100000" kx="0" ky="0" algn="bl" rotWithShape="0" blurRad="101600" dist="38100" dir="5400000">
              <a:srgbClr val="241F47">
                <a:alpha val="7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96112" y="4279392"/>
            <a:ext cx="512064" cy="512064"/>
          </a:xfrm>
          <a:prstGeom prst="ellipse">
            <a:avLst/>
          </a:prstGeom>
          <a:solidFill>
            <a:srgbClr val="FF9466"/>
          </a:solidFill>
          <a:ln/>
        </p:spPr>
      </p:sp>
      <p:pic>
        <p:nvPicPr>
          <p:cNvPr id="18" name="Image 3" descr="/home/claude/companion-ai/assets/icons/he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4407408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6112" y="4892040"/>
            <a:ext cx="29422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boundaries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4368698" y="4023360"/>
            <a:ext cx="345429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  <a:effectLst>
            <a:outerShdw sx="100000" sy="100000" kx="0" ky="0" algn="bl" rotWithShape="0" blurRad="101600" dist="38100" dir="5400000">
              <a:srgbClr val="241F47">
                <a:alpha val="7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624730" y="4279392"/>
            <a:ext cx="512064" cy="512064"/>
          </a:xfrm>
          <a:prstGeom prst="ellipse">
            <a:avLst/>
          </a:prstGeom>
          <a:solidFill>
            <a:srgbClr val="FF9466"/>
          </a:solidFill>
          <a:ln/>
        </p:spPr>
      </p:sp>
      <p:pic>
        <p:nvPicPr>
          <p:cNvPr id="22" name="Image 4" descr="/home/claude/companion-ai/assets/icons/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2746" y="4407408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624730" y="4892040"/>
            <a:ext cx="29422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— never replaces — human relationships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8097317" y="4023360"/>
            <a:ext cx="345429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4E1F2"/>
            </a:solidFill>
            <a:prstDash val="solid"/>
          </a:ln>
          <a:effectLst>
            <a:outerShdw sx="100000" sy="100000" kx="0" ky="0" algn="bl" rotWithShape="0" blurRad="101600" dist="38100" dir="5400000">
              <a:srgbClr val="241F47">
                <a:alpha val="7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353349" y="4279392"/>
            <a:ext cx="512064" cy="512064"/>
          </a:xfrm>
          <a:prstGeom prst="ellipse">
            <a:avLst/>
          </a:prstGeom>
          <a:solidFill>
            <a:srgbClr val="FF9466"/>
          </a:solidFill>
          <a:ln/>
        </p:spPr>
      </p:sp>
      <p:pic>
        <p:nvPicPr>
          <p:cNvPr id="26" name="Image 5" descr="/home/claude/companion-ai/assets/icons/x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1365" y="4407408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353349" y="4892040"/>
            <a:ext cx="29422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4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manipulates users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640080" y="57150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B3F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a companion, not a replacement for human connection.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ompanion-ai/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5029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250" kern="0" dirty="0">
                <a:solidFill>
                  <a:srgbClr val="FF9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LIFETIME OF MEMORY</a:t>
            </a:r>
            <a:endParaRPr lang="en-US" sz="1250" dirty="0"/>
          </a:p>
        </p:txBody>
      </p:sp>
      <p:sp>
        <p:nvSpPr>
          <p:cNvPr id="4" name="Shape 1"/>
          <p:cNvSpPr/>
          <p:nvPr/>
        </p:nvSpPr>
        <p:spPr>
          <a:xfrm>
            <a:off x="1603218" y="1700784"/>
            <a:ext cx="8985260" cy="0"/>
          </a:xfrm>
          <a:prstGeom prst="line">
            <a:avLst/>
          </a:prstGeom>
          <a:noFill/>
          <a:ln w="15875">
            <a:solidFill>
              <a:srgbClr val="B7AEEA"/>
            </a:solidFill>
            <a:prstDash val="sysDot"/>
          </a:ln>
        </p:spPr>
      </p:sp>
      <p:sp>
        <p:nvSpPr>
          <p:cNvPr id="5" name="Shape 2"/>
          <p:cNvSpPr/>
          <p:nvPr/>
        </p:nvSpPr>
        <p:spPr>
          <a:xfrm>
            <a:off x="1319754" y="1417320"/>
            <a:ext cx="566928" cy="566928"/>
          </a:xfrm>
          <a:prstGeom prst="ellipse">
            <a:avLst/>
          </a:prstGeom>
          <a:solidFill>
            <a:srgbClr val="3B2E7A"/>
          </a:solidFill>
          <a:ln w="22225">
            <a:solidFill>
              <a:srgbClr val="FF946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19754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2121408"/>
            <a:ext cx="19262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B7A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“I’m scared of school.”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566069" y="1417320"/>
            <a:ext cx="566928" cy="566928"/>
          </a:xfrm>
          <a:prstGeom prst="ellipse">
            <a:avLst/>
          </a:prstGeom>
          <a:solidFill>
            <a:srgbClr val="3B2E7A"/>
          </a:solidFill>
          <a:ln w="22225">
            <a:solidFill>
              <a:srgbClr val="FF94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66069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886395" y="2121408"/>
            <a:ext cx="19262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B7A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got into university.”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12384" y="1417320"/>
            <a:ext cx="566928" cy="566928"/>
          </a:xfrm>
          <a:prstGeom prst="ellipse">
            <a:avLst/>
          </a:prstGeom>
          <a:solidFill>
            <a:srgbClr val="3B2E7A"/>
          </a:solidFill>
          <a:ln w="22225">
            <a:solidFill>
              <a:srgbClr val="FF94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12384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132710" y="2121408"/>
            <a:ext cx="19262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B7A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“I’m getting married.”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58699" y="1417320"/>
            <a:ext cx="566928" cy="566928"/>
          </a:xfrm>
          <a:prstGeom prst="ellipse">
            <a:avLst/>
          </a:prstGeom>
          <a:solidFill>
            <a:srgbClr val="3B2E7A"/>
          </a:solidFill>
          <a:ln w="22225">
            <a:solidFill>
              <a:srgbClr val="FF94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58699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379025" y="2121408"/>
            <a:ext cx="19262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B7A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daughter started school today.”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0305014" y="1417320"/>
            <a:ext cx="566928" cy="566928"/>
          </a:xfrm>
          <a:prstGeom prst="ellipse">
            <a:avLst/>
          </a:prstGeom>
          <a:solidFill>
            <a:srgbClr val="3B2E7A"/>
          </a:solidFill>
          <a:ln w="22225">
            <a:solidFill>
              <a:srgbClr val="FF94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305014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625340" y="2121408"/>
            <a:ext cx="19262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B7A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 you remember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B7A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first day?”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638648" y="3429000"/>
            <a:ext cx="914400" cy="0"/>
          </a:xfrm>
          <a:prstGeom prst="line">
            <a:avLst/>
          </a:prstGeom>
          <a:noFill/>
          <a:ln w="19050">
            <a:solidFill>
              <a:srgbClr val="FF94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463040" y="3657600"/>
            <a:ext cx="9265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i="1" dirty="0">
                <a:solidFill>
                  <a:srgbClr val="B7A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 you remember when I was scared on my first day?”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1097280" y="4251960"/>
            <a:ext cx="9997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do. And I remember how proud you were when your daughter</a:t>
            </a:r>
            <a:endParaRPr lang="en-US" sz="1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walked into school with that same smile.”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0" y="56235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FF9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AI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71600" y="6053328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FFFFF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that doesn’t just answer your questions. It remembers your story.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2026-09-07T04:13:39Z</dcterms:created>
  <dcterms:modified xsi:type="dcterms:W3CDTF">2026-09-07T04:13:39Z</dcterms:modified>
</cp:coreProperties>
</file>